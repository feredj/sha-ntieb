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68" r:id="rId3"/>
    <p:sldId id="269" r:id="rId4"/>
    <p:sldId id="270" r:id="rId5"/>
    <p:sldId id="271" r:id="rId6"/>
    <p:sldId id="261" r:id="rId7"/>
    <p:sldId id="277" r:id="rId8"/>
    <p:sldId id="262" r:id="rId9"/>
    <p:sldId id="272" r:id="rId10"/>
    <p:sldId id="273" r:id="rId11"/>
    <p:sldId id="274" r:id="rId12"/>
    <p:sldId id="275" r:id="rId13"/>
    <p:sldId id="276" r:id="rId14"/>
    <p:sldId id="263" r:id="rId15"/>
    <p:sldId id="264" r:id="rId16"/>
    <p:sldId id="265"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8695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58AE8-0435-E206-5B67-EF34993E81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D48AFE-24F5-C049-A6A4-325413B737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8442D2-2E7B-DF02-031F-02D33B5E27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B8BEB2-F5BE-D85C-3F0F-59553F65F056}"/>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6514189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 Id="rId9" Type="http://schemas.openxmlformats.org/officeDocument/2006/relationships/image" Target="../media/image7.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0A05"/>
        </a:solidFill>
        <a:effectLst/>
      </p:bgPr>
    </p:bg>
    <p:spTree>
      <p:nvGrpSpPr>
        <p:cNvPr id="1" name=""/>
        <p:cNvGrpSpPr/>
        <p:nvPr/>
      </p:nvGrpSpPr>
      <p:grpSpPr>
        <a:xfrm>
          <a:off x="0" y="0"/>
          <a:ext cx="0" cy="0"/>
          <a:chOff x="0" y="0"/>
          <a:chExt cx="0" cy="0"/>
        </a:xfrm>
      </p:grpSpPr>
      <p:sp>
        <p:nvSpPr>
          <p:cNvPr id="2" name="Shape 0"/>
          <p:cNvSpPr/>
          <p:nvPr/>
        </p:nvSpPr>
        <p:spPr>
          <a:xfrm>
            <a:off x="-1012844" y="-830415"/>
            <a:ext cx="3329725" cy="3553530"/>
          </a:xfrm>
          <a:prstGeom prst="ellipse">
            <a:avLst/>
          </a:prstGeom>
          <a:solidFill>
            <a:srgbClr val="C0392B">
              <a:alpha val="20000"/>
            </a:srgbClr>
          </a:solidFill>
          <a:ln/>
        </p:spPr>
      </p:sp>
      <p:sp>
        <p:nvSpPr>
          <p:cNvPr id="3" name="Shape 1"/>
          <p:cNvSpPr/>
          <p:nvPr/>
        </p:nvSpPr>
        <p:spPr>
          <a:xfrm>
            <a:off x="6858000" y="2743200"/>
            <a:ext cx="4572000" cy="4572000"/>
          </a:xfrm>
          <a:prstGeom prst="ellipse">
            <a:avLst/>
          </a:prstGeom>
          <a:solidFill>
            <a:srgbClr val="D4A017">
              <a:alpha val="15000"/>
            </a:srgbClr>
          </a:solidFill>
          <a:ln/>
        </p:spPr>
      </p:sp>
      <p:sp>
        <p:nvSpPr>
          <p:cNvPr id="4" name="Shape 2"/>
          <p:cNvSpPr/>
          <p:nvPr/>
        </p:nvSpPr>
        <p:spPr>
          <a:xfrm>
            <a:off x="2743200" y="4464000"/>
            <a:ext cx="2743200" cy="1936800"/>
          </a:xfrm>
          <a:prstGeom prst="ellipse">
            <a:avLst/>
          </a:prstGeom>
          <a:solidFill>
            <a:srgbClr val="C0392B">
              <a:alpha val="10000"/>
            </a:srgbClr>
          </a:solidFill>
          <a:ln/>
        </p:spPr>
        <p:txBody>
          <a:bodyPr/>
          <a:lstStyle/>
          <a:p>
            <a:endParaRPr lang="en-US" dirty="0"/>
          </a:p>
        </p:txBody>
      </p:sp>
      <p:sp>
        <p:nvSpPr>
          <p:cNvPr id="5" name="Shape 3"/>
          <p:cNvSpPr/>
          <p:nvPr/>
        </p:nvSpPr>
        <p:spPr>
          <a:xfrm>
            <a:off x="0" y="0"/>
            <a:ext cx="109728" cy="5143500"/>
          </a:xfrm>
          <a:prstGeom prst="rect">
            <a:avLst/>
          </a:prstGeom>
          <a:solidFill>
            <a:srgbClr val="C0392B"/>
          </a:solidFill>
          <a:ln/>
        </p:spPr>
      </p:sp>
      <p:sp>
        <p:nvSpPr>
          <p:cNvPr id="6" name="Text 4"/>
          <p:cNvSpPr/>
          <p:nvPr/>
        </p:nvSpPr>
        <p:spPr>
          <a:xfrm>
            <a:off x="537120" y="107820"/>
            <a:ext cx="1303200" cy="907920"/>
          </a:xfrm>
          <a:prstGeom prst="rect">
            <a:avLst/>
          </a:prstGeom>
          <a:noFill/>
          <a:ln/>
        </p:spPr>
        <p:txBody>
          <a:bodyPr wrap="square" rtlCol="0" anchor="ctr"/>
          <a:lstStyle/>
          <a:p>
            <a:pPr marL="0" indent="0" algn="ctr">
              <a:buNone/>
            </a:pPr>
            <a:r>
              <a:rPr lang="en-US" sz="7200" dirty="0">
                <a:solidFill>
                  <a:srgbClr val="000000"/>
                </a:solidFill>
              </a:rPr>
              <a:t>🍲</a:t>
            </a:r>
            <a:endParaRPr lang="en-US" sz="7200" dirty="0"/>
          </a:p>
        </p:txBody>
      </p:sp>
      <p:sp>
        <p:nvSpPr>
          <p:cNvPr id="7" name="Text 5"/>
          <p:cNvSpPr/>
          <p:nvPr/>
        </p:nvSpPr>
        <p:spPr>
          <a:xfrm>
            <a:off x="15840" y="964050"/>
            <a:ext cx="2154600" cy="762840"/>
          </a:xfrm>
          <a:prstGeom prst="rect">
            <a:avLst/>
          </a:prstGeom>
          <a:noFill/>
          <a:ln/>
        </p:spPr>
        <p:txBody>
          <a:bodyPr wrap="square" lIns="0" tIns="0" rIns="0" bIns="0" rtlCol="0" anchor="ctr"/>
          <a:lstStyle/>
          <a:p>
            <a:pPr marL="0" indent="0" algn="ctr" rtl="1">
              <a:buNone/>
            </a:pPr>
            <a:r>
              <a:rPr lang="en-US" sz="4000" b="1" dirty="0">
                <a:solidFill>
                  <a:srgbClr val="FFFFFF"/>
                </a:solidFill>
                <a:latin typeface="El Messiri" pitchFamily="2" charset="-78"/>
                <a:ea typeface="Georgia" pitchFamily="34" charset="-122"/>
                <a:cs typeface="El Messiri" pitchFamily="2" charset="-78"/>
              </a:rPr>
              <a:t>شا نطيب</a:t>
            </a:r>
            <a:endParaRPr lang="en-US" sz="4000" dirty="0">
              <a:latin typeface="El Messiri" pitchFamily="2" charset="-78"/>
              <a:cs typeface="El Messiri" pitchFamily="2" charset="-78"/>
            </a:endParaRPr>
          </a:p>
        </p:txBody>
      </p:sp>
      <p:sp>
        <p:nvSpPr>
          <p:cNvPr id="8" name="Text 6"/>
          <p:cNvSpPr/>
          <p:nvPr/>
        </p:nvSpPr>
        <p:spPr>
          <a:xfrm>
            <a:off x="326712" y="1536555"/>
            <a:ext cx="1463040" cy="548640"/>
          </a:xfrm>
          <a:prstGeom prst="rect">
            <a:avLst/>
          </a:prstGeom>
          <a:noFill/>
          <a:ln/>
        </p:spPr>
        <p:txBody>
          <a:bodyPr wrap="square" lIns="0" tIns="0" rIns="0" bIns="0" rtlCol="0" anchor="ctr"/>
          <a:lstStyle/>
          <a:p>
            <a:pPr marL="0" indent="0" algn="l">
              <a:buNone/>
            </a:pPr>
            <a:r>
              <a:rPr lang="en-US" sz="2400" b="1" i="1" dirty="0">
                <a:solidFill>
                  <a:srgbClr val="D4A017"/>
                </a:solidFill>
                <a:latin typeface="Ubuntu" panose="020B0504030602030204" pitchFamily="34" charset="0"/>
                <a:ea typeface="Georgia" pitchFamily="34" charset="-122"/>
                <a:cs typeface="Georgia" pitchFamily="34" charset="-120"/>
              </a:rPr>
              <a:t>Sha Ntieb</a:t>
            </a:r>
            <a:endParaRPr lang="en-US" sz="2400" b="1" dirty="0">
              <a:latin typeface="Ubuntu" panose="020B0504030602030204" pitchFamily="34" charset="0"/>
            </a:endParaRPr>
          </a:p>
        </p:txBody>
      </p:sp>
      <p:sp>
        <p:nvSpPr>
          <p:cNvPr id="9" name="Text 7"/>
          <p:cNvSpPr/>
          <p:nvPr/>
        </p:nvSpPr>
        <p:spPr>
          <a:xfrm>
            <a:off x="2881102" y="1817730"/>
            <a:ext cx="3512448" cy="822960"/>
          </a:xfrm>
          <a:prstGeom prst="rect">
            <a:avLst/>
          </a:prstGeom>
          <a:noFill/>
          <a:ln/>
        </p:spPr>
        <p:txBody>
          <a:bodyPr wrap="square" lIns="0" tIns="0" rIns="0" bIns="0" rtlCol="0" anchor="ctr"/>
          <a:lstStyle/>
          <a:p>
            <a:pPr algn="ctr"/>
            <a:r>
              <a:rPr lang="en-US" sz="1600" b="1" dirty="0">
                <a:solidFill>
                  <a:srgbClr val="CCBBAA"/>
                </a:solidFill>
                <a:latin typeface="Ubuntu" panose="020B0504030602030204" pitchFamily="34" charset="0"/>
                <a:ea typeface="Calibri" pitchFamily="34" charset="-122"/>
                <a:cs typeface="Calibri" pitchFamily="34" charset="-120"/>
              </a:rPr>
              <a:t>An application that provides recipe recommendations based on available ingredients using a web API</a:t>
            </a:r>
            <a:endParaRPr lang="en-US" sz="1600" b="1" dirty="0">
              <a:latin typeface="Ubuntu" panose="020B0504030602030204" pitchFamily="34" charset="0"/>
            </a:endParaRPr>
          </a:p>
        </p:txBody>
      </p:sp>
      <p:sp>
        <p:nvSpPr>
          <p:cNvPr id="17" name="Text 15"/>
          <p:cNvSpPr/>
          <p:nvPr/>
        </p:nvSpPr>
        <p:spPr>
          <a:xfrm>
            <a:off x="3067200" y="4709160"/>
            <a:ext cx="2159999" cy="411480"/>
          </a:xfrm>
          <a:prstGeom prst="rect">
            <a:avLst/>
          </a:prstGeom>
          <a:noFill/>
          <a:ln/>
        </p:spPr>
        <p:txBody>
          <a:bodyPr wrap="square" lIns="0" tIns="0" rIns="0" bIns="0" rtlCol="0" anchor="ctr"/>
          <a:lstStyle/>
          <a:p>
            <a:pPr algn="ctr"/>
            <a:r>
              <a:rPr lang="en-US" sz="1200" b="1" i="1" dirty="0">
                <a:solidFill>
                  <a:srgbClr val="FFFFFF"/>
                </a:solidFill>
                <a:latin typeface="Ubuntu" panose="020B0504030602030204" pitchFamily="34" charset="0"/>
                <a:ea typeface="Calibri" pitchFamily="34" charset="-122"/>
                <a:cs typeface="Calibri" pitchFamily="34" charset="-120"/>
              </a:rPr>
              <a:t>University year : 2025-2026</a:t>
            </a:r>
            <a:r>
              <a:rPr lang="ar-DZ" sz="1200" b="1" i="1" dirty="0">
                <a:solidFill>
                  <a:srgbClr val="FFFFFF"/>
                </a:solidFill>
                <a:latin typeface="Ubuntu" panose="020B0504030602030204" pitchFamily="34" charset="0"/>
                <a:ea typeface="Calibri" pitchFamily="34" charset="-122"/>
                <a:cs typeface="Calibri" pitchFamily="34" charset="-120"/>
              </a:rPr>
              <a:t> </a:t>
            </a:r>
            <a:endParaRPr lang="en-US" sz="1200" i="1" dirty="0">
              <a:latin typeface="Ubuntu" panose="020B0504030602030204" pitchFamily="34" charset="0"/>
            </a:endParaRPr>
          </a:p>
        </p:txBody>
      </p:sp>
      <p:sp>
        <p:nvSpPr>
          <p:cNvPr id="18" name="Shape 16"/>
          <p:cNvSpPr/>
          <p:nvPr/>
        </p:nvSpPr>
        <p:spPr>
          <a:xfrm>
            <a:off x="6900117" y="1015740"/>
            <a:ext cx="2035898" cy="2245230"/>
          </a:xfrm>
          <a:prstGeom prst="ellipse">
            <a:avLst/>
          </a:prstGeom>
          <a:solidFill>
            <a:srgbClr val="C0392B">
              <a:alpha val="30000"/>
            </a:srgbClr>
          </a:solidFill>
          <a:ln/>
        </p:spPr>
        <p:txBody>
          <a:bodyPr/>
          <a:lstStyle/>
          <a:p>
            <a:endParaRPr lang="en-US" dirty="0"/>
          </a:p>
        </p:txBody>
      </p:sp>
      <p:sp>
        <p:nvSpPr>
          <p:cNvPr id="19" name="Text 17"/>
          <p:cNvSpPr/>
          <p:nvPr/>
        </p:nvSpPr>
        <p:spPr>
          <a:xfrm>
            <a:off x="6664703" y="1345140"/>
            <a:ext cx="2542465" cy="1667340"/>
          </a:xfrm>
          <a:prstGeom prst="rect">
            <a:avLst/>
          </a:prstGeom>
          <a:noFill/>
          <a:ln/>
        </p:spPr>
        <p:txBody>
          <a:bodyPr wrap="square" rtlCol="0" anchor="ctr"/>
          <a:lstStyle/>
          <a:p>
            <a:pPr marL="0" indent="0" algn="ctr">
              <a:buNone/>
            </a:pPr>
            <a:r>
              <a:rPr lang="en-US" sz="3600" dirty="0">
                <a:solidFill>
                  <a:srgbClr val="000000"/>
                </a:solidFill>
              </a:rPr>
              <a:t>🥕🧅🍅</a:t>
            </a:r>
            <a:endParaRPr lang="en-US" sz="3600" dirty="0"/>
          </a:p>
          <a:p>
            <a:pPr marL="0" indent="0" algn="ctr">
              <a:buNone/>
            </a:pPr>
            <a:r>
              <a:rPr lang="en-US" sz="3600" dirty="0">
                <a:solidFill>
                  <a:srgbClr val="000000"/>
                </a:solidFill>
              </a:rPr>
              <a:t>🫙🥩🌿</a:t>
            </a:r>
            <a:endParaRPr lang="en-US" sz="3600" dirty="0"/>
          </a:p>
          <a:p>
            <a:pPr marL="0" indent="0" algn="ctr">
              <a:buNone/>
            </a:pPr>
            <a:r>
              <a:rPr lang="en-US" sz="3600" dirty="0">
                <a:solidFill>
                  <a:srgbClr val="000000"/>
                </a:solidFill>
              </a:rPr>
              <a:t>🫒🧄🌶️</a:t>
            </a:r>
            <a:endParaRPr lang="en-US" sz="3600" dirty="0"/>
          </a:p>
        </p:txBody>
      </p:sp>
      <p:sp>
        <p:nvSpPr>
          <p:cNvPr id="20" name="Text 7">
            <a:extLst>
              <a:ext uri="{FF2B5EF4-FFF2-40B4-BE49-F238E27FC236}">
                <a16:creationId xmlns:a16="http://schemas.microsoft.com/office/drawing/2014/main" id="{4531221D-472C-B73F-6FAE-506D12F54B32}"/>
              </a:ext>
            </a:extLst>
          </p:cNvPr>
          <p:cNvSpPr/>
          <p:nvPr/>
        </p:nvSpPr>
        <p:spPr>
          <a:xfrm>
            <a:off x="-23796" y="-31320"/>
            <a:ext cx="8688672" cy="822960"/>
          </a:xfrm>
          <a:prstGeom prst="rect">
            <a:avLst/>
          </a:prstGeom>
          <a:noFill/>
          <a:ln/>
        </p:spPr>
        <p:txBody>
          <a:bodyPr wrap="square" lIns="0" tIns="0" rIns="0" bIns="0" rtlCol="0" anchor="ctr"/>
          <a:lstStyle/>
          <a:p>
            <a:pPr algn="ctr"/>
            <a:r>
              <a:rPr lang="en-US" sz="1300" b="1" dirty="0">
                <a:solidFill>
                  <a:schemeClr val="bg1"/>
                </a:solidFill>
                <a:latin typeface="Ubuntu" panose="020B0504030602030204" pitchFamily="34" charset="0"/>
                <a:ea typeface="Calibri" pitchFamily="34" charset="-122"/>
                <a:cs typeface="Calibri" pitchFamily="34" charset="-120"/>
              </a:rPr>
              <a:t>People's Democratic Republic of Algeria</a:t>
            </a:r>
          </a:p>
          <a:p>
            <a:pPr algn="ctr"/>
            <a:r>
              <a:rPr lang="en-US" sz="1300" b="1" dirty="0">
                <a:solidFill>
                  <a:schemeClr val="bg1"/>
                </a:solidFill>
                <a:latin typeface="Ubuntu" panose="020B0504030602030204" pitchFamily="34" charset="0"/>
                <a:ea typeface="Calibri" pitchFamily="34" charset="-122"/>
                <a:cs typeface="Calibri" pitchFamily="34" charset="-120"/>
              </a:rPr>
              <a:t>Ministry of Higher Education and Scientific Research</a:t>
            </a:r>
          </a:p>
          <a:p>
            <a:pPr algn="ctr"/>
            <a:r>
              <a:rPr lang="en-US" sz="1300" b="1" dirty="0">
                <a:solidFill>
                  <a:schemeClr val="bg1"/>
                </a:solidFill>
                <a:latin typeface="Ubuntu" panose="020B0504030602030204" pitchFamily="34" charset="0"/>
                <a:ea typeface="Calibri" pitchFamily="34" charset="-122"/>
                <a:cs typeface="Calibri" pitchFamily="34" charset="-120"/>
              </a:rPr>
              <a:t>Tahri Mohamed University of </a:t>
            </a:r>
            <a:r>
              <a:rPr lang="en-US" sz="1300" b="1" dirty="0" err="1">
                <a:solidFill>
                  <a:schemeClr val="bg1"/>
                </a:solidFill>
                <a:latin typeface="Ubuntu" panose="020B0504030602030204" pitchFamily="34" charset="0"/>
                <a:ea typeface="Calibri" pitchFamily="34" charset="-122"/>
                <a:cs typeface="Calibri" pitchFamily="34" charset="-120"/>
              </a:rPr>
              <a:t>Bechar</a:t>
            </a:r>
            <a:endParaRPr lang="en-US" sz="1300" b="1" dirty="0">
              <a:solidFill>
                <a:schemeClr val="bg1"/>
              </a:solidFill>
              <a:latin typeface="Ubuntu" panose="020B0504030602030204" pitchFamily="34" charset="0"/>
            </a:endParaRPr>
          </a:p>
        </p:txBody>
      </p:sp>
      <p:pic>
        <p:nvPicPr>
          <p:cNvPr id="22" name="Image 21">
            <a:extLst>
              <a:ext uri="{FF2B5EF4-FFF2-40B4-BE49-F238E27FC236}">
                <a16:creationId xmlns:a16="http://schemas.microsoft.com/office/drawing/2014/main" id="{18F0140D-8962-B60E-D6AF-6E65A6BAA629}"/>
              </a:ext>
            </a:extLst>
          </p:cNvPr>
          <p:cNvPicPr>
            <a:picLocks noChangeAspect="1"/>
          </p:cNvPicPr>
          <p:nvPr/>
        </p:nvPicPr>
        <p:blipFill>
          <a:blip r:embed="rId3"/>
          <a:stretch>
            <a:fillRect/>
          </a:stretch>
        </p:blipFill>
        <p:spPr>
          <a:xfrm>
            <a:off x="7808345" y="86220"/>
            <a:ext cx="1092403" cy="1097280"/>
          </a:xfrm>
          <a:prstGeom prst="rect">
            <a:avLst/>
          </a:prstGeom>
        </p:spPr>
      </p:pic>
      <p:pic>
        <p:nvPicPr>
          <p:cNvPr id="24" name="Image 23">
            <a:extLst>
              <a:ext uri="{FF2B5EF4-FFF2-40B4-BE49-F238E27FC236}">
                <a16:creationId xmlns:a16="http://schemas.microsoft.com/office/drawing/2014/main" id="{DBA5FC09-DDE0-0983-EBBC-39F54AF5CB4C}"/>
              </a:ext>
            </a:extLst>
          </p:cNvPr>
          <p:cNvPicPr>
            <a:picLocks noChangeAspect="1"/>
          </p:cNvPicPr>
          <p:nvPr/>
        </p:nvPicPr>
        <p:blipFill>
          <a:blip r:embed="rId4"/>
          <a:stretch>
            <a:fillRect/>
          </a:stretch>
        </p:blipFill>
        <p:spPr>
          <a:xfrm>
            <a:off x="1128069" y="3218580"/>
            <a:ext cx="623610" cy="9360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5" name="Text 15">
            <a:extLst>
              <a:ext uri="{FF2B5EF4-FFF2-40B4-BE49-F238E27FC236}">
                <a16:creationId xmlns:a16="http://schemas.microsoft.com/office/drawing/2014/main" id="{666E15E7-1190-FCD5-B69F-C7816518F873}"/>
              </a:ext>
            </a:extLst>
          </p:cNvPr>
          <p:cNvSpPr/>
          <p:nvPr/>
        </p:nvSpPr>
        <p:spPr>
          <a:xfrm>
            <a:off x="959373" y="4154580"/>
            <a:ext cx="961693" cy="411480"/>
          </a:xfrm>
          <a:prstGeom prst="rect">
            <a:avLst/>
          </a:prstGeom>
          <a:noFill/>
          <a:ln/>
        </p:spPr>
        <p:txBody>
          <a:bodyPr wrap="square" lIns="0" tIns="0" rIns="0" bIns="0" rtlCol="0" anchor="ctr"/>
          <a:lstStyle/>
          <a:p>
            <a:pPr algn="ctr"/>
            <a:r>
              <a:rPr lang="fr-FR" sz="1050" b="1" dirty="0" err="1">
                <a:solidFill>
                  <a:srgbClr val="FFFFFF"/>
                </a:solidFill>
                <a:latin typeface="Ubuntu" panose="020B0504030602030204" pitchFamily="34" charset="0"/>
                <a:ea typeface="Calibri" pitchFamily="34" charset="-122"/>
                <a:cs typeface="Calibri" pitchFamily="34" charset="-120"/>
              </a:rPr>
              <a:t>F.Younes</a:t>
            </a:r>
            <a:br>
              <a:rPr lang="fr-FR" sz="1200" b="1" dirty="0">
                <a:solidFill>
                  <a:srgbClr val="FFFFFF"/>
                </a:solidFill>
                <a:latin typeface="Ubuntu" panose="020B0504030602030204" pitchFamily="34" charset="0"/>
                <a:ea typeface="Calibri" pitchFamily="34" charset="-122"/>
                <a:cs typeface="Calibri" pitchFamily="34" charset="-120"/>
              </a:rPr>
            </a:br>
            <a:r>
              <a:rPr lang="en-US" sz="1000" b="1" dirty="0">
                <a:solidFill>
                  <a:schemeClr val="accent2"/>
                </a:solidFill>
                <a:latin typeface="Ubuntu" panose="020B0504030602030204" pitchFamily="34" charset="0"/>
              </a:rPr>
              <a:t>Informatique</a:t>
            </a:r>
            <a:endParaRPr lang="en-US" sz="1200" b="1" dirty="0">
              <a:solidFill>
                <a:schemeClr val="accent2"/>
              </a:solidFill>
              <a:latin typeface="Ubuntu" panose="020B0504030602030204" pitchFamily="34" charset="0"/>
            </a:endParaRPr>
          </a:p>
        </p:txBody>
      </p:sp>
      <p:pic>
        <p:nvPicPr>
          <p:cNvPr id="27" name="Image 26">
            <a:extLst>
              <a:ext uri="{FF2B5EF4-FFF2-40B4-BE49-F238E27FC236}">
                <a16:creationId xmlns:a16="http://schemas.microsoft.com/office/drawing/2014/main" id="{BCB1D506-1ACC-0D52-8FDA-DECA8CF2C823}"/>
              </a:ext>
            </a:extLst>
          </p:cNvPr>
          <p:cNvPicPr>
            <a:picLocks noChangeAspect="1"/>
          </p:cNvPicPr>
          <p:nvPr/>
        </p:nvPicPr>
        <p:blipFill>
          <a:blip r:embed="rId5"/>
          <a:stretch>
            <a:fillRect/>
          </a:stretch>
        </p:blipFill>
        <p:spPr>
          <a:xfrm>
            <a:off x="5001585" y="3191895"/>
            <a:ext cx="698529" cy="9360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8" name="Text 15">
            <a:extLst>
              <a:ext uri="{FF2B5EF4-FFF2-40B4-BE49-F238E27FC236}">
                <a16:creationId xmlns:a16="http://schemas.microsoft.com/office/drawing/2014/main" id="{130557BB-93F3-911F-9FF9-1BF0B11E0316}"/>
              </a:ext>
            </a:extLst>
          </p:cNvPr>
          <p:cNvSpPr/>
          <p:nvPr/>
        </p:nvSpPr>
        <p:spPr>
          <a:xfrm>
            <a:off x="4773562" y="4156830"/>
            <a:ext cx="1299683" cy="411480"/>
          </a:xfrm>
          <a:prstGeom prst="rect">
            <a:avLst/>
          </a:prstGeom>
          <a:noFill/>
          <a:ln/>
        </p:spPr>
        <p:txBody>
          <a:bodyPr wrap="square" lIns="0" tIns="0" rIns="0" bIns="0" rtlCol="0" anchor="ctr"/>
          <a:lstStyle/>
          <a:p>
            <a:pPr algn="ctr"/>
            <a:r>
              <a:rPr lang="fr-FR" sz="1050" b="1" dirty="0">
                <a:solidFill>
                  <a:srgbClr val="FFFFFF"/>
                </a:solidFill>
                <a:latin typeface="Ubuntu" panose="020B0504030602030204" pitchFamily="34" charset="0"/>
                <a:ea typeface="Calibri" pitchFamily="34" charset="-122"/>
                <a:cs typeface="Calibri" pitchFamily="34" charset="-120"/>
              </a:rPr>
              <a:t> </a:t>
            </a:r>
            <a:r>
              <a:rPr lang="fr-FR" sz="1050" b="1" dirty="0" err="1">
                <a:solidFill>
                  <a:srgbClr val="FFFFFF"/>
                </a:solidFill>
                <a:latin typeface="Ubuntu" panose="020B0504030602030204" pitchFamily="34" charset="0"/>
                <a:ea typeface="Calibri" pitchFamily="34" charset="-122"/>
                <a:cs typeface="Calibri" pitchFamily="34" charset="-120"/>
              </a:rPr>
              <a:t>G.Fatma</a:t>
            </a:r>
            <a:r>
              <a:rPr lang="fr-FR" sz="1050" b="1" dirty="0">
                <a:solidFill>
                  <a:srgbClr val="FFFFFF"/>
                </a:solidFill>
                <a:latin typeface="Ubuntu" panose="020B0504030602030204" pitchFamily="34" charset="0"/>
                <a:ea typeface="Calibri" pitchFamily="34" charset="-122"/>
                <a:cs typeface="Calibri" pitchFamily="34" charset="-120"/>
              </a:rPr>
              <a:t> Zahra</a:t>
            </a:r>
            <a:br>
              <a:rPr lang="fr-FR" sz="1200" b="1" dirty="0">
                <a:solidFill>
                  <a:srgbClr val="FFFFFF"/>
                </a:solidFill>
                <a:latin typeface="Ubuntu" panose="020B0504030602030204" pitchFamily="34" charset="0"/>
                <a:ea typeface="Calibri" pitchFamily="34" charset="-122"/>
                <a:cs typeface="Calibri" pitchFamily="34" charset="-120"/>
              </a:rPr>
            </a:br>
            <a:r>
              <a:rPr lang="en-US" sz="1000" b="1" dirty="0">
                <a:solidFill>
                  <a:schemeClr val="accent2"/>
                </a:solidFill>
                <a:latin typeface="Ubuntu" panose="020B0504030602030204" pitchFamily="34" charset="0"/>
              </a:rPr>
              <a:t>Etudes </a:t>
            </a:r>
            <a:r>
              <a:rPr lang="en-US" sz="1000" b="1" dirty="0" err="1">
                <a:solidFill>
                  <a:schemeClr val="accent2"/>
                </a:solidFill>
                <a:latin typeface="Ubuntu" panose="020B0504030602030204" pitchFamily="34" charset="0"/>
              </a:rPr>
              <a:t>linguistiques</a:t>
            </a:r>
            <a:endParaRPr lang="en-US" sz="1200" b="1" dirty="0">
              <a:solidFill>
                <a:schemeClr val="accent2"/>
              </a:solidFill>
              <a:latin typeface="Ubuntu" panose="020B0504030602030204" pitchFamily="34" charset="0"/>
            </a:endParaRPr>
          </a:p>
        </p:txBody>
      </p:sp>
      <p:pic>
        <p:nvPicPr>
          <p:cNvPr id="32" name="Image 31">
            <a:extLst>
              <a:ext uri="{FF2B5EF4-FFF2-40B4-BE49-F238E27FC236}">
                <a16:creationId xmlns:a16="http://schemas.microsoft.com/office/drawing/2014/main" id="{AE16EAA7-A6E4-038D-1EFC-6F603EFA3C97}"/>
              </a:ext>
            </a:extLst>
          </p:cNvPr>
          <p:cNvPicPr>
            <a:picLocks noChangeAspect="1"/>
          </p:cNvPicPr>
          <p:nvPr/>
        </p:nvPicPr>
        <p:blipFill>
          <a:blip r:embed="rId6"/>
          <a:stretch>
            <a:fillRect/>
          </a:stretch>
        </p:blipFill>
        <p:spPr>
          <a:xfrm>
            <a:off x="2434253" y="3220830"/>
            <a:ext cx="635733" cy="9360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33" name="Text 15">
            <a:extLst>
              <a:ext uri="{FF2B5EF4-FFF2-40B4-BE49-F238E27FC236}">
                <a16:creationId xmlns:a16="http://schemas.microsoft.com/office/drawing/2014/main" id="{DF007C86-EEB8-0F5A-B417-42ECE661A884}"/>
              </a:ext>
            </a:extLst>
          </p:cNvPr>
          <p:cNvSpPr/>
          <p:nvPr/>
        </p:nvSpPr>
        <p:spPr>
          <a:xfrm>
            <a:off x="2102279" y="4154580"/>
            <a:ext cx="1299683" cy="411480"/>
          </a:xfrm>
          <a:prstGeom prst="rect">
            <a:avLst/>
          </a:prstGeom>
          <a:noFill/>
          <a:ln/>
        </p:spPr>
        <p:txBody>
          <a:bodyPr wrap="square" lIns="0" tIns="0" rIns="0" bIns="0" rtlCol="0" anchor="ctr"/>
          <a:lstStyle/>
          <a:p>
            <a:pPr algn="ctr"/>
            <a:r>
              <a:rPr lang="fr-FR" sz="1050" b="1" dirty="0" err="1">
                <a:solidFill>
                  <a:srgbClr val="FFFFFF"/>
                </a:solidFill>
                <a:latin typeface="Ubuntu" panose="020B0504030602030204" pitchFamily="34" charset="0"/>
                <a:ea typeface="Calibri" pitchFamily="34" charset="-122"/>
                <a:cs typeface="Calibri" pitchFamily="34" charset="-120"/>
              </a:rPr>
              <a:t>A.Abderrahmen</a:t>
            </a:r>
            <a:br>
              <a:rPr lang="fr-FR" sz="1200" b="1" dirty="0">
                <a:solidFill>
                  <a:srgbClr val="FFFFFF"/>
                </a:solidFill>
                <a:latin typeface="Ubuntu" panose="020B0504030602030204" pitchFamily="34" charset="0"/>
                <a:ea typeface="Calibri" pitchFamily="34" charset="-122"/>
                <a:cs typeface="Calibri" pitchFamily="34" charset="-120"/>
              </a:rPr>
            </a:br>
            <a:r>
              <a:rPr lang="en-US" sz="1000" b="1" dirty="0">
                <a:solidFill>
                  <a:schemeClr val="accent2"/>
                </a:solidFill>
                <a:latin typeface="Ubuntu" panose="020B0504030602030204" pitchFamily="34" charset="0"/>
              </a:rPr>
              <a:t>Etudes </a:t>
            </a:r>
            <a:r>
              <a:rPr lang="en-US" sz="1000" b="1" dirty="0" err="1">
                <a:solidFill>
                  <a:schemeClr val="accent2"/>
                </a:solidFill>
                <a:latin typeface="Ubuntu" panose="020B0504030602030204" pitchFamily="34" charset="0"/>
              </a:rPr>
              <a:t>linguistiques</a:t>
            </a:r>
            <a:endParaRPr lang="en-US" sz="1200" b="1" dirty="0">
              <a:solidFill>
                <a:schemeClr val="accent2"/>
              </a:solidFill>
              <a:latin typeface="Ubuntu" panose="020B0504030602030204" pitchFamily="34" charset="0"/>
            </a:endParaRPr>
          </a:p>
        </p:txBody>
      </p:sp>
      <p:pic>
        <p:nvPicPr>
          <p:cNvPr id="35" name="Image 34">
            <a:extLst>
              <a:ext uri="{FF2B5EF4-FFF2-40B4-BE49-F238E27FC236}">
                <a16:creationId xmlns:a16="http://schemas.microsoft.com/office/drawing/2014/main" id="{EDF678D5-55F6-A80A-1BA2-B1AEFD27A283}"/>
              </a:ext>
            </a:extLst>
          </p:cNvPr>
          <p:cNvPicPr>
            <a:picLocks noChangeAspect="1"/>
          </p:cNvPicPr>
          <p:nvPr/>
        </p:nvPicPr>
        <p:blipFill>
          <a:blip r:embed="rId7"/>
          <a:srcRect l="2610" t="5414" r="4248"/>
          <a:stretch>
            <a:fillRect/>
          </a:stretch>
        </p:blipFill>
        <p:spPr>
          <a:xfrm>
            <a:off x="6356148" y="3218580"/>
            <a:ext cx="758071" cy="9360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36" name="Text 15">
            <a:extLst>
              <a:ext uri="{FF2B5EF4-FFF2-40B4-BE49-F238E27FC236}">
                <a16:creationId xmlns:a16="http://schemas.microsoft.com/office/drawing/2014/main" id="{D7CB0789-EBA6-4AA6-2928-08DAF559391B}"/>
              </a:ext>
            </a:extLst>
          </p:cNvPr>
          <p:cNvSpPr/>
          <p:nvPr/>
        </p:nvSpPr>
        <p:spPr>
          <a:xfrm>
            <a:off x="6081812" y="4159920"/>
            <a:ext cx="1299683" cy="411480"/>
          </a:xfrm>
          <a:prstGeom prst="rect">
            <a:avLst/>
          </a:prstGeom>
          <a:noFill/>
          <a:ln/>
        </p:spPr>
        <p:txBody>
          <a:bodyPr wrap="square" lIns="0" tIns="0" rIns="0" bIns="0" rtlCol="0" anchor="ctr"/>
          <a:lstStyle/>
          <a:p>
            <a:pPr algn="ctr"/>
            <a:r>
              <a:rPr lang="fr-FR" sz="1050" b="1" dirty="0" err="1">
                <a:solidFill>
                  <a:srgbClr val="FFFFFF"/>
                </a:solidFill>
                <a:latin typeface="Ubuntu" panose="020B0504030602030204" pitchFamily="34" charset="0"/>
                <a:ea typeface="Calibri" pitchFamily="34" charset="-122"/>
                <a:cs typeface="Calibri" pitchFamily="34" charset="-120"/>
              </a:rPr>
              <a:t>D.Aicha</a:t>
            </a:r>
            <a:br>
              <a:rPr lang="fr-FR" sz="1200" b="1" dirty="0">
                <a:solidFill>
                  <a:srgbClr val="FFFFFF"/>
                </a:solidFill>
                <a:latin typeface="Ubuntu" panose="020B0504030602030204" pitchFamily="34" charset="0"/>
                <a:ea typeface="Calibri" pitchFamily="34" charset="-122"/>
                <a:cs typeface="Calibri" pitchFamily="34" charset="-120"/>
              </a:rPr>
            </a:br>
            <a:r>
              <a:rPr lang="en-US" sz="1000" b="1" dirty="0">
                <a:solidFill>
                  <a:schemeClr val="accent2"/>
                </a:solidFill>
                <a:latin typeface="Ubuntu" panose="020B0504030602030204" pitchFamily="34" charset="0"/>
              </a:rPr>
              <a:t>Etudes </a:t>
            </a:r>
            <a:r>
              <a:rPr lang="en-US" sz="1000" b="1" dirty="0" err="1">
                <a:solidFill>
                  <a:schemeClr val="accent2"/>
                </a:solidFill>
                <a:latin typeface="Ubuntu" panose="020B0504030602030204" pitchFamily="34" charset="0"/>
              </a:rPr>
              <a:t>linguistiques</a:t>
            </a:r>
            <a:endParaRPr lang="en-US" sz="1200" b="1" dirty="0">
              <a:solidFill>
                <a:schemeClr val="accent2"/>
              </a:solidFill>
              <a:latin typeface="Ubuntu" panose="020B0504030602030204" pitchFamily="34" charset="0"/>
            </a:endParaRPr>
          </a:p>
        </p:txBody>
      </p:sp>
      <p:pic>
        <p:nvPicPr>
          <p:cNvPr id="38" name="Image 37">
            <a:extLst>
              <a:ext uri="{FF2B5EF4-FFF2-40B4-BE49-F238E27FC236}">
                <a16:creationId xmlns:a16="http://schemas.microsoft.com/office/drawing/2014/main" id="{4607414B-02B4-C146-3716-74B4CC73C3FA}"/>
              </a:ext>
            </a:extLst>
          </p:cNvPr>
          <p:cNvPicPr>
            <a:picLocks noChangeAspect="1"/>
          </p:cNvPicPr>
          <p:nvPr/>
        </p:nvPicPr>
        <p:blipFill>
          <a:blip r:embed="rId8"/>
          <a:stretch>
            <a:fillRect/>
          </a:stretch>
        </p:blipFill>
        <p:spPr>
          <a:xfrm>
            <a:off x="3740977" y="3218580"/>
            <a:ext cx="734071" cy="9360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39" name="Text 15">
            <a:extLst>
              <a:ext uri="{FF2B5EF4-FFF2-40B4-BE49-F238E27FC236}">
                <a16:creationId xmlns:a16="http://schemas.microsoft.com/office/drawing/2014/main" id="{E241441A-2958-7E16-CA2C-37E5EE7EC738}"/>
              </a:ext>
            </a:extLst>
          </p:cNvPr>
          <p:cNvSpPr/>
          <p:nvPr/>
        </p:nvSpPr>
        <p:spPr>
          <a:xfrm>
            <a:off x="3458172" y="4156830"/>
            <a:ext cx="1299683" cy="411480"/>
          </a:xfrm>
          <a:prstGeom prst="rect">
            <a:avLst/>
          </a:prstGeom>
          <a:noFill/>
          <a:ln/>
        </p:spPr>
        <p:txBody>
          <a:bodyPr wrap="square" lIns="0" tIns="0" rIns="0" bIns="0" rtlCol="0" anchor="ctr"/>
          <a:lstStyle/>
          <a:p>
            <a:pPr algn="ctr"/>
            <a:r>
              <a:rPr lang="fr-FR" sz="1200" b="1" dirty="0">
                <a:solidFill>
                  <a:srgbClr val="FFFFFF"/>
                </a:solidFill>
                <a:latin typeface="Ubuntu" panose="020B0504030602030204" pitchFamily="34" charset="0"/>
                <a:ea typeface="Calibri" pitchFamily="34" charset="-122"/>
                <a:cs typeface="Calibri" pitchFamily="34" charset="-120"/>
              </a:rPr>
              <a:t>F. Mohammed</a:t>
            </a:r>
            <a:br>
              <a:rPr lang="fr-FR" sz="1200" b="1" dirty="0">
                <a:solidFill>
                  <a:srgbClr val="FFFFFF"/>
                </a:solidFill>
                <a:latin typeface="Ubuntu" panose="020B0504030602030204" pitchFamily="34" charset="0"/>
                <a:ea typeface="Calibri" pitchFamily="34" charset="-122"/>
                <a:cs typeface="Calibri" pitchFamily="34" charset="-120"/>
              </a:rPr>
            </a:br>
            <a:r>
              <a:rPr lang="en-US" sz="1000" b="1" dirty="0">
                <a:solidFill>
                  <a:schemeClr val="accent2"/>
                </a:solidFill>
                <a:latin typeface="Ubuntu" panose="020B0504030602030204" pitchFamily="34" charset="0"/>
              </a:rPr>
              <a:t>Etudes </a:t>
            </a:r>
            <a:r>
              <a:rPr lang="en-US" sz="1000" b="1" dirty="0" err="1">
                <a:solidFill>
                  <a:schemeClr val="accent2"/>
                </a:solidFill>
                <a:latin typeface="Ubuntu" panose="020B0504030602030204" pitchFamily="34" charset="0"/>
              </a:rPr>
              <a:t>linguistiques</a:t>
            </a:r>
            <a:endParaRPr lang="en-US" sz="1200" b="1" dirty="0">
              <a:solidFill>
                <a:schemeClr val="accent2"/>
              </a:solidFill>
              <a:latin typeface="Ubuntu" panose="020B0504030602030204" pitchFamily="34" charset="0"/>
            </a:endParaRPr>
          </a:p>
        </p:txBody>
      </p:sp>
      <p:pic>
        <p:nvPicPr>
          <p:cNvPr id="41" name="Image 40">
            <a:extLst>
              <a:ext uri="{FF2B5EF4-FFF2-40B4-BE49-F238E27FC236}">
                <a16:creationId xmlns:a16="http://schemas.microsoft.com/office/drawing/2014/main" id="{EE045E89-8B17-B5B4-C516-A60099831CA8}"/>
              </a:ext>
            </a:extLst>
          </p:cNvPr>
          <p:cNvPicPr>
            <a:picLocks noChangeAspect="1"/>
          </p:cNvPicPr>
          <p:nvPr/>
        </p:nvPicPr>
        <p:blipFill>
          <a:blip r:embed="rId9"/>
          <a:stretch>
            <a:fillRect/>
          </a:stretch>
        </p:blipFill>
        <p:spPr>
          <a:xfrm>
            <a:off x="7735043" y="3254490"/>
            <a:ext cx="624000" cy="9360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42" name="Text 15">
            <a:extLst>
              <a:ext uri="{FF2B5EF4-FFF2-40B4-BE49-F238E27FC236}">
                <a16:creationId xmlns:a16="http://schemas.microsoft.com/office/drawing/2014/main" id="{40893DFF-0936-BA36-AF1C-E60B034BB50E}"/>
              </a:ext>
            </a:extLst>
          </p:cNvPr>
          <p:cNvSpPr/>
          <p:nvPr/>
        </p:nvSpPr>
        <p:spPr>
          <a:xfrm>
            <a:off x="7397202" y="4197675"/>
            <a:ext cx="1299683" cy="411480"/>
          </a:xfrm>
          <a:prstGeom prst="rect">
            <a:avLst/>
          </a:prstGeom>
          <a:noFill/>
          <a:ln/>
        </p:spPr>
        <p:txBody>
          <a:bodyPr wrap="square" lIns="0" tIns="0" rIns="0" bIns="0" rtlCol="0" anchor="ctr"/>
          <a:lstStyle/>
          <a:p>
            <a:pPr algn="ctr"/>
            <a:r>
              <a:rPr lang="fr-FR" sz="1050" b="1" dirty="0" err="1">
                <a:solidFill>
                  <a:srgbClr val="FFFFFF"/>
                </a:solidFill>
                <a:latin typeface="Ubuntu" panose="020B0504030602030204" pitchFamily="34" charset="0"/>
                <a:ea typeface="Calibri" pitchFamily="34" charset="-122"/>
                <a:cs typeface="Calibri" pitchFamily="34" charset="-120"/>
              </a:rPr>
              <a:t>M.Faiza</a:t>
            </a:r>
            <a:br>
              <a:rPr lang="fr-FR" sz="1200" b="1" dirty="0">
                <a:solidFill>
                  <a:srgbClr val="FFFFFF"/>
                </a:solidFill>
                <a:latin typeface="Ubuntu" panose="020B0504030602030204" pitchFamily="34" charset="0"/>
                <a:ea typeface="Calibri" pitchFamily="34" charset="-122"/>
                <a:cs typeface="Calibri" pitchFamily="34" charset="-120"/>
              </a:rPr>
            </a:br>
            <a:r>
              <a:rPr lang="en-US" sz="1000" b="1" dirty="0">
                <a:solidFill>
                  <a:schemeClr val="accent2"/>
                </a:solidFill>
                <a:latin typeface="Ubuntu" panose="020B0504030602030204" pitchFamily="34" charset="0"/>
              </a:rPr>
              <a:t>Langue anglaise </a:t>
            </a:r>
          </a:p>
        </p:txBody>
      </p:sp>
      <p:sp>
        <p:nvSpPr>
          <p:cNvPr id="43" name="Text 15">
            <a:extLst>
              <a:ext uri="{FF2B5EF4-FFF2-40B4-BE49-F238E27FC236}">
                <a16:creationId xmlns:a16="http://schemas.microsoft.com/office/drawing/2014/main" id="{B7C6D255-3E4B-CE2A-E8EE-9ADC82D7E0EB}"/>
              </a:ext>
            </a:extLst>
          </p:cNvPr>
          <p:cNvSpPr/>
          <p:nvPr/>
        </p:nvSpPr>
        <p:spPr>
          <a:xfrm>
            <a:off x="1128069" y="2723115"/>
            <a:ext cx="1258370" cy="411480"/>
          </a:xfrm>
          <a:prstGeom prst="rect">
            <a:avLst/>
          </a:prstGeom>
          <a:noFill/>
          <a:ln/>
        </p:spPr>
        <p:txBody>
          <a:bodyPr wrap="square" lIns="0" tIns="0" rIns="0" bIns="0" rtlCol="0" anchor="ctr"/>
          <a:lstStyle/>
          <a:p>
            <a:r>
              <a:rPr lang="fr-FR" sz="1200" b="1" dirty="0">
                <a:solidFill>
                  <a:srgbClr val="FFFFFF"/>
                </a:solidFill>
                <a:latin typeface="Ubuntu" panose="020B0504030602030204" pitchFamily="34" charset="0"/>
                <a:ea typeface="Calibri" pitchFamily="34" charset="-122"/>
                <a:cs typeface="Calibri" pitchFamily="34" charset="-120"/>
              </a:rPr>
              <a:t>Our Team :</a:t>
            </a:r>
            <a:endParaRPr lang="en-US" sz="1200" dirty="0">
              <a:latin typeface="Ubuntu" panose="020B0504030602030204" pitchFamily="34" charset="0"/>
            </a:endParaRPr>
          </a:p>
        </p:txBody>
      </p:sp>
      <p:sp>
        <p:nvSpPr>
          <p:cNvPr id="10" name="Text 9">
            <a:extLst>
              <a:ext uri="{FF2B5EF4-FFF2-40B4-BE49-F238E27FC236}">
                <a16:creationId xmlns:a16="http://schemas.microsoft.com/office/drawing/2014/main" id="{D50EF63D-616A-AC0A-175C-DF82D106FF58}"/>
              </a:ext>
            </a:extLst>
          </p:cNvPr>
          <p:cNvSpPr/>
          <p:nvPr/>
        </p:nvSpPr>
        <p:spPr>
          <a:xfrm>
            <a:off x="1901184" y="773865"/>
            <a:ext cx="5760720" cy="320040"/>
          </a:xfrm>
          <a:prstGeom prst="rect">
            <a:avLst/>
          </a:prstGeom>
          <a:noFill/>
          <a:ln/>
        </p:spPr>
        <p:txBody>
          <a:bodyPr wrap="square" lIns="0" tIns="0" rIns="0" bIns="0" rtlCol="0" anchor="ctr"/>
          <a:lstStyle/>
          <a:p>
            <a:pPr marL="0" indent="0" algn="ctr">
              <a:buNone/>
            </a:pPr>
            <a:r>
              <a:rPr lang="en-US" sz="1200" b="1" dirty="0">
                <a:solidFill>
                  <a:srgbClr val="D4A017"/>
                </a:solidFill>
                <a:latin typeface="Georgia" pitchFamily="34" charset="0"/>
                <a:ea typeface="Georgia" pitchFamily="34" charset="-122"/>
                <a:cs typeface="Georgia" pitchFamily="34" charset="-120"/>
              </a:rPr>
              <a:t>Fundamentals and Technique of Programming — Mini Project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C0392B"/>
          </a:solidFill>
          <a:ln/>
        </p:spPr>
      </p:sp>
      <p:sp>
        <p:nvSpPr>
          <p:cNvPr id="3" name="Text 1"/>
          <p:cNvSpPr/>
          <p:nvPr/>
        </p:nvSpPr>
        <p:spPr>
          <a:xfrm>
            <a:off x="274320" y="0"/>
            <a:ext cx="8595360" cy="777240"/>
          </a:xfrm>
          <a:prstGeom prst="rect">
            <a:avLst/>
          </a:prstGeom>
          <a:noFill/>
          <a:ln/>
        </p:spPr>
        <p:txBody>
          <a:bodyPr wrap="square" lIns="0" tIns="0" rIns="0" bIns="0" rtlCol="0" anchor="ctr"/>
          <a:lstStyle/>
          <a:p>
            <a:pPr marL="0" indent="0" algn="l">
              <a:buNone/>
            </a:pPr>
            <a:r>
              <a:rPr lang="en-US" sz="2200" b="1" dirty="0">
                <a:solidFill>
                  <a:srgbClr val="FFFFFF"/>
                </a:solidFill>
                <a:latin typeface="Ubuntu" panose="020B0504030602030204" pitchFamily="34" charset="0"/>
                <a:ea typeface="Georgia" pitchFamily="34" charset="-122"/>
                <a:cs typeface="Georgia" pitchFamily="34" charset="-120"/>
              </a:rPr>
              <a:t>📋 Presentation Structure</a:t>
            </a:r>
            <a:endParaRPr lang="en-US" sz="2200" dirty="0">
              <a:latin typeface="Ubuntu" panose="020B0504030602030204" pitchFamily="34" charset="0"/>
            </a:endParaRPr>
          </a:p>
        </p:txBody>
      </p:sp>
      <p:sp>
        <p:nvSpPr>
          <p:cNvPr id="4" name="Shape 2"/>
          <p:cNvSpPr/>
          <p:nvPr/>
        </p:nvSpPr>
        <p:spPr>
          <a:xfrm>
            <a:off x="228600" y="1498211"/>
            <a:ext cx="4206240" cy="868680"/>
          </a:xfrm>
          <a:prstGeom prst="rect">
            <a:avLst/>
          </a:prstGeom>
          <a:solidFill>
            <a:srgbClr val="FFFFFF"/>
          </a:solidFill>
          <a:ln/>
          <a:effectLst>
            <a:outerShdw blurRad="101600" dist="38100" dir="8100000" algn="bl" rotWithShape="0">
              <a:srgbClr val="000000">
                <a:alpha val="15000"/>
              </a:srgbClr>
            </a:outerShdw>
          </a:effectLst>
        </p:spPr>
      </p:sp>
      <p:sp>
        <p:nvSpPr>
          <p:cNvPr id="5" name="Shape 3"/>
          <p:cNvSpPr/>
          <p:nvPr/>
        </p:nvSpPr>
        <p:spPr>
          <a:xfrm>
            <a:off x="228600" y="1498211"/>
            <a:ext cx="502920" cy="868680"/>
          </a:xfrm>
          <a:prstGeom prst="rect">
            <a:avLst/>
          </a:prstGeom>
          <a:solidFill>
            <a:srgbClr val="C0392B"/>
          </a:solidFill>
          <a:ln/>
        </p:spPr>
      </p:sp>
      <p:sp>
        <p:nvSpPr>
          <p:cNvPr id="6" name="Text 4"/>
          <p:cNvSpPr/>
          <p:nvPr/>
        </p:nvSpPr>
        <p:spPr>
          <a:xfrm>
            <a:off x="228600" y="1498211"/>
            <a:ext cx="502920" cy="868680"/>
          </a:xfrm>
          <a:prstGeom prst="rect">
            <a:avLst/>
          </a:prstGeom>
          <a:noFill/>
          <a:ln/>
        </p:spPr>
        <p:txBody>
          <a:bodyPr wrap="square" lIns="0" tIns="0" rIns="0" bIns="0" rtlCol="0" anchor="ctr"/>
          <a:lstStyle/>
          <a:p>
            <a:pPr marL="0" indent="0" algn="ctr">
              <a:buNone/>
            </a:pPr>
            <a:r>
              <a:rPr lang="en-US" sz="1400" b="1" dirty="0">
                <a:solidFill>
                  <a:srgbClr val="FFFFFF"/>
                </a:solidFill>
                <a:latin typeface="Ubuntu" panose="020B0504030602030204" pitchFamily="34" charset="0"/>
                <a:ea typeface="Georgia" pitchFamily="34" charset="-122"/>
                <a:cs typeface="Georgia" pitchFamily="34" charset="-120"/>
              </a:rPr>
              <a:t>01</a:t>
            </a:r>
            <a:endParaRPr lang="en-US" sz="1400" dirty="0">
              <a:latin typeface="Ubuntu" panose="020B0504030602030204" pitchFamily="34" charset="0"/>
            </a:endParaRPr>
          </a:p>
        </p:txBody>
      </p:sp>
      <p:sp>
        <p:nvSpPr>
          <p:cNvPr id="8" name="Text 6"/>
          <p:cNvSpPr/>
          <p:nvPr/>
        </p:nvSpPr>
        <p:spPr>
          <a:xfrm>
            <a:off x="795528" y="1589651"/>
            <a:ext cx="3474720" cy="274320"/>
          </a:xfrm>
          <a:prstGeom prst="rect">
            <a:avLst/>
          </a:prstGeom>
          <a:noFill/>
          <a:ln/>
        </p:spPr>
        <p:txBody>
          <a:bodyPr wrap="square" lIns="0" tIns="0" rIns="0" bIns="0" rtlCol="0" anchor="ctr"/>
          <a:lstStyle/>
          <a:p>
            <a:pPr marL="0" indent="0">
              <a:buNone/>
            </a:pPr>
            <a:r>
              <a:rPr lang="en-US" sz="1200" b="1" dirty="0">
                <a:solidFill>
                  <a:srgbClr val="2C1810"/>
                </a:solidFill>
                <a:latin typeface="Ubuntu" panose="020B0504030602030204" pitchFamily="34" charset="0"/>
                <a:ea typeface="Georgia" pitchFamily="34" charset="-122"/>
                <a:cs typeface="Georgia" pitchFamily="34" charset="-120"/>
              </a:rPr>
              <a:t>🎯 Introduction to Problem</a:t>
            </a:r>
            <a:endParaRPr lang="en-US" sz="1200" dirty="0">
              <a:latin typeface="Ubuntu" panose="020B0504030602030204" pitchFamily="34" charset="0"/>
            </a:endParaRPr>
          </a:p>
        </p:txBody>
      </p:sp>
      <p:sp>
        <p:nvSpPr>
          <p:cNvPr id="9" name="Text 7"/>
          <p:cNvSpPr/>
          <p:nvPr/>
        </p:nvSpPr>
        <p:spPr>
          <a:xfrm>
            <a:off x="795528" y="1909691"/>
            <a:ext cx="3474720" cy="384048"/>
          </a:xfrm>
          <a:prstGeom prst="rect">
            <a:avLst/>
          </a:prstGeom>
          <a:noFill/>
          <a:ln/>
        </p:spPr>
        <p:txBody>
          <a:bodyPr wrap="square" lIns="0" tIns="0" rIns="0" bIns="0" rtlCol="0" anchor="ctr"/>
          <a:lstStyle/>
          <a:p>
            <a:pPr marL="0" indent="0">
              <a:buNone/>
            </a:pPr>
            <a:r>
              <a:rPr lang="en-US" sz="1000" i="1" dirty="0">
                <a:solidFill>
                  <a:srgbClr val="5D4037"/>
                </a:solidFill>
                <a:latin typeface="Ubuntu" panose="020B0504030602030204" pitchFamily="34" charset="0"/>
                <a:ea typeface="Calibri" pitchFamily="34" charset="-122"/>
                <a:cs typeface="Calibri" pitchFamily="34" charset="-120"/>
              </a:rPr>
              <a:t>Theme • Problem Definition • Input/Output • Hypotheses</a:t>
            </a:r>
            <a:endParaRPr lang="en-US" sz="1000" dirty="0">
              <a:latin typeface="Ubuntu" panose="020B0504030602030204" pitchFamily="34" charset="0"/>
            </a:endParaRPr>
          </a:p>
        </p:txBody>
      </p:sp>
      <p:sp>
        <p:nvSpPr>
          <p:cNvPr id="10" name="Shape 8"/>
          <p:cNvSpPr/>
          <p:nvPr/>
        </p:nvSpPr>
        <p:spPr>
          <a:xfrm>
            <a:off x="4690872" y="1498211"/>
            <a:ext cx="4206240" cy="868680"/>
          </a:xfrm>
          <a:prstGeom prst="rect">
            <a:avLst/>
          </a:prstGeom>
          <a:solidFill>
            <a:srgbClr val="FFFFFF"/>
          </a:solidFill>
          <a:ln/>
          <a:effectLst>
            <a:outerShdw blurRad="101600" dist="38100" dir="8100000" algn="bl" rotWithShape="0">
              <a:srgbClr val="000000">
                <a:alpha val="15000"/>
              </a:srgbClr>
            </a:outerShdw>
          </a:effectLst>
        </p:spPr>
      </p:sp>
      <p:sp>
        <p:nvSpPr>
          <p:cNvPr id="11" name="Shape 9"/>
          <p:cNvSpPr/>
          <p:nvPr/>
        </p:nvSpPr>
        <p:spPr>
          <a:xfrm>
            <a:off x="4690872" y="1498211"/>
            <a:ext cx="502920" cy="868680"/>
          </a:xfrm>
          <a:prstGeom prst="rect">
            <a:avLst/>
          </a:prstGeom>
          <a:solidFill>
            <a:srgbClr val="D4A017"/>
          </a:solidFill>
          <a:ln/>
        </p:spPr>
      </p:sp>
      <p:sp>
        <p:nvSpPr>
          <p:cNvPr id="12" name="Text 10"/>
          <p:cNvSpPr/>
          <p:nvPr/>
        </p:nvSpPr>
        <p:spPr>
          <a:xfrm>
            <a:off x="4690872" y="1498211"/>
            <a:ext cx="502920" cy="868680"/>
          </a:xfrm>
          <a:prstGeom prst="rect">
            <a:avLst/>
          </a:prstGeom>
          <a:noFill/>
          <a:ln/>
        </p:spPr>
        <p:txBody>
          <a:bodyPr wrap="square" lIns="0" tIns="0" rIns="0" bIns="0" rtlCol="0" anchor="ctr"/>
          <a:lstStyle/>
          <a:p>
            <a:pPr marL="0" indent="0" algn="ctr">
              <a:buNone/>
            </a:pPr>
            <a:r>
              <a:rPr lang="en-US" sz="1400" b="1" dirty="0">
                <a:solidFill>
                  <a:srgbClr val="FFFFFF"/>
                </a:solidFill>
                <a:latin typeface="Ubuntu" panose="020B0504030602030204" pitchFamily="34" charset="0"/>
                <a:ea typeface="Georgia" pitchFamily="34" charset="-122"/>
                <a:cs typeface="Georgia" pitchFamily="34" charset="-120"/>
              </a:rPr>
              <a:t>02</a:t>
            </a:r>
            <a:endParaRPr lang="en-US" sz="1400" dirty="0">
              <a:latin typeface="Ubuntu" panose="020B0504030602030204" pitchFamily="34" charset="0"/>
            </a:endParaRPr>
          </a:p>
        </p:txBody>
      </p:sp>
      <p:sp>
        <p:nvSpPr>
          <p:cNvPr id="14" name="Text 12"/>
          <p:cNvSpPr/>
          <p:nvPr/>
        </p:nvSpPr>
        <p:spPr>
          <a:xfrm>
            <a:off x="5257800" y="1589651"/>
            <a:ext cx="3474720" cy="274320"/>
          </a:xfrm>
          <a:prstGeom prst="rect">
            <a:avLst/>
          </a:prstGeom>
          <a:noFill/>
          <a:ln/>
        </p:spPr>
        <p:txBody>
          <a:bodyPr wrap="square" lIns="0" tIns="0" rIns="0" bIns="0" rtlCol="0" anchor="ctr"/>
          <a:lstStyle/>
          <a:p>
            <a:pPr marL="0" indent="0">
              <a:buNone/>
            </a:pPr>
            <a:r>
              <a:rPr lang="en-US" sz="1200" b="1" dirty="0">
                <a:solidFill>
                  <a:srgbClr val="2C1810"/>
                </a:solidFill>
                <a:latin typeface="Ubuntu" panose="020B0504030602030204" pitchFamily="34" charset="0"/>
                <a:ea typeface="Georgia" pitchFamily="34" charset="-122"/>
                <a:cs typeface="Georgia" pitchFamily="34" charset="-120"/>
              </a:rPr>
              <a:t>📐 Program Design &amp; Structure</a:t>
            </a:r>
            <a:endParaRPr lang="en-US" sz="1200" dirty="0">
              <a:latin typeface="Ubuntu" panose="020B0504030602030204" pitchFamily="34" charset="0"/>
            </a:endParaRPr>
          </a:p>
        </p:txBody>
      </p:sp>
      <p:sp>
        <p:nvSpPr>
          <p:cNvPr id="15" name="Text 13"/>
          <p:cNvSpPr/>
          <p:nvPr/>
        </p:nvSpPr>
        <p:spPr>
          <a:xfrm>
            <a:off x="5257800" y="1909691"/>
            <a:ext cx="3474720" cy="384048"/>
          </a:xfrm>
          <a:prstGeom prst="rect">
            <a:avLst/>
          </a:prstGeom>
          <a:noFill/>
          <a:ln/>
        </p:spPr>
        <p:txBody>
          <a:bodyPr wrap="square" lIns="0" tIns="0" rIns="0" bIns="0" rtlCol="0" anchor="ctr"/>
          <a:lstStyle/>
          <a:p>
            <a:pPr marL="0" indent="0">
              <a:buNone/>
            </a:pPr>
            <a:r>
              <a:rPr lang="en-US" sz="1000" i="1" dirty="0">
                <a:solidFill>
                  <a:srgbClr val="5D4037"/>
                </a:solidFill>
                <a:latin typeface="Ubuntu" panose="020B0504030602030204" pitchFamily="34" charset="0"/>
                <a:ea typeface="Calibri" pitchFamily="34" charset="-122"/>
                <a:cs typeface="Calibri" pitchFamily="34" charset="-120"/>
              </a:rPr>
              <a:t>Flowchart • Application Logic • Main Functions</a:t>
            </a:r>
            <a:endParaRPr lang="en-US" sz="1000" dirty="0">
              <a:latin typeface="Ubuntu" panose="020B0504030602030204" pitchFamily="34" charset="0"/>
            </a:endParaRPr>
          </a:p>
        </p:txBody>
      </p:sp>
      <p:sp>
        <p:nvSpPr>
          <p:cNvPr id="16" name="Shape 14"/>
          <p:cNvSpPr/>
          <p:nvPr/>
        </p:nvSpPr>
        <p:spPr>
          <a:xfrm>
            <a:off x="228600" y="2522339"/>
            <a:ext cx="4206240" cy="868680"/>
          </a:xfrm>
          <a:prstGeom prst="rect">
            <a:avLst/>
          </a:prstGeom>
          <a:solidFill>
            <a:srgbClr val="FFFFFF"/>
          </a:solidFill>
          <a:ln/>
          <a:effectLst>
            <a:outerShdw blurRad="101600" dist="38100" dir="8100000" algn="bl" rotWithShape="0">
              <a:srgbClr val="000000">
                <a:alpha val="15000"/>
              </a:srgbClr>
            </a:outerShdw>
          </a:effectLst>
        </p:spPr>
      </p:sp>
      <p:sp>
        <p:nvSpPr>
          <p:cNvPr id="17" name="Shape 15"/>
          <p:cNvSpPr/>
          <p:nvPr/>
        </p:nvSpPr>
        <p:spPr>
          <a:xfrm>
            <a:off x="228600" y="2522339"/>
            <a:ext cx="502920" cy="868680"/>
          </a:xfrm>
          <a:prstGeom prst="rect">
            <a:avLst/>
          </a:prstGeom>
          <a:solidFill>
            <a:srgbClr val="1A6B3C"/>
          </a:solidFill>
          <a:ln/>
        </p:spPr>
      </p:sp>
      <p:sp>
        <p:nvSpPr>
          <p:cNvPr id="18" name="Text 16"/>
          <p:cNvSpPr/>
          <p:nvPr/>
        </p:nvSpPr>
        <p:spPr>
          <a:xfrm>
            <a:off x="228600" y="2522339"/>
            <a:ext cx="502920" cy="868680"/>
          </a:xfrm>
          <a:prstGeom prst="rect">
            <a:avLst/>
          </a:prstGeom>
          <a:noFill/>
          <a:ln/>
        </p:spPr>
        <p:txBody>
          <a:bodyPr wrap="square" lIns="0" tIns="0" rIns="0" bIns="0" rtlCol="0" anchor="ctr"/>
          <a:lstStyle/>
          <a:p>
            <a:pPr marL="0" indent="0" algn="ctr">
              <a:buNone/>
            </a:pPr>
            <a:r>
              <a:rPr lang="en-US" sz="1400" b="1" dirty="0">
                <a:solidFill>
                  <a:srgbClr val="FFFFFF"/>
                </a:solidFill>
                <a:latin typeface="Ubuntu" panose="020B0504030602030204" pitchFamily="34" charset="0"/>
                <a:ea typeface="Georgia" pitchFamily="34" charset="-122"/>
                <a:cs typeface="Georgia" pitchFamily="34" charset="-120"/>
              </a:rPr>
              <a:t>03</a:t>
            </a:r>
            <a:endParaRPr lang="en-US" sz="1400" dirty="0">
              <a:latin typeface="Ubuntu" panose="020B0504030602030204" pitchFamily="34" charset="0"/>
            </a:endParaRPr>
          </a:p>
        </p:txBody>
      </p:sp>
      <p:sp>
        <p:nvSpPr>
          <p:cNvPr id="20" name="Text 18"/>
          <p:cNvSpPr/>
          <p:nvPr/>
        </p:nvSpPr>
        <p:spPr>
          <a:xfrm>
            <a:off x="795528" y="2613779"/>
            <a:ext cx="3474720" cy="274320"/>
          </a:xfrm>
          <a:prstGeom prst="rect">
            <a:avLst/>
          </a:prstGeom>
          <a:noFill/>
          <a:ln/>
        </p:spPr>
        <p:txBody>
          <a:bodyPr wrap="square" lIns="0" tIns="0" rIns="0" bIns="0" rtlCol="0" anchor="ctr"/>
          <a:lstStyle/>
          <a:p>
            <a:pPr marL="0" indent="0">
              <a:buNone/>
            </a:pPr>
            <a:r>
              <a:rPr lang="en-US" sz="1200" b="1" dirty="0">
                <a:solidFill>
                  <a:srgbClr val="2C1810"/>
                </a:solidFill>
                <a:latin typeface="Ubuntu" panose="020B0504030602030204" pitchFamily="34" charset="0"/>
                <a:ea typeface="Georgia" pitchFamily="34" charset="-122"/>
                <a:cs typeface="Georgia" pitchFamily="34" charset="-120"/>
              </a:rPr>
              <a:t>💻 Source Code Structure</a:t>
            </a:r>
            <a:endParaRPr lang="en-US" sz="1200" dirty="0">
              <a:latin typeface="Ubuntu" panose="020B0504030602030204" pitchFamily="34" charset="0"/>
            </a:endParaRPr>
          </a:p>
        </p:txBody>
      </p:sp>
      <p:sp>
        <p:nvSpPr>
          <p:cNvPr id="21" name="Text 19"/>
          <p:cNvSpPr/>
          <p:nvPr/>
        </p:nvSpPr>
        <p:spPr>
          <a:xfrm>
            <a:off x="795528" y="2933819"/>
            <a:ext cx="3474720" cy="384048"/>
          </a:xfrm>
          <a:prstGeom prst="rect">
            <a:avLst/>
          </a:prstGeom>
          <a:noFill/>
          <a:ln/>
        </p:spPr>
        <p:txBody>
          <a:bodyPr wrap="square" lIns="0" tIns="0" rIns="0" bIns="0" rtlCol="0" anchor="ctr"/>
          <a:lstStyle/>
          <a:p>
            <a:pPr marL="0" indent="0">
              <a:buNone/>
            </a:pPr>
            <a:r>
              <a:rPr lang="en-US" sz="1000" i="1" dirty="0">
                <a:solidFill>
                  <a:srgbClr val="5D4037"/>
                </a:solidFill>
                <a:latin typeface="Ubuntu" panose="020B0504030602030204" pitchFamily="34" charset="0"/>
                <a:ea typeface="Calibri" pitchFamily="34" charset="-122"/>
                <a:cs typeface="Calibri" pitchFamily="34" charset="-120"/>
              </a:rPr>
              <a:t>Code • Data Structures • Libraries • GitHub Link</a:t>
            </a:r>
            <a:endParaRPr lang="en-US" sz="1000" dirty="0">
              <a:latin typeface="Ubuntu" panose="020B0504030602030204" pitchFamily="34" charset="0"/>
            </a:endParaRPr>
          </a:p>
        </p:txBody>
      </p:sp>
      <p:sp>
        <p:nvSpPr>
          <p:cNvPr id="22" name="Shape 20"/>
          <p:cNvSpPr/>
          <p:nvPr/>
        </p:nvSpPr>
        <p:spPr>
          <a:xfrm>
            <a:off x="4690872" y="2522339"/>
            <a:ext cx="4206240" cy="868680"/>
          </a:xfrm>
          <a:prstGeom prst="rect">
            <a:avLst/>
          </a:prstGeom>
          <a:solidFill>
            <a:srgbClr val="FFFFFF"/>
          </a:solidFill>
          <a:ln/>
          <a:effectLst>
            <a:outerShdw blurRad="101600" dist="38100" dir="8100000" algn="bl" rotWithShape="0">
              <a:srgbClr val="000000">
                <a:alpha val="15000"/>
              </a:srgbClr>
            </a:outerShdw>
          </a:effectLst>
        </p:spPr>
      </p:sp>
      <p:sp>
        <p:nvSpPr>
          <p:cNvPr id="23" name="Shape 21"/>
          <p:cNvSpPr/>
          <p:nvPr/>
        </p:nvSpPr>
        <p:spPr>
          <a:xfrm>
            <a:off x="4690872" y="2522339"/>
            <a:ext cx="502920" cy="868680"/>
          </a:xfrm>
          <a:prstGeom prst="rect">
            <a:avLst/>
          </a:prstGeom>
          <a:solidFill>
            <a:srgbClr val="15618A"/>
          </a:solidFill>
          <a:ln/>
        </p:spPr>
      </p:sp>
      <p:sp>
        <p:nvSpPr>
          <p:cNvPr id="24" name="Text 22"/>
          <p:cNvSpPr/>
          <p:nvPr/>
        </p:nvSpPr>
        <p:spPr>
          <a:xfrm>
            <a:off x="4690872" y="2522339"/>
            <a:ext cx="502920" cy="868680"/>
          </a:xfrm>
          <a:prstGeom prst="rect">
            <a:avLst/>
          </a:prstGeom>
          <a:noFill/>
          <a:ln/>
        </p:spPr>
        <p:txBody>
          <a:bodyPr wrap="square" lIns="0" tIns="0" rIns="0" bIns="0" rtlCol="0" anchor="ctr"/>
          <a:lstStyle/>
          <a:p>
            <a:pPr marL="0" indent="0" algn="ctr">
              <a:buNone/>
            </a:pPr>
            <a:r>
              <a:rPr lang="en-US" sz="1400" b="1" dirty="0">
                <a:solidFill>
                  <a:srgbClr val="FFFFFF"/>
                </a:solidFill>
                <a:latin typeface="Ubuntu" panose="020B0504030602030204" pitchFamily="34" charset="0"/>
                <a:ea typeface="Georgia" pitchFamily="34" charset="-122"/>
                <a:cs typeface="Georgia" pitchFamily="34" charset="-120"/>
              </a:rPr>
              <a:t>04</a:t>
            </a:r>
            <a:endParaRPr lang="en-US" sz="1400" dirty="0">
              <a:latin typeface="Ubuntu" panose="020B0504030602030204" pitchFamily="34" charset="0"/>
            </a:endParaRPr>
          </a:p>
        </p:txBody>
      </p:sp>
      <p:sp>
        <p:nvSpPr>
          <p:cNvPr id="26" name="Text 24"/>
          <p:cNvSpPr/>
          <p:nvPr/>
        </p:nvSpPr>
        <p:spPr>
          <a:xfrm>
            <a:off x="5257800" y="2613779"/>
            <a:ext cx="3474720" cy="274320"/>
          </a:xfrm>
          <a:prstGeom prst="rect">
            <a:avLst/>
          </a:prstGeom>
          <a:noFill/>
          <a:ln/>
        </p:spPr>
        <p:txBody>
          <a:bodyPr wrap="square" lIns="0" tIns="0" rIns="0" bIns="0" rtlCol="0" anchor="ctr"/>
          <a:lstStyle/>
          <a:p>
            <a:pPr marL="0" indent="0">
              <a:buNone/>
            </a:pPr>
            <a:r>
              <a:rPr lang="en-US" sz="1200" b="1" dirty="0">
                <a:solidFill>
                  <a:srgbClr val="2C1810"/>
                </a:solidFill>
                <a:latin typeface="Ubuntu" panose="020B0504030602030204" pitchFamily="34" charset="0"/>
                <a:ea typeface="Georgia" pitchFamily="34" charset="-122"/>
                <a:cs typeface="Georgia" pitchFamily="34" charset="-120"/>
              </a:rPr>
              <a:t>📸 Results &amp; Interpretation</a:t>
            </a:r>
            <a:endParaRPr lang="en-US" sz="1200" dirty="0">
              <a:latin typeface="Ubuntu" panose="020B0504030602030204" pitchFamily="34" charset="0"/>
            </a:endParaRPr>
          </a:p>
        </p:txBody>
      </p:sp>
      <p:sp>
        <p:nvSpPr>
          <p:cNvPr id="27" name="Text 25"/>
          <p:cNvSpPr/>
          <p:nvPr/>
        </p:nvSpPr>
        <p:spPr>
          <a:xfrm>
            <a:off x="5257800" y="2933819"/>
            <a:ext cx="3474720" cy="384048"/>
          </a:xfrm>
          <a:prstGeom prst="rect">
            <a:avLst/>
          </a:prstGeom>
          <a:noFill/>
          <a:ln/>
        </p:spPr>
        <p:txBody>
          <a:bodyPr wrap="square" lIns="0" tIns="0" rIns="0" bIns="0" rtlCol="0" anchor="ctr"/>
          <a:lstStyle/>
          <a:p>
            <a:pPr marL="0" indent="0">
              <a:buNone/>
            </a:pPr>
            <a:r>
              <a:rPr lang="en-US" sz="1000" i="1" dirty="0">
                <a:solidFill>
                  <a:srgbClr val="5D4037"/>
                </a:solidFill>
                <a:latin typeface="Ubuntu" panose="020B0504030602030204" pitchFamily="34" charset="0"/>
                <a:ea typeface="Calibri" pitchFamily="34" charset="-122"/>
                <a:cs typeface="Calibri" pitchFamily="34" charset="-120"/>
              </a:rPr>
              <a:t>Screenshots • Execution Examples • Results</a:t>
            </a:r>
            <a:endParaRPr lang="en-US" sz="1000" dirty="0">
              <a:latin typeface="Ubuntu" panose="020B0504030602030204" pitchFamily="34" charset="0"/>
            </a:endParaRPr>
          </a:p>
        </p:txBody>
      </p:sp>
      <p:sp>
        <p:nvSpPr>
          <p:cNvPr id="28" name="Shape 26"/>
          <p:cNvSpPr/>
          <p:nvPr/>
        </p:nvSpPr>
        <p:spPr>
          <a:xfrm>
            <a:off x="228600" y="3546467"/>
            <a:ext cx="4206240" cy="868680"/>
          </a:xfrm>
          <a:prstGeom prst="rect">
            <a:avLst/>
          </a:prstGeom>
          <a:solidFill>
            <a:srgbClr val="FFFFFF"/>
          </a:solidFill>
          <a:ln/>
          <a:effectLst>
            <a:outerShdw blurRad="101600" dist="38100" dir="8100000" algn="bl" rotWithShape="0">
              <a:srgbClr val="000000">
                <a:alpha val="15000"/>
              </a:srgbClr>
            </a:outerShdw>
          </a:effectLst>
        </p:spPr>
      </p:sp>
      <p:sp>
        <p:nvSpPr>
          <p:cNvPr id="29" name="Shape 27"/>
          <p:cNvSpPr/>
          <p:nvPr/>
        </p:nvSpPr>
        <p:spPr>
          <a:xfrm>
            <a:off x="228600" y="3546467"/>
            <a:ext cx="502920" cy="868680"/>
          </a:xfrm>
          <a:prstGeom prst="rect">
            <a:avLst/>
          </a:prstGeom>
          <a:solidFill>
            <a:srgbClr val="7B2D8B"/>
          </a:solidFill>
          <a:ln/>
        </p:spPr>
      </p:sp>
      <p:sp>
        <p:nvSpPr>
          <p:cNvPr id="30" name="Text 28"/>
          <p:cNvSpPr/>
          <p:nvPr/>
        </p:nvSpPr>
        <p:spPr>
          <a:xfrm>
            <a:off x="228600" y="3546467"/>
            <a:ext cx="502920" cy="868680"/>
          </a:xfrm>
          <a:prstGeom prst="rect">
            <a:avLst/>
          </a:prstGeom>
          <a:noFill/>
          <a:ln/>
        </p:spPr>
        <p:txBody>
          <a:bodyPr wrap="square" lIns="0" tIns="0" rIns="0" bIns="0" rtlCol="0" anchor="ctr"/>
          <a:lstStyle/>
          <a:p>
            <a:pPr marL="0" indent="0" algn="ctr">
              <a:buNone/>
            </a:pPr>
            <a:r>
              <a:rPr lang="en-US" sz="1400" b="1" dirty="0">
                <a:solidFill>
                  <a:srgbClr val="FFFFFF"/>
                </a:solidFill>
                <a:latin typeface="Ubuntu" panose="020B0504030602030204" pitchFamily="34" charset="0"/>
                <a:ea typeface="Georgia" pitchFamily="34" charset="-122"/>
                <a:cs typeface="Georgia" pitchFamily="34" charset="-120"/>
              </a:rPr>
              <a:t>05</a:t>
            </a:r>
            <a:endParaRPr lang="en-US" sz="1400" dirty="0">
              <a:latin typeface="Ubuntu" panose="020B0504030602030204" pitchFamily="34" charset="0"/>
            </a:endParaRPr>
          </a:p>
        </p:txBody>
      </p:sp>
      <p:sp>
        <p:nvSpPr>
          <p:cNvPr id="32" name="Text 30"/>
          <p:cNvSpPr/>
          <p:nvPr/>
        </p:nvSpPr>
        <p:spPr>
          <a:xfrm>
            <a:off x="795528" y="3637907"/>
            <a:ext cx="3474720" cy="274320"/>
          </a:xfrm>
          <a:prstGeom prst="rect">
            <a:avLst/>
          </a:prstGeom>
          <a:noFill/>
          <a:ln/>
        </p:spPr>
        <p:txBody>
          <a:bodyPr wrap="square" lIns="0" tIns="0" rIns="0" bIns="0" rtlCol="0" anchor="ctr"/>
          <a:lstStyle/>
          <a:p>
            <a:pPr marL="0" indent="0">
              <a:buNone/>
            </a:pPr>
            <a:r>
              <a:rPr lang="en-US" sz="1200" b="1" dirty="0">
                <a:solidFill>
                  <a:srgbClr val="2C1810"/>
                </a:solidFill>
                <a:latin typeface="Ubuntu" panose="020B0504030602030204" pitchFamily="34" charset="0"/>
                <a:ea typeface="Georgia" pitchFamily="34" charset="-122"/>
                <a:cs typeface="Georgia" pitchFamily="34" charset="-120"/>
              </a:rPr>
              <a:t>⚡ Code Enhancement</a:t>
            </a:r>
            <a:endParaRPr lang="en-US" sz="1200" dirty="0">
              <a:latin typeface="Ubuntu" panose="020B0504030602030204" pitchFamily="34" charset="0"/>
            </a:endParaRPr>
          </a:p>
        </p:txBody>
      </p:sp>
      <p:sp>
        <p:nvSpPr>
          <p:cNvPr id="33" name="Text 31"/>
          <p:cNvSpPr/>
          <p:nvPr/>
        </p:nvSpPr>
        <p:spPr>
          <a:xfrm>
            <a:off x="795528" y="3957947"/>
            <a:ext cx="3474720" cy="384048"/>
          </a:xfrm>
          <a:prstGeom prst="rect">
            <a:avLst/>
          </a:prstGeom>
          <a:noFill/>
          <a:ln/>
        </p:spPr>
        <p:txBody>
          <a:bodyPr wrap="square" lIns="0" tIns="0" rIns="0" bIns="0" rtlCol="0" anchor="ctr"/>
          <a:lstStyle/>
          <a:p>
            <a:pPr marL="0" indent="0">
              <a:buNone/>
            </a:pPr>
            <a:r>
              <a:rPr lang="en-US" sz="1000" i="1" dirty="0">
                <a:solidFill>
                  <a:srgbClr val="5D4037"/>
                </a:solidFill>
                <a:latin typeface="Ubuntu" panose="020B0504030602030204" pitchFamily="34" charset="0"/>
                <a:ea typeface="Calibri" pitchFamily="34" charset="-122"/>
                <a:cs typeface="Calibri" pitchFamily="34" charset="-120"/>
              </a:rPr>
              <a:t>pytest • flake8 • Performance Improvements</a:t>
            </a:r>
            <a:endParaRPr lang="en-US" sz="1000" dirty="0">
              <a:latin typeface="Ubuntu" panose="020B0504030602030204" pitchFamily="34" charset="0"/>
            </a:endParaRPr>
          </a:p>
        </p:txBody>
      </p:sp>
      <p:sp>
        <p:nvSpPr>
          <p:cNvPr id="34" name="Shape 32"/>
          <p:cNvSpPr/>
          <p:nvPr/>
        </p:nvSpPr>
        <p:spPr>
          <a:xfrm>
            <a:off x="4690872" y="3546467"/>
            <a:ext cx="4206240" cy="868680"/>
          </a:xfrm>
          <a:prstGeom prst="rect">
            <a:avLst/>
          </a:prstGeom>
          <a:solidFill>
            <a:srgbClr val="FFFFFF"/>
          </a:solidFill>
          <a:ln/>
          <a:effectLst>
            <a:outerShdw blurRad="101600" dist="38100" dir="8100000" algn="bl" rotWithShape="0">
              <a:srgbClr val="000000">
                <a:alpha val="15000"/>
              </a:srgbClr>
            </a:outerShdw>
          </a:effectLst>
        </p:spPr>
      </p:sp>
      <p:sp>
        <p:nvSpPr>
          <p:cNvPr id="35" name="Shape 33"/>
          <p:cNvSpPr/>
          <p:nvPr/>
        </p:nvSpPr>
        <p:spPr>
          <a:xfrm>
            <a:off x="4690872" y="3546467"/>
            <a:ext cx="502920" cy="868680"/>
          </a:xfrm>
          <a:prstGeom prst="rect">
            <a:avLst/>
          </a:prstGeom>
          <a:solidFill>
            <a:srgbClr val="E67E22"/>
          </a:solidFill>
          <a:ln/>
        </p:spPr>
      </p:sp>
      <p:sp>
        <p:nvSpPr>
          <p:cNvPr id="36" name="Text 34"/>
          <p:cNvSpPr/>
          <p:nvPr/>
        </p:nvSpPr>
        <p:spPr>
          <a:xfrm>
            <a:off x="4690872" y="3546467"/>
            <a:ext cx="502920" cy="868680"/>
          </a:xfrm>
          <a:prstGeom prst="rect">
            <a:avLst/>
          </a:prstGeom>
          <a:noFill/>
          <a:ln/>
        </p:spPr>
        <p:txBody>
          <a:bodyPr wrap="square" lIns="0" tIns="0" rIns="0" bIns="0" rtlCol="0" anchor="ctr"/>
          <a:lstStyle/>
          <a:p>
            <a:pPr marL="0" indent="0" algn="ctr">
              <a:buNone/>
            </a:pPr>
            <a:r>
              <a:rPr lang="en-US" sz="1400" b="1" dirty="0">
                <a:solidFill>
                  <a:srgbClr val="FFFFFF"/>
                </a:solidFill>
                <a:latin typeface="Ubuntu" panose="020B0504030602030204" pitchFamily="34" charset="0"/>
                <a:ea typeface="Georgia" pitchFamily="34" charset="-122"/>
                <a:cs typeface="Georgia" pitchFamily="34" charset="-120"/>
              </a:rPr>
              <a:t>06</a:t>
            </a:r>
            <a:endParaRPr lang="en-US" sz="1400" dirty="0">
              <a:latin typeface="Ubuntu" panose="020B0504030602030204" pitchFamily="34" charset="0"/>
            </a:endParaRPr>
          </a:p>
        </p:txBody>
      </p:sp>
      <p:sp>
        <p:nvSpPr>
          <p:cNvPr id="38" name="Text 36"/>
          <p:cNvSpPr/>
          <p:nvPr/>
        </p:nvSpPr>
        <p:spPr>
          <a:xfrm>
            <a:off x="5257800" y="3637907"/>
            <a:ext cx="3474720" cy="274320"/>
          </a:xfrm>
          <a:prstGeom prst="rect">
            <a:avLst/>
          </a:prstGeom>
          <a:noFill/>
          <a:ln/>
        </p:spPr>
        <p:txBody>
          <a:bodyPr wrap="square" lIns="0" tIns="0" rIns="0" bIns="0" rtlCol="0" anchor="ctr"/>
          <a:lstStyle/>
          <a:p>
            <a:pPr marL="0" indent="0">
              <a:buNone/>
            </a:pPr>
            <a:r>
              <a:rPr lang="en-US" sz="1200" b="1" dirty="0">
                <a:solidFill>
                  <a:srgbClr val="2C1810"/>
                </a:solidFill>
                <a:latin typeface="Ubuntu" panose="020B0504030602030204" pitchFamily="34" charset="0"/>
                <a:ea typeface="Georgia" pitchFamily="34" charset="-122"/>
                <a:cs typeface="Georgia" pitchFamily="34" charset="-120"/>
              </a:rPr>
              <a:t>🏁 Conclusion</a:t>
            </a:r>
            <a:endParaRPr lang="en-US" sz="1200" dirty="0">
              <a:latin typeface="Ubuntu" panose="020B0504030602030204" pitchFamily="34" charset="0"/>
            </a:endParaRPr>
          </a:p>
        </p:txBody>
      </p:sp>
      <p:sp>
        <p:nvSpPr>
          <p:cNvPr id="39" name="Text 37"/>
          <p:cNvSpPr/>
          <p:nvPr/>
        </p:nvSpPr>
        <p:spPr>
          <a:xfrm>
            <a:off x="5257800" y="3957947"/>
            <a:ext cx="3474720" cy="384048"/>
          </a:xfrm>
          <a:prstGeom prst="rect">
            <a:avLst/>
          </a:prstGeom>
          <a:noFill/>
          <a:ln/>
        </p:spPr>
        <p:txBody>
          <a:bodyPr wrap="square" lIns="0" tIns="0" rIns="0" bIns="0" rtlCol="0" anchor="ctr"/>
          <a:lstStyle/>
          <a:p>
            <a:pPr marL="0" indent="0">
              <a:buNone/>
            </a:pPr>
            <a:r>
              <a:rPr lang="en-US" sz="1000" i="1" dirty="0">
                <a:solidFill>
                  <a:srgbClr val="5D4037"/>
                </a:solidFill>
                <a:latin typeface="Ubuntu" panose="020B0504030602030204" pitchFamily="34" charset="0"/>
                <a:ea typeface="Calibri" pitchFamily="34" charset="-122"/>
                <a:cs typeface="Calibri" pitchFamily="34" charset="-120"/>
              </a:rPr>
              <a:t>Summary • Difficulties • Areas for Improvement</a:t>
            </a:r>
            <a:endParaRPr lang="en-US" sz="1000" dirty="0">
              <a:latin typeface="Ubuntu" panose="020B0504030602030204" pitchFamily="34" charset="0"/>
            </a:endParaRPr>
          </a:p>
        </p:txBody>
      </p:sp>
      <p:sp>
        <p:nvSpPr>
          <p:cNvPr id="42" name="Text 40"/>
          <p:cNvSpPr/>
          <p:nvPr/>
        </p:nvSpPr>
        <p:spPr>
          <a:xfrm>
            <a:off x="2286000" y="4616315"/>
            <a:ext cx="50292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07</a:t>
            </a:r>
            <a:endParaRPr lang="en-US" sz="1400" dirty="0"/>
          </a:p>
        </p:txBody>
      </p:sp>
      <p:sp>
        <p:nvSpPr>
          <p:cNvPr id="43" name="Text 41"/>
          <p:cNvSpPr/>
          <p:nvPr/>
        </p:nvSpPr>
        <p:spPr>
          <a:xfrm>
            <a:off x="2286000" y="4443984"/>
            <a:ext cx="5029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8P</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C0392B"/>
          </a:solidFill>
          <a:ln/>
        </p:spPr>
      </p:sp>
      <p:sp>
        <p:nvSpPr>
          <p:cNvPr id="3" name="Shape 1"/>
          <p:cNvSpPr/>
          <p:nvPr/>
        </p:nvSpPr>
        <p:spPr>
          <a:xfrm>
            <a:off x="0" y="0"/>
            <a:ext cx="457200" cy="777240"/>
          </a:xfrm>
          <a:prstGeom prst="rect">
            <a:avLst/>
          </a:prstGeom>
          <a:solidFill>
            <a:srgbClr val="C0392B"/>
          </a:solidFill>
          <a:ln/>
        </p:spPr>
      </p:sp>
      <p:sp>
        <p:nvSpPr>
          <p:cNvPr id="4" name="Text 2"/>
          <p:cNvSpPr/>
          <p:nvPr/>
        </p:nvSpPr>
        <p:spPr>
          <a:xfrm>
            <a:off x="548640" y="0"/>
            <a:ext cx="7315200" cy="777240"/>
          </a:xfrm>
          <a:prstGeom prst="rect">
            <a:avLst/>
          </a:prstGeom>
          <a:noFill/>
          <a:ln/>
        </p:spPr>
        <p:txBody>
          <a:bodyPr wrap="square" lIns="0" tIns="0" rIns="0" bIns="0" rtlCol="0" anchor="ctr"/>
          <a:lstStyle/>
          <a:p>
            <a:pPr marL="0" indent="0" algn="l">
              <a:buNone/>
            </a:pPr>
            <a:r>
              <a:rPr lang="en-US" sz="2200" b="1" dirty="0">
                <a:solidFill>
                  <a:srgbClr val="FFFFFF"/>
                </a:solidFill>
                <a:latin typeface="Ubuntu" panose="020B0504030602030204" pitchFamily="34" charset="0"/>
                <a:ea typeface="Georgia" pitchFamily="34" charset="-122"/>
                <a:cs typeface="Georgia" pitchFamily="34" charset="-120"/>
              </a:rPr>
              <a:t> Part 1 : Introduction to Problem</a:t>
            </a:r>
            <a:endParaRPr lang="en-US" sz="2200" dirty="0">
              <a:latin typeface="Ubuntu" panose="020B0504030602030204" pitchFamily="34" charset="0"/>
            </a:endParaRPr>
          </a:p>
        </p:txBody>
      </p:sp>
      <p:sp>
        <p:nvSpPr>
          <p:cNvPr id="6" name="Shape 4"/>
          <p:cNvSpPr/>
          <p:nvPr/>
        </p:nvSpPr>
        <p:spPr>
          <a:xfrm>
            <a:off x="274320" y="868680"/>
            <a:ext cx="8595360" cy="594360"/>
          </a:xfrm>
          <a:prstGeom prst="rect">
            <a:avLst/>
          </a:prstGeom>
          <a:solidFill>
            <a:srgbClr val="FFFFFF">
              <a:alpha val="7000"/>
            </a:srgbClr>
          </a:solidFill>
          <a:ln w="12700">
            <a:solidFill>
              <a:srgbClr val="D4A017"/>
            </a:solidFill>
            <a:prstDash val="solid"/>
          </a:ln>
        </p:spPr>
      </p:sp>
      <p:sp>
        <p:nvSpPr>
          <p:cNvPr id="7" name="Text 5"/>
          <p:cNvSpPr/>
          <p:nvPr/>
        </p:nvSpPr>
        <p:spPr>
          <a:xfrm>
            <a:off x="457200" y="868680"/>
            <a:ext cx="8229600" cy="594360"/>
          </a:xfrm>
          <a:prstGeom prst="rect">
            <a:avLst/>
          </a:prstGeom>
          <a:noFill/>
          <a:ln/>
        </p:spPr>
        <p:txBody>
          <a:bodyPr wrap="square" lIns="0" tIns="0" rIns="0" bIns="0" rtlCol="0" anchor="ctr"/>
          <a:lstStyle/>
          <a:p>
            <a:pPr marL="0" indent="0">
              <a:buNone/>
            </a:pPr>
            <a:r>
              <a:rPr lang="en-US" sz="1300" b="1" dirty="0">
                <a:solidFill>
                  <a:srgbClr val="D4A017"/>
                </a:solidFill>
                <a:latin typeface="Ubuntu" panose="020B0504030602030204" pitchFamily="34" charset="0"/>
                <a:ea typeface="Georgia" pitchFamily="34" charset="-122"/>
                <a:cs typeface="Georgia" pitchFamily="34" charset="-120"/>
              </a:rPr>
              <a:t> Theme: </a:t>
            </a:r>
            <a:r>
              <a:rPr lang="en-US" sz="1300" b="1" dirty="0">
                <a:solidFill>
                  <a:srgbClr val="D4A017"/>
                </a:solidFill>
                <a:latin typeface="Ubuntu" panose="020B0504030602030204" pitchFamily="34" charset="0"/>
                <a:ea typeface="Georgia" pitchFamily="34" charset="-122"/>
                <a:cs typeface="Sakkal Majalla" panose="02000000000000000000" pitchFamily="2" charset="-78"/>
              </a:rPr>
              <a:t>نظام اقتراح الوصفات الجزائرية </a:t>
            </a:r>
            <a:r>
              <a:rPr lang="en-US" sz="1300" b="1" dirty="0">
                <a:solidFill>
                  <a:srgbClr val="D4A017"/>
                </a:solidFill>
                <a:latin typeface="Ubuntu" panose="020B0504030602030204" pitchFamily="34" charset="0"/>
                <a:ea typeface="Georgia" pitchFamily="34" charset="-122"/>
                <a:cs typeface="Georgia" pitchFamily="34" charset="-120"/>
              </a:rPr>
              <a:t>/ Algerian Recipe Recommendation System</a:t>
            </a:r>
            <a:endParaRPr lang="en-US" sz="1300" dirty="0">
              <a:latin typeface="Ubuntu" panose="020B0504030602030204" pitchFamily="34" charset="0"/>
            </a:endParaRPr>
          </a:p>
        </p:txBody>
      </p:sp>
      <p:sp>
        <p:nvSpPr>
          <p:cNvPr id="8" name="Text 6"/>
          <p:cNvSpPr/>
          <p:nvPr/>
        </p:nvSpPr>
        <p:spPr>
          <a:xfrm>
            <a:off x="274320" y="1572768"/>
            <a:ext cx="4572000" cy="320040"/>
          </a:xfrm>
          <a:prstGeom prst="rect">
            <a:avLst/>
          </a:prstGeom>
          <a:noFill/>
          <a:ln/>
        </p:spPr>
        <p:txBody>
          <a:bodyPr wrap="square" lIns="0" tIns="0" rIns="0" bIns="0" rtlCol="0" anchor="ctr"/>
          <a:lstStyle/>
          <a:p>
            <a:pPr marL="0" indent="0">
              <a:buNone/>
            </a:pPr>
            <a:r>
              <a:rPr lang="en-US" sz="1300" b="1" dirty="0">
                <a:solidFill>
                  <a:srgbClr val="C0392B"/>
                </a:solidFill>
                <a:latin typeface="Ubuntu" panose="020B0504030602030204" pitchFamily="34" charset="0"/>
                <a:ea typeface="Georgia" pitchFamily="34" charset="-122"/>
                <a:cs typeface="Georgia" pitchFamily="34" charset="-120"/>
              </a:rPr>
              <a:t>❓ Problem Definition:</a:t>
            </a:r>
            <a:endParaRPr lang="en-US" sz="1300" dirty="0">
              <a:latin typeface="Ubuntu" panose="020B0504030602030204" pitchFamily="34" charset="0"/>
            </a:endParaRPr>
          </a:p>
        </p:txBody>
      </p:sp>
      <p:sp>
        <p:nvSpPr>
          <p:cNvPr id="9" name="Text 7"/>
          <p:cNvSpPr/>
          <p:nvPr/>
        </p:nvSpPr>
        <p:spPr>
          <a:xfrm>
            <a:off x="310896" y="1816490"/>
            <a:ext cx="8595360" cy="688965"/>
          </a:xfrm>
          <a:prstGeom prst="rect">
            <a:avLst/>
          </a:prstGeom>
          <a:noFill/>
          <a:ln/>
        </p:spPr>
        <p:txBody>
          <a:bodyPr wrap="square" lIns="0" tIns="0" rIns="0" bIns="0" rtlCol="0" anchor="ctr"/>
          <a:lstStyle/>
          <a:p>
            <a:pPr marL="0" indent="0" algn="just">
              <a:lnSpc>
                <a:spcPct val="150000"/>
              </a:lnSpc>
              <a:buNone/>
            </a:pPr>
            <a:r>
              <a:rPr lang="fr-FR" sz="1200" dirty="0">
                <a:latin typeface="Ubuntu" panose="020B0504030602030204" pitchFamily="34" charset="0"/>
                <a:ea typeface="Calibri" pitchFamily="34" charset="-122"/>
                <a:cs typeface="Calibri" pitchFamily="34" charset="-120"/>
              </a:rPr>
              <a:t>	</a:t>
            </a:r>
            <a:r>
              <a:rPr lang="en-US" sz="1200" dirty="0">
                <a:latin typeface="Ubuntu" panose="020B0504030602030204" pitchFamily="34" charset="0"/>
                <a:ea typeface="Calibri" pitchFamily="34" charset="-122"/>
                <a:cs typeface="Calibri" pitchFamily="34" charset="-120"/>
              </a:rPr>
              <a:t>Many people have ingredients at home but don't know what recipes to cook. There is no dedicated application for Algerian traditional cuisine that can intelligently suggest recipes based on available ingredients.</a:t>
            </a:r>
            <a:endParaRPr lang="en-US" sz="1200" dirty="0">
              <a:latin typeface="Ubuntu" panose="020B0504030602030204" pitchFamily="34" charset="0"/>
            </a:endParaRPr>
          </a:p>
        </p:txBody>
      </p:sp>
      <p:sp>
        <p:nvSpPr>
          <p:cNvPr id="10" name="Shape 8"/>
          <p:cNvSpPr/>
          <p:nvPr/>
        </p:nvSpPr>
        <p:spPr>
          <a:xfrm>
            <a:off x="228600" y="2606040"/>
            <a:ext cx="2788920" cy="2331720"/>
          </a:xfrm>
          <a:prstGeom prst="rect">
            <a:avLst/>
          </a:prstGeom>
          <a:solidFill>
            <a:srgbClr val="FFFFFF">
              <a:alpha val="7000"/>
            </a:srgbClr>
          </a:solidFill>
          <a:ln w="19050">
            <a:solidFill>
              <a:srgbClr val="C0392B"/>
            </a:solidFill>
            <a:prstDash val="solid"/>
          </a:ln>
        </p:spPr>
      </p:sp>
      <p:sp>
        <p:nvSpPr>
          <p:cNvPr id="11" name="Shape 9"/>
          <p:cNvSpPr/>
          <p:nvPr/>
        </p:nvSpPr>
        <p:spPr>
          <a:xfrm>
            <a:off x="228600" y="2606040"/>
            <a:ext cx="2788920" cy="384048"/>
          </a:xfrm>
          <a:prstGeom prst="rect">
            <a:avLst/>
          </a:prstGeom>
          <a:solidFill>
            <a:srgbClr val="C0392B"/>
          </a:solidFill>
          <a:ln/>
        </p:spPr>
      </p:sp>
      <p:sp>
        <p:nvSpPr>
          <p:cNvPr id="12" name="Text 10"/>
          <p:cNvSpPr/>
          <p:nvPr/>
        </p:nvSpPr>
        <p:spPr>
          <a:xfrm>
            <a:off x="228600" y="2606040"/>
            <a:ext cx="278892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Ubuntu" panose="020B0504030602030204" pitchFamily="34" charset="0"/>
                <a:ea typeface="Georgia" pitchFamily="34" charset="-122"/>
                <a:cs typeface="Georgia" pitchFamily="34" charset="-120"/>
              </a:rPr>
              <a:t>📥 Input Data</a:t>
            </a:r>
            <a:endParaRPr lang="en-US" sz="1200" dirty="0">
              <a:latin typeface="Ubuntu" panose="020B0504030602030204" pitchFamily="34" charset="0"/>
            </a:endParaRPr>
          </a:p>
        </p:txBody>
      </p:sp>
      <p:sp>
        <p:nvSpPr>
          <p:cNvPr id="13" name="Shape 11"/>
          <p:cNvSpPr/>
          <p:nvPr/>
        </p:nvSpPr>
        <p:spPr>
          <a:xfrm>
            <a:off x="338328" y="3090672"/>
            <a:ext cx="146304" cy="146304"/>
          </a:xfrm>
          <a:prstGeom prst="ellipse">
            <a:avLst/>
          </a:prstGeom>
          <a:solidFill>
            <a:srgbClr val="C0392B"/>
          </a:solidFill>
          <a:ln/>
        </p:spPr>
      </p:sp>
      <p:sp>
        <p:nvSpPr>
          <p:cNvPr id="14" name="Text 12"/>
          <p:cNvSpPr/>
          <p:nvPr/>
        </p:nvSpPr>
        <p:spPr>
          <a:xfrm>
            <a:off x="548640" y="3054096"/>
            <a:ext cx="2377440" cy="320040"/>
          </a:xfrm>
          <a:prstGeom prst="rect">
            <a:avLst/>
          </a:prstGeom>
          <a:noFill/>
          <a:ln/>
        </p:spPr>
        <p:txBody>
          <a:bodyPr wrap="square" lIns="0" tIns="0" rIns="0" bIns="0" rtlCol="0" anchor="ctr"/>
          <a:lstStyle/>
          <a:p>
            <a:pPr marL="0" indent="0" algn="just">
              <a:buNone/>
            </a:pPr>
            <a:r>
              <a:rPr lang="en-US" sz="1000" dirty="0">
                <a:latin typeface="Ubuntu" panose="020B0504030602030204" pitchFamily="34" charset="0"/>
                <a:ea typeface="Calibri" pitchFamily="34" charset="-122"/>
                <a:cs typeface="Calibri" pitchFamily="34" charset="-120"/>
              </a:rPr>
              <a:t>List of available ingredients (Arabic/English)</a:t>
            </a:r>
            <a:endParaRPr lang="en-US" sz="1000" dirty="0">
              <a:latin typeface="Ubuntu" panose="020B0504030602030204" pitchFamily="34" charset="0"/>
            </a:endParaRPr>
          </a:p>
        </p:txBody>
      </p:sp>
      <p:sp>
        <p:nvSpPr>
          <p:cNvPr id="15" name="Shape 13"/>
          <p:cNvSpPr/>
          <p:nvPr/>
        </p:nvSpPr>
        <p:spPr>
          <a:xfrm>
            <a:off x="338328" y="3529584"/>
            <a:ext cx="146304" cy="146304"/>
          </a:xfrm>
          <a:prstGeom prst="ellipse">
            <a:avLst/>
          </a:prstGeom>
          <a:solidFill>
            <a:srgbClr val="C0392B"/>
          </a:solidFill>
          <a:ln/>
        </p:spPr>
      </p:sp>
      <p:sp>
        <p:nvSpPr>
          <p:cNvPr id="16" name="Text 14"/>
          <p:cNvSpPr/>
          <p:nvPr/>
        </p:nvSpPr>
        <p:spPr>
          <a:xfrm>
            <a:off x="548640" y="3493008"/>
            <a:ext cx="2377440" cy="320040"/>
          </a:xfrm>
          <a:prstGeom prst="rect">
            <a:avLst/>
          </a:prstGeom>
          <a:noFill/>
          <a:ln/>
        </p:spPr>
        <p:txBody>
          <a:bodyPr wrap="square" lIns="0" tIns="0" rIns="0" bIns="0" rtlCol="0" anchor="ctr"/>
          <a:lstStyle/>
          <a:p>
            <a:pPr algn="just"/>
            <a:r>
              <a:rPr lang="en-US" sz="1000" dirty="0">
                <a:latin typeface="Ubuntu" panose="020B0504030602030204" pitchFamily="34" charset="0"/>
                <a:ea typeface="Calibri" pitchFamily="34" charset="-122"/>
                <a:cs typeface="Calibri" pitchFamily="34" charset="-120"/>
              </a:rPr>
              <a:t>User authentication credentials</a:t>
            </a:r>
          </a:p>
        </p:txBody>
      </p:sp>
      <p:sp>
        <p:nvSpPr>
          <p:cNvPr id="17" name="Shape 15"/>
          <p:cNvSpPr/>
          <p:nvPr/>
        </p:nvSpPr>
        <p:spPr>
          <a:xfrm>
            <a:off x="338328" y="3968496"/>
            <a:ext cx="146304" cy="146304"/>
          </a:xfrm>
          <a:prstGeom prst="ellipse">
            <a:avLst/>
          </a:prstGeom>
          <a:solidFill>
            <a:srgbClr val="C0392B"/>
          </a:solidFill>
          <a:ln/>
        </p:spPr>
      </p:sp>
      <p:sp>
        <p:nvSpPr>
          <p:cNvPr id="18" name="Text 16"/>
          <p:cNvSpPr/>
          <p:nvPr/>
        </p:nvSpPr>
        <p:spPr>
          <a:xfrm>
            <a:off x="548640" y="3931920"/>
            <a:ext cx="2377440" cy="320040"/>
          </a:xfrm>
          <a:prstGeom prst="rect">
            <a:avLst/>
          </a:prstGeom>
          <a:noFill/>
          <a:ln/>
        </p:spPr>
        <p:txBody>
          <a:bodyPr wrap="square" lIns="0" tIns="0" rIns="0" bIns="0" rtlCol="0" anchor="ctr"/>
          <a:lstStyle/>
          <a:p>
            <a:pPr algn="just"/>
            <a:r>
              <a:rPr lang="en-US" sz="1000" dirty="0">
                <a:latin typeface="Ubuntu" panose="020B0504030602030204" pitchFamily="34" charset="0"/>
                <a:ea typeface="Calibri" pitchFamily="34" charset="-122"/>
                <a:cs typeface="Calibri" pitchFamily="34" charset="-120"/>
              </a:rPr>
              <a:t>Recipe data (via CSV or manual form)</a:t>
            </a:r>
          </a:p>
        </p:txBody>
      </p:sp>
      <p:sp>
        <p:nvSpPr>
          <p:cNvPr id="19" name="Shape 17"/>
          <p:cNvSpPr/>
          <p:nvPr/>
        </p:nvSpPr>
        <p:spPr>
          <a:xfrm>
            <a:off x="338328" y="4407408"/>
            <a:ext cx="146304" cy="146304"/>
          </a:xfrm>
          <a:prstGeom prst="ellipse">
            <a:avLst/>
          </a:prstGeom>
          <a:solidFill>
            <a:srgbClr val="C0392B"/>
          </a:solidFill>
          <a:ln/>
        </p:spPr>
      </p:sp>
      <p:sp>
        <p:nvSpPr>
          <p:cNvPr id="20" name="Text 18"/>
          <p:cNvSpPr/>
          <p:nvPr/>
        </p:nvSpPr>
        <p:spPr>
          <a:xfrm>
            <a:off x="548640" y="4370832"/>
            <a:ext cx="2377440" cy="320040"/>
          </a:xfrm>
          <a:prstGeom prst="rect">
            <a:avLst/>
          </a:prstGeom>
          <a:noFill/>
          <a:ln/>
        </p:spPr>
        <p:txBody>
          <a:bodyPr wrap="square" lIns="0" tIns="0" rIns="0" bIns="0" rtlCol="0" anchor="ctr"/>
          <a:lstStyle/>
          <a:p>
            <a:pPr algn="just"/>
            <a:r>
              <a:rPr lang="en-US" sz="1000" dirty="0">
                <a:latin typeface="Ubuntu" panose="020B0504030602030204" pitchFamily="34" charset="0"/>
                <a:ea typeface="Calibri" pitchFamily="34" charset="-122"/>
                <a:cs typeface="Calibri" pitchFamily="34" charset="-120"/>
              </a:rPr>
              <a:t>Rating score (1-5 stars)</a:t>
            </a:r>
          </a:p>
        </p:txBody>
      </p:sp>
      <p:sp>
        <p:nvSpPr>
          <p:cNvPr id="32" name="Shape 30"/>
          <p:cNvSpPr/>
          <p:nvPr/>
        </p:nvSpPr>
        <p:spPr>
          <a:xfrm>
            <a:off x="6208776" y="2606040"/>
            <a:ext cx="2788920" cy="2331720"/>
          </a:xfrm>
          <a:prstGeom prst="rect">
            <a:avLst/>
          </a:prstGeom>
          <a:solidFill>
            <a:srgbClr val="FFFFFF">
              <a:alpha val="7000"/>
            </a:srgbClr>
          </a:solidFill>
          <a:ln w="19050">
            <a:solidFill>
              <a:srgbClr val="1A6B3C"/>
            </a:solidFill>
            <a:prstDash val="solid"/>
          </a:ln>
        </p:spPr>
        <p:txBody>
          <a:bodyPr/>
          <a:lstStyle/>
          <a:p>
            <a:endParaRPr lang="en-US" dirty="0"/>
          </a:p>
        </p:txBody>
      </p:sp>
      <p:sp>
        <p:nvSpPr>
          <p:cNvPr id="33" name="Shape 31"/>
          <p:cNvSpPr/>
          <p:nvPr/>
        </p:nvSpPr>
        <p:spPr>
          <a:xfrm>
            <a:off x="6208776" y="2606040"/>
            <a:ext cx="2788920" cy="384048"/>
          </a:xfrm>
          <a:prstGeom prst="rect">
            <a:avLst/>
          </a:prstGeom>
          <a:solidFill>
            <a:srgbClr val="1A6B3C"/>
          </a:solidFill>
          <a:ln/>
        </p:spPr>
      </p:sp>
      <p:sp>
        <p:nvSpPr>
          <p:cNvPr id="34" name="Text 32"/>
          <p:cNvSpPr/>
          <p:nvPr/>
        </p:nvSpPr>
        <p:spPr>
          <a:xfrm>
            <a:off x="6208776" y="2606040"/>
            <a:ext cx="278892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Ubuntu" panose="020B0504030602030204" pitchFamily="34" charset="0"/>
                <a:ea typeface="Georgia" pitchFamily="34" charset="-122"/>
                <a:cs typeface="Georgia" pitchFamily="34" charset="-120"/>
              </a:rPr>
              <a:t>💭 Hypotheses</a:t>
            </a:r>
            <a:endParaRPr lang="en-US" sz="1200" dirty="0">
              <a:latin typeface="Ubuntu" panose="020B0504030602030204" pitchFamily="34" charset="0"/>
            </a:endParaRPr>
          </a:p>
        </p:txBody>
      </p:sp>
      <p:sp>
        <p:nvSpPr>
          <p:cNvPr id="35" name="Shape 33"/>
          <p:cNvSpPr/>
          <p:nvPr/>
        </p:nvSpPr>
        <p:spPr>
          <a:xfrm>
            <a:off x="6318504" y="3090672"/>
            <a:ext cx="146304" cy="146304"/>
          </a:xfrm>
          <a:prstGeom prst="ellipse">
            <a:avLst/>
          </a:prstGeom>
          <a:solidFill>
            <a:srgbClr val="1A6B3C"/>
          </a:solidFill>
          <a:ln/>
        </p:spPr>
      </p:sp>
      <p:sp>
        <p:nvSpPr>
          <p:cNvPr id="36" name="Text 34"/>
          <p:cNvSpPr/>
          <p:nvPr/>
        </p:nvSpPr>
        <p:spPr>
          <a:xfrm>
            <a:off x="6528816" y="3054096"/>
            <a:ext cx="2377440" cy="320040"/>
          </a:xfrm>
          <a:prstGeom prst="rect">
            <a:avLst/>
          </a:prstGeom>
          <a:noFill/>
          <a:ln/>
        </p:spPr>
        <p:txBody>
          <a:bodyPr wrap="square" lIns="0" tIns="0" rIns="0" bIns="0" rtlCol="0" anchor="ctr"/>
          <a:lstStyle/>
          <a:p>
            <a:pPr algn="just"/>
            <a:r>
              <a:rPr lang="en-US" sz="1000" dirty="0">
                <a:latin typeface="Ubuntu" panose="020B0504030602030204" pitchFamily="34" charset="0"/>
                <a:ea typeface="Calibri" pitchFamily="34" charset="-122"/>
                <a:cs typeface="Calibri" pitchFamily="34" charset="-120"/>
              </a:rPr>
              <a:t>User has at least 1 ingredient available</a:t>
            </a:r>
          </a:p>
        </p:txBody>
      </p:sp>
      <p:sp>
        <p:nvSpPr>
          <p:cNvPr id="37" name="Shape 35"/>
          <p:cNvSpPr/>
          <p:nvPr/>
        </p:nvSpPr>
        <p:spPr>
          <a:xfrm>
            <a:off x="6318504" y="3529584"/>
            <a:ext cx="146304" cy="146304"/>
          </a:xfrm>
          <a:prstGeom prst="ellipse">
            <a:avLst/>
          </a:prstGeom>
          <a:solidFill>
            <a:srgbClr val="1A6B3C"/>
          </a:solidFill>
          <a:ln/>
        </p:spPr>
      </p:sp>
      <p:sp>
        <p:nvSpPr>
          <p:cNvPr id="38" name="Text 36"/>
          <p:cNvSpPr/>
          <p:nvPr/>
        </p:nvSpPr>
        <p:spPr>
          <a:xfrm>
            <a:off x="6528816" y="3493008"/>
            <a:ext cx="2377440" cy="320040"/>
          </a:xfrm>
          <a:prstGeom prst="rect">
            <a:avLst/>
          </a:prstGeom>
          <a:noFill/>
          <a:ln/>
        </p:spPr>
        <p:txBody>
          <a:bodyPr wrap="square" lIns="0" tIns="0" rIns="0" bIns="0" rtlCol="0" anchor="ctr"/>
          <a:lstStyle/>
          <a:p>
            <a:pPr algn="just"/>
            <a:r>
              <a:rPr lang="en-US" sz="1000" dirty="0">
                <a:latin typeface="Ubuntu" panose="020B0504030602030204" pitchFamily="34" charset="0"/>
                <a:ea typeface="Calibri" pitchFamily="34" charset="-122"/>
                <a:cs typeface="Calibri" pitchFamily="34" charset="-120"/>
              </a:rPr>
              <a:t>Recipes stored in MySQL database</a:t>
            </a:r>
          </a:p>
        </p:txBody>
      </p:sp>
      <p:sp>
        <p:nvSpPr>
          <p:cNvPr id="39" name="Shape 37"/>
          <p:cNvSpPr/>
          <p:nvPr/>
        </p:nvSpPr>
        <p:spPr>
          <a:xfrm>
            <a:off x="6318504" y="3968496"/>
            <a:ext cx="146304" cy="146304"/>
          </a:xfrm>
          <a:prstGeom prst="ellipse">
            <a:avLst/>
          </a:prstGeom>
          <a:solidFill>
            <a:srgbClr val="1A6B3C"/>
          </a:solidFill>
          <a:ln/>
        </p:spPr>
      </p:sp>
      <p:sp>
        <p:nvSpPr>
          <p:cNvPr id="40" name="Text 38"/>
          <p:cNvSpPr/>
          <p:nvPr/>
        </p:nvSpPr>
        <p:spPr>
          <a:xfrm>
            <a:off x="6528816" y="3931920"/>
            <a:ext cx="2377440" cy="320040"/>
          </a:xfrm>
          <a:prstGeom prst="rect">
            <a:avLst/>
          </a:prstGeom>
          <a:noFill/>
          <a:ln/>
        </p:spPr>
        <p:txBody>
          <a:bodyPr wrap="square" lIns="0" tIns="0" rIns="0" bIns="0" rtlCol="0" anchor="ctr"/>
          <a:lstStyle/>
          <a:p>
            <a:pPr algn="just"/>
            <a:r>
              <a:rPr lang="en-US" sz="1000" dirty="0">
                <a:latin typeface="Ubuntu" panose="020B0504030602030204" pitchFamily="34" charset="0"/>
                <a:ea typeface="Calibri" pitchFamily="34" charset="-122"/>
                <a:cs typeface="Calibri" pitchFamily="34" charset="-120"/>
              </a:rPr>
              <a:t>AI engine works without internet</a:t>
            </a:r>
          </a:p>
        </p:txBody>
      </p:sp>
      <p:sp>
        <p:nvSpPr>
          <p:cNvPr id="41" name="Shape 39"/>
          <p:cNvSpPr/>
          <p:nvPr/>
        </p:nvSpPr>
        <p:spPr>
          <a:xfrm>
            <a:off x="6318504" y="4407408"/>
            <a:ext cx="146304" cy="146304"/>
          </a:xfrm>
          <a:prstGeom prst="ellipse">
            <a:avLst/>
          </a:prstGeom>
          <a:solidFill>
            <a:srgbClr val="1A6B3C"/>
          </a:solidFill>
          <a:ln/>
        </p:spPr>
      </p:sp>
      <p:sp>
        <p:nvSpPr>
          <p:cNvPr id="42" name="Text 40"/>
          <p:cNvSpPr/>
          <p:nvPr/>
        </p:nvSpPr>
        <p:spPr>
          <a:xfrm>
            <a:off x="6528816" y="4370832"/>
            <a:ext cx="2377440" cy="320040"/>
          </a:xfrm>
          <a:prstGeom prst="rect">
            <a:avLst/>
          </a:prstGeom>
          <a:noFill/>
          <a:ln/>
        </p:spPr>
        <p:txBody>
          <a:bodyPr wrap="square" lIns="0" tIns="0" rIns="0" bIns="0" rtlCol="0" anchor="ctr"/>
          <a:lstStyle/>
          <a:p>
            <a:pPr algn="just"/>
            <a:r>
              <a:rPr lang="en-US" sz="1000" dirty="0">
                <a:latin typeface="Ubuntu" panose="020B0504030602030204" pitchFamily="34" charset="0"/>
                <a:ea typeface="Calibri" pitchFamily="34" charset="-122"/>
                <a:cs typeface="Calibri" pitchFamily="34" charset="-120"/>
              </a:rPr>
              <a:t>CSV file encoded in UTF-8</a:t>
            </a:r>
          </a:p>
        </p:txBody>
      </p:sp>
      <p:sp>
        <p:nvSpPr>
          <p:cNvPr id="44" name="Shape 19">
            <a:extLst>
              <a:ext uri="{FF2B5EF4-FFF2-40B4-BE49-F238E27FC236}">
                <a16:creationId xmlns:a16="http://schemas.microsoft.com/office/drawing/2014/main" id="{49381CC1-824A-877B-E3B0-EBF4D726A2AE}"/>
              </a:ext>
            </a:extLst>
          </p:cNvPr>
          <p:cNvSpPr/>
          <p:nvPr/>
        </p:nvSpPr>
        <p:spPr>
          <a:xfrm>
            <a:off x="3218688" y="2606040"/>
            <a:ext cx="2788920" cy="2331720"/>
          </a:xfrm>
          <a:prstGeom prst="rect">
            <a:avLst/>
          </a:prstGeom>
          <a:solidFill>
            <a:srgbClr val="FFFFFF">
              <a:alpha val="7000"/>
            </a:srgbClr>
          </a:solidFill>
          <a:ln w="19050">
            <a:solidFill>
              <a:srgbClr val="D4A017"/>
            </a:solidFill>
            <a:prstDash val="solid"/>
          </a:ln>
        </p:spPr>
      </p:sp>
      <p:sp>
        <p:nvSpPr>
          <p:cNvPr id="45" name="Shape 20">
            <a:extLst>
              <a:ext uri="{FF2B5EF4-FFF2-40B4-BE49-F238E27FC236}">
                <a16:creationId xmlns:a16="http://schemas.microsoft.com/office/drawing/2014/main" id="{573E44DD-99F3-D603-7C71-ED225F95A112}"/>
              </a:ext>
            </a:extLst>
          </p:cNvPr>
          <p:cNvSpPr/>
          <p:nvPr/>
        </p:nvSpPr>
        <p:spPr>
          <a:xfrm>
            <a:off x="3218688" y="2606040"/>
            <a:ext cx="2788920" cy="384048"/>
          </a:xfrm>
          <a:prstGeom prst="rect">
            <a:avLst/>
          </a:prstGeom>
          <a:solidFill>
            <a:srgbClr val="D4A017"/>
          </a:solidFill>
          <a:ln/>
        </p:spPr>
      </p:sp>
      <p:sp>
        <p:nvSpPr>
          <p:cNvPr id="46" name="Text 21">
            <a:extLst>
              <a:ext uri="{FF2B5EF4-FFF2-40B4-BE49-F238E27FC236}">
                <a16:creationId xmlns:a16="http://schemas.microsoft.com/office/drawing/2014/main" id="{B9C499E1-B5C0-C4AA-A92F-B261E569AC42}"/>
              </a:ext>
            </a:extLst>
          </p:cNvPr>
          <p:cNvSpPr/>
          <p:nvPr/>
        </p:nvSpPr>
        <p:spPr>
          <a:xfrm>
            <a:off x="3218688" y="2606040"/>
            <a:ext cx="278892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 Output Data</a:t>
            </a:r>
            <a:endParaRPr lang="en-US" sz="1200" dirty="0"/>
          </a:p>
        </p:txBody>
      </p:sp>
      <p:sp>
        <p:nvSpPr>
          <p:cNvPr id="47" name="Shape 22">
            <a:extLst>
              <a:ext uri="{FF2B5EF4-FFF2-40B4-BE49-F238E27FC236}">
                <a16:creationId xmlns:a16="http://schemas.microsoft.com/office/drawing/2014/main" id="{D9567509-E834-D935-E469-7DBFC434BC7D}"/>
              </a:ext>
            </a:extLst>
          </p:cNvPr>
          <p:cNvSpPr/>
          <p:nvPr/>
        </p:nvSpPr>
        <p:spPr>
          <a:xfrm>
            <a:off x="3328416" y="3090672"/>
            <a:ext cx="146304" cy="146304"/>
          </a:xfrm>
          <a:prstGeom prst="ellipse">
            <a:avLst/>
          </a:prstGeom>
          <a:solidFill>
            <a:srgbClr val="D4A017"/>
          </a:solidFill>
          <a:ln/>
        </p:spPr>
      </p:sp>
      <p:sp>
        <p:nvSpPr>
          <p:cNvPr id="48" name="Text 23">
            <a:extLst>
              <a:ext uri="{FF2B5EF4-FFF2-40B4-BE49-F238E27FC236}">
                <a16:creationId xmlns:a16="http://schemas.microsoft.com/office/drawing/2014/main" id="{9EFB0026-D14D-24BC-EDC0-CD20DB783EAD}"/>
              </a:ext>
            </a:extLst>
          </p:cNvPr>
          <p:cNvSpPr/>
          <p:nvPr/>
        </p:nvSpPr>
        <p:spPr>
          <a:xfrm>
            <a:off x="3538728" y="3054096"/>
            <a:ext cx="2377440" cy="320040"/>
          </a:xfrm>
          <a:prstGeom prst="rect">
            <a:avLst/>
          </a:prstGeom>
          <a:noFill/>
          <a:ln/>
        </p:spPr>
        <p:txBody>
          <a:bodyPr wrap="square" lIns="0" tIns="0" rIns="0" bIns="0" rtlCol="0" anchor="ctr"/>
          <a:lstStyle/>
          <a:p>
            <a:pPr algn="just"/>
            <a:r>
              <a:rPr lang="en-US" sz="1000" dirty="0">
                <a:latin typeface="Ubuntu" panose="020B0504030602030204" pitchFamily="34" charset="0"/>
                <a:ea typeface="Calibri" pitchFamily="34" charset="-122"/>
                <a:cs typeface="Calibri" pitchFamily="34" charset="-120"/>
              </a:rPr>
              <a:t>Suggested recipes sorted by match %</a:t>
            </a:r>
          </a:p>
        </p:txBody>
      </p:sp>
      <p:sp>
        <p:nvSpPr>
          <p:cNvPr id="49" name="Shape 24">
            <a:extLst>
              <a:ext uri="{FF2B5EF4-FFF2-40B4-BE49-F238E27FC236}">
                <a16:creationId xmlns:a16="http://schemas.microsoft.com/office/drawing/2014/main" id="{B7B21801-EC6D-3A6F-00DE-576E04CD7C8F}"/>
              </a:ext>
            </a:extLst>
          </p:cNvPr>
          <p:cNvSpPr/>
          <p:nvPr/>
        </p:nvSpPr>
        <p:spPr>
          <a:xfrm>
            <a:off x="3328416" y="3529584"/>
            <a:ext cx="146304" cy="146304"/>
          </a:xfrm>
          <a:prstGeom prst="ellipse">
            <a:avLst/>
          </a:prstGeom>
          <a:solidFill>
            <a:srgbClr val="D4A017"/>
          </a:solidFill>
          <a:ln/>
        </p:spPr>
      </p:sp>
      <p:sp>
        <p:nvSpPr>
          <p:cNvPr id="50" name="Text 25">
            <a:extLst>
              <a:ext uri="{FF2B5EF4-FFF2-40B4-BE49-F238E27FC236}">
                <a16:creationId xmlns:a16="http://schemas.microsoft.com/office/drawing/2014/main" id="{5B305F69-D2A5-A5F2-59BF-76C7ED8FF0B8}"/>
              </a:ext>
            </a:extLst>
          </p:cNvPr>
          <p:cNvSpPr/>
          <p:nvPr/>
        </p:nvSpPr>
        <p:spPr>
          <a:xfrm>
            <a:off x="3538728" y="3493008"/>
            <a:ext cx="2377440" cy="320040"/>
          </a:xfrm>
          <a:prstGeom prst="rect">
            <a:avLst/>
          </a:prstGeom>
          <a:noFill/>
          <a:ln/>
        </p:spPr>
        <p:txBody>
          <a:bodyPr wrap="square" lIns="0" tIns="0" rIns="0" bIns="0" rtlCol="0" anchor="ctr"/>
          <a:lstStyle/>
          <a:p>
            <a:pPr algn="just"/>
            <a:r>
              <a:rPr lang="en-US" sz="1000" dirty="0">
                <a:latin typeface="Ubuntu" panose="020B0504030602030204" pitchFamily="34" charset="0"/>
                <a:ea typeface="Calibri" pitchFamily="34" charset="-122"/>
                <a:cs typeface="Calibri" pitchFamily="34" charset="-120"/>
              </a:rPr>
              <a:t>Missing ingredients for each recipe</a:t>
            </a:r>
          </a:p>
        </p:txBody>
      </p:sp>
      <p:sp>
        <p:nvSpPr>
          <p:cNvPr id="51" name="Shape 26">
            <a:extLst>
              <a:ext uri="{FF2B5EF4-FFF2-40B4-BE49-F238E27FC236}">
                <a16:creationId xmlns:a16="http://schemas.microsoft.com/office/drawing/2014/main" id="{FB06CFFA-A9A4-66EE-DAD7-ABEE21F64405}"/>
              </a:ext>
            </a:extLst>
          </p:cNvPr>
          <p:cNvSpPr/>
          <p:nvPr/>
        </p:nvSpPr>
        <p:spPr>
          <a:xfrm>
            <a:off x="3328416" y="3968496"/>
            <a:ext cx="146304" cy="146304"/>
          </a:xfrm>
          <a:prstGeom prst="ellipse">
            <a:avLst/>
          </a:prstGeom>
          <a:solidFill>
            <a:srgbClr val="D4A017"/>
          </a:solidFill>
          <a:ln/>
        </p:spPr>
      </p:sp>
      <p:sp>
        <p:nvSpPr>
          <p:cNvPr id="52" name="Text 27">
            <a:extLst>
              <a:ext uri="{FF2B5EF4-FFF2-40B4-BE49-F238E27FC236}">
                <a16:creationId xmlns:a16="http://schemas.microsoft.com/office/drawing/2014/main" id="{DE1B043C-6C77-402C-8DDA-34E6AE42189B}"/>
              </a:ext>
            </a:extLst>
          </p:cNvPr>
          <p:cNvSpPr/>
          <p:nvPr/>
        </p:nvSpPr>
        <p:spPr>
          <a:xfrm>
            <a:off x="3538728" y="3931920"/>
            <a:ext cx="2377440" cy="320040"/>
          </a:xfrm>
          <a:prstGeom prst="rect">
            <a:avLst/>
          </a:prstGeom>
          <a:noFill/>
          <a:ln/>
        </p:spPr>
        <p:txBody>
          <a:bodyPr wrap="square" lIns="0" tIns="0" rIns="0" bIns="0" rtlCol="0" anchor="ctr"/>
          <a:lstStyle/>
          <a:p>
            <a:pPr algn="just"/>
            <a:r>
              <a:rPr lang="en-US" sz="1000" dirty="0">
                <a:latin typeface="Ubuntu" panose="020B0504030602030204" pitchFamily="34" charset="0"/>
                <a:ea typeface="Calibri" pitchFamily="34" charset="-122"/>
                <a:cs typeface="Calibri" pitchFamily="34" charset="-120"/>
              </a:rPr>
              <a:t>Recipe details (ingredients, preparation steps)</a:t>
            </a:r>
          </a:p>
        </p:txBody>
      </p:sp>
      <p:sp>
        <p:nvSpPr>
          <p:cNvPr id="53" name="Shape 28">
            <a:extLst>
              <a:ext uri="{FF2B5EF4-FFF2-40B4-BE49-F238E27FC236}">
                <a16:creationId xmlns:a16="http://schemas.microsoft.com/office/drawing/2014/main" id="{1933ABEB-C13B-62B6-9D7A-176D49240167}"/>
              </a:ext>
            </a:extLst>
          </p:cNvPr>
          <p:cNvSpPr/>
          <p:nvPr/>
        </p:nvSpPr>
        <p:spPr>
          <a:xfrm>
            <a:off x="3328416" y="4407408"/>
            <a:ext cx="146304" cy="146304"/>
          </a:xfrm>
          <a:prstGeom prst="ellipse">
            <a:avLst/>
          </a:prstGeom>
          <a:solidFill>
            <a:srgbClr val="D4A017"/>
          </a:solidFill>
          <a:ln/>
        </p:spPr>
      </p:sp>
      <p:sp>
        <p:nvSpPr>
          <p:cNvPr id="54" name="Text 29">
            <a:extLst>
              <a:ext uri="{FF2B5EF4-FFF2-40B4-BE49-F238E27FC236}">
                <a16:creationId xmlns:a16="http://schemas.microsoft.com/office/drawing/2014/main" id="{4AD70D44-36B4-6D41-B55B-32566B4AB87E}"/>
              </a:ext>
            </a:extLst>
          </p:cNvPr>
          <p:cNvSpPr/>
          <p:nvPr/>
        </p:nvSpPr>
        <p:spPr>
          <a:xfrm>
            <a:off x="3538728" y="4370832"/>
            <a:ext cx="2377440" cy="320040"/>
          </a:xfrm>
          <a:prstGeom prst="rect">
            <a:avLst/>
          </a:prstGeom>
          <a:noFill/>
          <a:ln/>
        </p:spPr>
        <p:txBody>
          <a:bodyPr wrap="square" lIns="0" tIns="0" rIns="0" bIns="0" rtlCol="0" anchor="ctr"/>
          <a:lstStyle/>
          <a:p>
            <a:pPr algn="just"/>
            <a:r>
              <a:rPr lang="en-US" sz="1000" dirty="0">
                <a:latin typeface="Ubuntu" panose="020B0504030602030204" pitchFamily="34" charset="0"/>
                <a:ea typeface="Calibri" pitchFamily="34" charset="-122"/>
                <a:cs typeface="Calibri" pitchFamily="34" charset="-120"/>
              </a:rPr>
              <a:t>AI similarity score per recipe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C0392B"/>
          </a:solidFill>
          <a:ln/>
        </p:spPr>
      </p:sp>
      <p:sp>
        <p:nvSpPr>
          <p:cNvPr id="3" name="Shape 1"/>
          <p:cNvSpPr/>
          <p:nvPr/>
        </p:nvSpPr>
        <p:spPr>
          <a:xfrm>
            <a:off x="0" y="0"/>
            <a:ext cx="457200" cy="777240"/>
          </a:xfrm>
          <a:prstGeom prst="rect">
            <a:avLst/>
          </a:prstGeom>
          <a:solidFill>
            <a:srgbClr val="C0392B"/>
          </a:solidFill>
          <a:ln/>
        </p:spPr>
      </p:sp>
      <p:sp>
        <p:nvSpPr>
          <p:cNvPr id="4" name="Text 2"/>
          <p:cNvSpPr/>
          <p:nvPr/>
        </p:nvSpPr>
        <p:spPr>
          <a:xfrm>
            <a:off x="548640" y="0"/>
            <a:ext cx="7315200" cy="777240"/>
          </a:xfrm>
          <a:prstGeom prst="rect">
            <a:avLst/>
          </a:prstGeom>
          <a:noFill/>
          <a:ln/>
        </p:spPr>
        <p:txBody>
          <a:bodyPr wrap="square" lIns="0" tIns="0" rIns="0" bIns="0" rtlCol="0" anchor="ctr"/>
          <a:lstStyle/>
          <a:p>
            <a:pPr marL="0" indent="0" algn="l">
              <a:buNone/>
            </a:pPr>
            <a:r>
              <a:rPr lang="en-US" sz="2200" b="1" dirty="0">
                <a:solidFill>
                  <a:srgbClr val="FFFFFF"/>
                </a:solidFill>
                <a:latin typeface="Ubuntu" panose="020B0504030602030204" pitchFamily="34" charset="0"/>
                <a:ea typeface="Georgia" pitchFamily="34" charset="-122"/>
                <a:cs typeface="Georgia" pitchFamily="34" charset="-120"/>
              </a:rPr>
              <a:t> Part 2 : Program Design: Flowchart</a:t>
            </a:r>
            <a:endParaRPr lang="en-US" sz="2200" dirty="0">
              <a:latin typeface="Ubuntu" panose="020B0504030602030204" pitchFamily="34" charset="0"/>
            </a:endParaRPr>
          </a:p>
        </p:txBody>
      </p:sp>
      <p:sp>
        <p:nvSpPr>
          <p:cNvPr id="6" name="Shape 4"/>
          <p:cNvSpPr/>
          <p:nvPr/>
        </p:nvSpPr>
        <p:spPr>
          <a:xfrm>
            <a:off x="365760" y="896112"/>
            <a:ext cx="2926080" cy="384048"/>
          </a:xfrm>
          <a:prstGeom prst="ellipse">
            <a:avLst/>
          </a:prstGeom>
          <a:solidFill>
            <a:srgbClr val="C0392B"/>
          </a:solidFill>
          <a:ln/>
        </p:spPr>
      </p:sp>
      <p:sp>
        <p:nvSpPr>
          <p:cNvPr id="7" name="Text 5"/>
          <p:cNvSpPr/>
          <p:nvPr/>
        </p:nvSpPr>
        <p:spPr>
          <a:xfrm>
            <a:off x="365760" y="896112"/>
            <a:ext cx="292608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Ubuntu" panose="020B0504030602030204" pitchFamily="34" charset="0"/>
                <a:ea typeface="Calibri" pitchFamily="34" charset="-122"/>
                <a:cs typeface="Calibri" pitchFamily="34" charset="-120"/>
              </a:rPr>
              <a:t>🟢 START</a:t>
            </a:r>
            <a:endParaRPr lang="en-US" sz="1100" dirty="0">
              <a:latin typeface="Ubuntu" panose="020B0504030602030204" pitchFamily="34" charset="0"/>
            </a:endParaRPr>
          </a:p>
        </p:txBody>
      </p:sp>
      <p:sp>
        <p:nvSpPr>
          <p:cNvPr id="8" name="Shape 6"/>
          <p:cNvSpPr/>
          <p:nvPr/>
        </p:nvSpPr>
        <p:spPr>
          <a:xfrm>
            <a:off x="1828800" y="1280160"/>
            <a:ext cx="0" cy="91440"/>
          </a:xfrm>
          <a:prstGeom prst="line">
            <a:avLst/>
          </a:prstGeom>
          <a:noFill/>
          <a:ln w="19050">
            <a:solidFill>
              <a:srgbClr val="C0392B"/>
            </a:solidFill>
            <a:prstDash val="solid"/>
          </a:ln>
        </p:spPr>
      </p:sp>
      <p:sp>
        <p:nvSpPr>
          <p:cNvPr id="9" name="Shape 7"/>
          <p:cNvSpPr/>
          <p:nvPr/>
        </p:nvSpPr>
        <p:spPr>
          <a:xfrm>
            <a:off x="365760" y="1371600"/>
            <a:ext cx="2926080" cy="384048"/>
          </a:xfrm>
          <a:prstGeom prst="rect">
            <a:avLst/>
          </a:prstGeom>
          <a:solidFill>
            <a:srgbClr val="15618A">
              <a:alpha val="85000"/>
            </a:srgbClr>
          </a:solidFill>
          <a:ln/>
        </p:spPr>
      </p:sp>
      <p:sp>
        <p:nvSpPr>
          <p:cNvPr id="10" name="Text 8"/>
          <p:cNvSpPr/>
          <p:nvPr/>
        </p:nvSpPr>
        <p:spPr>
          <a:xfrm>
            <a:off x="365760" y="1371600"/>
            <a:ext cx="292608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Ubuntu" panose="020B0504030602030204" pitchFamily="34" charset="0"/>
                <a:ea typeface="Calibri" pitchFamily="34" charset="-122"/>
                <a:cs typeface="Calibri" pitchFamily="34" charset="-120"/>
              </a:rPr>
              <a:t>User enters ingredients</a:t>
            </a:r>
            <a:endParaRPr lang="en-US" sz="1100" dirty="0">
              <a:latin typeface="Ubuntu" panose="020B0504030602030204" pitchFamily="34" charset="0"/>
            </a:endParaRPr>
          </a:p>
        </p:txBody>
      </p:sp>
      <p:sp>
        <p:nvSpPr>
          <p:cNvPr id="11" name="Shape 9"/>
          <p:cNvSpPr/>
          <p:nvPr/>
        </p:nvSpPr>
        <p:spPr>
          <a:xfrm>
            <a:off x="1828800" y="1755648"/>
            <a:ext cx="0" cy="91440"/>
          </a:xfrm>
          <a:prstGeom prst="line">
            <a:avLst/>
          </a:prstGeom>
          <a:noFill/>
          <a:ln w="19050">
            <a:solidFill>
              <a:srgbClr val="15618A"/>
            </a:solidFill>
            <a:prstDash val="solid"/>
          </a:ln>
        </p:spPr>
      </p:sp>
      <p:sp>
        <p:nvSpPr>
          <p:cNvPr id="12" name="Shape 10"/>
          <p:cNvSpPr/>
          <p:nvPr/>
        </p:nvSpPr>
        <p:spPr>
          <a:xfrm>
            <a:off x="365760" y="1847088"/>
            <a:ext cx="2926080" cy="384048"/>
          </a:xfrm>
          <a:prstGeom prst="rect">
            <a:avLst/>
          </a:prstGeom>
          <a:solidFill>
            <a:srgbClr val="D4A017">
              <a:alpha val="80000"/>
            </a:srgbClr>
          </a:solidFill>
          <a:ln w="19050">
            <a:solidFill>
              <a:srgbClr val="D4A017"/>
            </a:solidFill>
            <a:prstDash val="solid"/>
          </a:ln>
        </p:spPr>
      </p:sp>
      <p:sp>
        <p:nvSpPr>
          <p:cNvPr id="13" name="Text 11"/>
          <p:cNvSpPr/>
          <p:nvPr/>
        </p:nvSpPr>
        <p:spPr>
          <a:xfrm>
            <a:off x="365760" y="1847088"/>
            <a:ext cx="292608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Ubuntu" panose="020B0504030602030204" pitchFamily="34" charset="0"/>
                <a:ea typeface="Calibri" pitchFamily="34" charset="-122"/>
                <a:cs typeface="Calibri" pitchFamily="34" charset="-120"/>
              </a:rPr>
              <a:t>Logged in?</a:t>
            </a:r>
            <a:endParaRPr lang="en-US" sz="1100" dirty="0">
              <a:latin typeface="Ubuntu" panose="020B0504030602030204" pitchFamily="34" charset="0"/>
            </a:endParaRPr>
          </a:p>
        </p:txBody>
      </p:sp>
      <p:sp>
        <p:nvSpPr>
          <p:cNvPr id="14" name="Shape 12"/>
          <p:cNvSpPr/>
          <p:nvPr/>
        </p:nvSpPr>
        <p:spPr>
          <a:xfrm>
            <a:off x="1828800" y="2231136"/>
            <a:ext cx="0" cy="91440"/>
          </a:xfrm>
          <a:prstGeom prst="line">
            <a:avLst/>
          </a:prstGeom>
          <a:noFill/>
          <a:ln w="19050">
            <a:solidFill>
              <a:srgbClr val="D4A017"/>
            </a:solidFill>
            <a:prstDash val="solid"/>
          </a:ln>
        </p:spPr>
      </p:sp>
      <p:sp>
        <p:nvSpPr>
          <p:cNvPr id="15" name="Text 13"/>
          <p:cNvSpPr/>
          <p:nvPr/>
        </p:nvSpPr>
        <p:spPr>
          <a:xfrm>
            <a:off x="3337560" y="1920240"/>
            <a:ext cx="457200" cy="228600"/>
          </a:xfrm>
          <a:prstGeom prst="rect">
            <a:avLst/>
          </a:prstGeom>
          <a:noFill/>
          <a:ln/>
        </p:spPr>
        <p:txBody>
          <a:bodyPr wrap="square" lIns="0" tIns="0" rIns="0" bIns="0" rtlCol="0" anchor="ctr"/>
          <a:lstStyle/>
          <a:p>
            <a:pPr marL="0" indent="0">
              <a:buNone/>
            </a:pPr>
            <a:r>
              <a:rPr lang="en-US" sz="900" b="1" dirty="0">
                <a:solidFill>
                  <a:srgbClr val="C0392B"/>
                </a:solidFill>
                <a:latin typeface="Ubuntu" panose="020B0504030602030204" pitchFamily="34" charset="0"/>
                <a:ea typeface="Calibri" pitchFamily="34" charset="-122"/>
                <a:cs typeface="Calibri" pitchFamily="34" charset="-120"/>
              </a:rPr>
              <a:t>No →</a:t>
            </a:r>
            <a:endParaRPr lang="en-US" sz="900" dirty="0">
              <a:latin typeface="Ubuntu" panose="020B0504030602030204" pitchFamily="34" charset="0"/>
            </a:endParaRPr>
          </a:p>
        </p:txBody>
      </p:sp>
      <p:sp>
        <p:nvSpPr>
          <p:cNvPr id="16" name="Shape 14"/>
          <p:cNvSpPr/>
          <p:nvPr/>
        </p:nvSpPr>
        <p:spPr>
          <a:xfrm>
            <a:off x="3291840" y="2039112"/>
            <a:ext cx="457200" cy="0"/>
          </a:xfrm>
          <a:prstGeom prst="line">
            <a:avLst/>
          </a:prstGeom>
          <a:noFill/>
          <a:ln w="19050">
            <a:solidFill>
              <a:srgbClr val="C0392B"/>
            </a:solidFill>
            <a:prstDash val="solid"/>
          </a:ln>
        </p:spPr>
      </p:sp>
      <p:sp>
        <p:nvSpPr>
          <p:cNvPr id="17" name="Text 15"/>
          <p:cNvSpPr/>
          <p:nvPr/>
        </p:nvSpPr>
        <p:spPr>
          <a:xfrm>
            <a:off x="1371600" y="2240280"/>
            <a:ext cx="640080" cy="164592"/>
          </a:xfrm>
          <a:prstGeom prst="rect">
            <a:avLst/>
          </a:prstGeom>
          <a:noFill/>
          <a:ln/>
        </p:spPr>
        <p:txBody>
          <a:bodyPr wrap="square" lIns="0" tIns="0" rIns="0" bIns="0" rtlCol="0" anchor="ctr"/>
          <a:lstStyle/>
          <a:p>
            <a:pPr marL="0" indent="0">
              <a:buNone/>
            </a:pPr>
            <a:r>
              <a:rPr lang="en-US" sz="900" b="1" dirty="0">
                <a:solidFill>
                  <a:srgbClr val="1A6B3C"/>
                </a:solidFill>
                <a:latin typeface="Ubuntu" panose="020B0504030602030204" pitchFamily="34" charset="0"/>
                <a:ea typeface="Calibri" pitchFamily="34" charset="-122"/>
                <a:cs typeface="Calibri" pitchFamily="34" charset="-120"/>
              </a:rPr>
              <a:t>Yes ↓</a:t>
            </a:r>
            <a:endParaRPr lang="en-US" sz="900" dirty="0">
              <a:latin typeface="Ubuntu" panose="020B0504030602030204" pitchFamily="34" charset="0"/>
            </a:endParaRPr>
          </a:p>
        </p:txBody>
      </p:sp>
      <p:sp>
        <p:nvSpPr>
          <p:cNvPr id="18" name="Shape 16"/>
          <p:cNvSpPr/>
          <p:nvPr/>
        </p:nvSpPr>
        <p:spPr>
          <a:xfrm>
            <a:off x="365760" y="2322576"/>
            <a:ext cx="2926080" cy="384048"/>
          </a:xfrm>
          <a:prstGeom prst="rect">
            <a:avLst/>
          </a:prstGeom>
          <a:solidFill>
            <a:srgbClr val="922B21">
              <a:alpha val="70000"/>
            </a:srgbClr>
          </a:solidFill>
          <a:ln/>
        </p:spPr>
      </p:sp>
      <p:sp>
        <p:nvSpPr>
          <p:cNvPr id="19" name="Text 17"/>
          <p:cNvSpPr/>
          <p:nvPr/>
        </p:nvSpPr>
        <p:spPr>
          <a:xfrm>
            <a:off x="365760" y="2322576"/>
            <a:ext cx="292608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Ubuntu" panose="020B0504030602030204" pitchFamily="34" charset="0"/>
                <a:ea typeface="Calibri" pitchFamily="34" charset="-122"/>
                <a:cs typeface="Calibri" pitchFamily="34" charset="-120"/>
              </a:rPr>
              <a:t>Redirect to Login</a:t>
            </a:r>
            <a:endParaRPr lang="en-US" sz="1100" dirty="0">
              <a:latin typeface="Ubuntu" panose="020B0504030602030204" pitchFamily="34" charset="0"/>
            </a:endParaRPr>
          </a:p>
        </p:txBody>
      </p:sp>
      <p:sp>
        <p:nvSpPr>
          <p:cNvPr id="20" name="Shape 18"/>
          <p:cNvSpPr/>
          <p:nvPr/>
        </p:nvSpPr>
        <p:spPr>
          <a:xfrm>
            <a:off x="1828800" y="2706624"/>
            <a:ext cx="0" cy="91440"/>
          </a:xfrm>
          <a:prstGeom prst="line">
            <a:avLst/>
          </a:prstGeom>
          <a:noFill/>
          <a:ln w="19050">
            <a:solidFill>
              <a:srgbClr val="922B21"/>
            </a:solidFill>
            <a:prstDash val="solid"/>
          </a:ln>
        </p:spPr>
      </p:sp>
      <p:sp>
        <p:nvSpPr>
          <p:cNvPr id="21" name="Shape 19"/>
          <p:cNvSpPr/>
          <p:nvPr/>
        </p:nvSpPr>
        <p:spPr>
          <a:xfrm>
            <a:off x="365760" y="2798064"/>
            <a:ext cx="2926080" cy="384048"/>
          </a:xfrm>
          <a:prstGeom prst="rect">
            <a:avLst/>
          </a:prstGeom>
          <a:solidFill>
            <a:srgbClr val="7B2D8B">
              <a:alpha val="85000"/>
            </a:srgbClr>
          </a:solidFill>
          <a:ln/>
        </p:spPr>
      </p:sp>
      <p:sp>
        <p:nvSpPr>
          <p:cNvPr id="22" name="Text 20"/>
          <p:cNvSpPr/>
          <p:nvPr/>
        </p:nvSpPr>
        <p:spPr>
          <a:xfrm>
            <a:off x="365760" y="2798064"/>
            <a:ext cx="292608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Ubuntu" panose="020B0504030602030204" pitchFamily="34" charset="0"/>
                <a:ea typeface="Calibri" pitchFamily="34" charset="-122"/>
                <a:cs typeface="Calibri" pitchFamily="34" charset="-120"/>
              </a:rPr>
              <a:t>AI Engine processes ingredients</a:t>
            </a:r>
            <a:endParaRPr lang="en-US" sz="1100" dirty="0">
              <a:latin typeface="Ubuntu" panose="020B0504030602030204" pitchFamily="34" charset="0"/>
            </a:endParaRPr>
          </a:p>
        </p:txBody>
      </p:sp>
      <p:sp>
        <p:nvSpPr>
          <p:cNvPr id="23" name="Shape 21"/>
          <p:cNvSpPr/>
          <p:nvPr/>
        </p:nvSpPr>
        <p:spPr>
          <a:xfrm>
            <a:off x="1828800" y="3182112"/>
            <a:ext cx="0" cy="91440"/>
          </a:xfrm>
          <a:prstGeom prst="line">
            <a:avLst/>
          </a:prstGeom>
          <a:noFill/>
          <a:ln w="19050">
            <a:solidFill>
              <a:srgbClr val="7B2D8B"/>
            </a:solidFill>
            <a:prstDash val="solid"/>
          </a:ln>
        </p:spPr>
      </p:sp>
      <p:sp>
        <p:nvSpPr>
          <p:cNvPr id="24" name="Shape 22"/>
          <p:cNvSpPr/>
          <p:nvPr/>
        </p:nvSpPr>
        <p:spPr>
          <a:xfrm>
            <a:off x="365760" y="3273552"/>
            <a:ext cx="2926080" cy="384048"/>
          </a:xfrm>
          <a:prstGeom prst="rect">
            <a:avLst/>
          </a:prstGeom>
          <a:solidFill>
            <a:srgbClr val="1A6B3C">
              <a:alpha val="85000"/>
            </a:srgbClr>
          </a:solidFill>
          <a:ln/>
        </p:spPr>
      </p:sp>
      <p:sp>
        <p:nvSpPr>
          <p:cNvPr id="25" name="Text 23"/>
          <p:cNvSpPr/>
          <p:nvPr/>
        </p:nvSpPr>
        <p:spPr>
          <a:xfrm>
            <a:off x="365760" y="3273552"/>
            <a:ext cx="292608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Ubuntu" panose="020B0504030602030204" pitchFamily="34" charset="0"/>
                <a:ea typeface="Calibri" pitchFamily="34" charset="-122"/>
                <a:cs typeface="Calibri" pitchFamily="34" charset="-120"/>
              </a:rPr>
              <a:t>Calculate match % for each recipe</a:t>
            </a:r>
            <a:endParaRPr lang="en-US" sz="1100" dirty="0">
              <a:latin typeface="Ubuntu" panose="020B0504030602030204" pitchFamily="34" charset="0"/>
            </a:endParaRPr>
          </a:p>
        </p:txBody>
      </p:sp>
      <p:sp>
        <p:nvSpPr>
          <p:cNvPr id="26" name="Shape 24"/>
          <p:cNvSpPr/>
          <p:nvPr/>
        </p:nvSpPr>
        <p:spPr>
          <a:xfrm>
            <a:off x="1828800" y="3657600"/>
            <a:ext cx="0" cy="91440"/>
          </a:xfrm>
          <a:prstGeom prst="line">
            <a:avLst/>
          </a:prstGeom>
          <a:noFill/>
          <a:ln w="19050">
            <a:solidFill>
              <a:srgbClr val="1A6B3C"/>
            </a:solidFill>
            <a:prstDash val="solid"/>
          </a:ln>
        </p:spPr>
      </p:sp>
      <p:sp>
        <p:nvSpPr>
          <p:cNvPr id="27" name="Shape 25"/>
          <p:cNvSpPr/>
          <p:nvPr/>
        </p:nvSpPr>
        <p:spPr>
          <a:xfrm>
            <a:off x="365760" y="3749040"/>
            <a:ext cx="2926080" cy="384048"/>
          </a:xfrm>
          <a:prstGeom prst="rect">
            <a:avLst/>
          </a:prstGeom>
          <a:solidFill>
            <a:srgbClr val="C0392B">
              <a:alpha val="85000"/>
            </a:srgbClr>
          </a:solidFill>
          <a:ln/>
        </p:spPr>
      </p:sp>
      <p:sp>
        <p:nvSpPr>
          <p:cNvPr id="28" name="Text 26"/>
          <p:cNvSpPr/>
          <p:nvPr/>
        </p:nvSpPr>
        <p:spPr>
          <a:xfrm>
            <a:off x="365760" y="3749040"/>
            <a:ext cx="292608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Ubuntu" panose="020B0504030602030204" pitchFamily="34" charset="0"/>
                <a:ea typeface="Calibri" pitchFamily="34" charset="-122"/>
                <a:cs typeface="Calibri" pitchFamily="34" charset="-120"/>
              </a:rPr>
              <a:t>Sort &amp; return top 10 results</a:t>
            </a:r>
            <a:endParaRPr lang="en-US" sz="1100" dirty="0">
              <a:latin typeface="Ubuntu" panose="020B0504030602030204" pitchFamily="34" charset="0"/>
            </a:endParaRPr>
          </a:p>
        </p:txBody>
      </p:sp>
      <p:sp>
        <p:nvSpPr>
          <p:cNvPr id="29" name="Shape 27"/>
          <p:cNvSpPr/>
          <p:nvPr/>
        </p:nvSpPr>
        <p:spPr>
          <a:xfrm>
            <a:off x="1828800" y="4133088"/>
            <a:ext cx="0" cy="91440"/>
          </a:xfrm>
          <a:prstGeom prst="line">
            <a:avLst/>
          </a:prstGeom>
          <a:noFill/>
          <a:ln w="19050">
            <a:solidFill>
              <a:srgbClr val="C0392B"/>
            </a:solidFill>
            <a:prstDash val="solid"/>
          </a:ln>
        </p:spPr>
      </p:sp>
      <p:sp>
        <p:nvSpPr>
          <p:cNvPr id="30" name="Shape 28"/>
          <p:cNvSpPr/>
          <p:nvPr/>
        </p:nvSpPr>
        <p:spPr>
          <a:xfrm>
            <a:off x="365760" y="4224528"/>
            <a:ext cx="2926080" cy="384048"/>
          </a:xfrm>
          <a:prstGeom prst="rect">
            <a:avLst/>
          </a:prstGeom>
          <a:solidFill>
            <a:srgbClr val="15618A">
              <a:alpha val="85000"/>
            </a:srgbClr>
          </a:solidFill>
          <a:ln/>
        </p:spPr>
      </p:sp>
      <p:sp>
        <p:nvSpPr>
          <p:cNvPr id="31" name="Text 29"/>
          <p:cNvSpPr/>
          <p:nvPr/>
        </p:nvSpPr>
        <p:spPr>
          <a:xfrm>
            <a:off x="365760" y="4224528"/>
            <a:ext cx="292608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Ubuntu" panose="020B0504030602030204" pitchFamily="34" charset="0"/>
                <a:ea typeface="Calibri" pitchFamily="34" charset="-122"/>
                <a:cs typeface="Calibri" pitchFamily="34" charset="-120"/>
              </a:rPr>
              <a:t>Display recipe cards</a:t>
            </a:r>
            <a:endParaRPr lang="en-US" sz="1100" dirty="0">
              <a:latin typeface="Ubuntu" panose="020B0504030602030204" pitchFamily="34" charset="0"/>
            </a:endParaRPr>
          </a:p>
        </p:txBody>
      </p:sp>
      <p:sp>
        <p:nvSpPr>
          <p:cNvPr id="32" name="Shape 30"/>
          <p:cNvSpPr/>
          <p:nvPr/>
        </p:nvSpPr>
        <p:spPr>
          <a:xfrm>
            <a:off x="1828800" y="4608576"/>
            <a:ext cx="0" cy="91440"/>
          </a:xfrm>
          <a:prstGeom prst="line">
            <a:avLst/>
          </a:prstGeom>
          <a:noFill/>
          <a:ln w="19050">
            <a:solidFill>
              <a:srgbClr val="15618A"/>
            </a:solidFill>
            <a:prstDash val="solid"/>
          </a:ln>
        </p:spPr>
      </p:sp>
      <p:sp>
        <p:nvSpPr>
          <p:cNvPr id="33" name="Shape 31"/>
          <p:cNvSpPr/>
          <p:nvPr/>
        </p:nvSpPr>
        <p:spPr>
          <a:xfrm>
            <a:off x="365760" y="4700016"/>
            <a:ext cx="2926080" cy="384048"/>
          </a:xfrm>
          <a:prstGeom prst="ellipse">
            <a:avLst/>
          </a:prstGeom>
          <a:solidFill>
            <a:srgbClr val="922B21"/>
          </a:solidFill>
          <a:ln/>
        </p:spPr>
      </p:sp>
      <p:sp>
        <p:nvSpPr>
          <p:cNvPr id="34" name="Text 32"/>
          <p:cNvSpPr/>
          <p:nvPr/>
        </p:nvSpPr>
        <p:spPr>
          <a:xfrm>
            <a:off x="365760" y="4700016"/>
            <a:ext cx="292608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Ubuntu" panose="020B0504030602030204" pitchFamily="34" charset="0"/>
                <a:ea typeface="Calibri" pitchFamily="34" charset="-122"/>
                <a:cs typeface="Calibri" pitchFamily="34" charset="-120"/>
              </a:rPr>
              <a:t>🔴 END</a:t>
            </a:r>
            <a:endParaRPr lang="en-US" sz="1100" dirty="0">
              <a:latin typeface="Ubuntu" panose="020B0504030602030204" pitchFamily="34" charset="0"/>
            </a:endParaRPr>
          </a:p>
        </p:txBody>
      </p:sp>
      <p:sp>
        <p:nvSpPr>
          <p:cNvPr id="35" name="Shape 33"/>
          <p:cNvSpPr/>
          <p:nvPr/>
        </p:nvSpPr>
        <p:spPr>
          <a:xfrm>
            <a:off x="3657600" y="1865376"/>
            <a:ext cx="2286000" cy="384048"/>
          </a:xfrm>
          <a:prstGeom prst="rect">
            <a:avLst/>
          </a:prstGeom>
          <a:solidFill>
            <a:srgbClr val="922B21">
              <a:alpha val="80000"/>
            </a:srgbClr>
          </a:solidFill>
          <a:ln w="12700">
            <a:solidFill>
              <a:srgbClr val="C0392B"/>
            </a:solidFill>
            <a:prstDash val="solid"/>
          </a:ln>
        </p:spPr>
      </p:sp>
      <p:sp>
        <p:nvSpPr>
          <p:cNvPr id="36" name="Text 34"/>
          <p:cNvSpPr/>
          <p:nvPr/>
        </p:nvSpPr>
        <p:spPr>
          <a:xfrm>
            <a:off x="3657600" y="1865376"/>
            <a:ext cx="2286000" cy="384048"/>
          </a:xfrm>
          <a:prstGeom prst="rect">
            <a:avLst/>
          </a:prstGeom>
          <a:noFill/>
          <a:ln/>
        </p:spPr>
        <p:txBody>
          <a:bodyPr wrap="square" lIns="0" tIns="0" rIns="0" bIns="0" rtlCol="0" anchor="ctr"/>
          <a:lstStyle/>
          <a:p>
            <a:pPr marL="0" indent="0" algn="ctr">
              <a:buNone/>
            </a:pPr>
            <a:r>
              <a:rPr lang="en-US" sz="1000" b="1" dirty="0">
                <a:solidFill>
                  <a:srgbClr val="C0392B"/>
                </a:solidFill>
                <a:latin typeface="Ubuntu" panose="020B0504030602030204" pitchFamily="34" charset="0"/>
                <a:ea typeface="Calibri" pitchFamily="34" charset="-122"/>
                <a:cs typeface="Calibri" pitchFamily="34" charset="-120"/>
              </a:rPr>
              <a:t>🔐 Redirect to Login</a:t>
            </a:r>
            <a:endParaRPr lang="en-US" sz="1000" dirty="0">
              <a:latin typeface="Ubuntu" panose="020B0504030602030204" pitchFamily="34" charset="0"/>
            </a:endParaRPr>
          </a:p>
        </p:txBody>
      </p:sp>
      <p:sp>
        <p:nvSpPr>
          <p:cNvPr id="37" name="Shape 35"/>
          <p:cNvSpPr/>
          <p:nvPr/>
        </p:nvSpPr>
        <p:spPr>
          <a:xfrm>
            <a:off x="3474720" y="868680"/>
            <a:ext cx="5486400" cy="4160520"/>
          </a:xfrm>
          <a:prstGeom prst="rect">
            <a:avLst/>
          </a:prstGeom>
          <a:solidFill>
            <a:srgbClr val="FFFFFF"/>
          </a:solidFill>
          <a:ln/>
          <a:effectLst>
            <a:outerShdw blurRad="101600" dist="38100" dir="8100000" algn="bl" rotWithShape="0">
              <a:srgbClr val="000000">
                <a:alpha val="15000"/>
              </a:srgbClr>
            </a:outerShdw>
          </a:effectLst>
        </p:spPr>
      </p:sp>
      <p:sp>
        <p:nvSpPr>
          <p:cNvPr id="38" name="Shape 36"/>
          <p:cNvSpPr/>
          <p:nvPr/>
        </p:nvSpPr>
        <p:spPr>
          <a:xfrm>
            <a:off x="3474720" y="868680"/>
            <a:ext cx="5486400" cy="384048"/>
          </a:xfrm>
          <a:prstGeom prst="rect">
            <a:avLst/>
          </a:prstGeom>
          <a:solidFill>
            <a:srgbClr val="C0392B"/>
          </a:solidFill>
          <a:ln/>
        </p:spPr>
      </p:sp>
      <p:sp>
        <p:nvSpPr>
          <p:cNvPr id="39" name="Text 37"/>
          <p:cNvSpPr/>
          <p:nvPr/>
        </p:nvSpPr>
        <p:spPr>
          <a:xfrm>
            <a:off x="3474720" y="868680"/>
            <a:ext cx="54864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Ubuntu" panose="020B0504030602030204" pitchFamily="34" charset="0"/>
                <a:ea typeface="Georgia" pitchFamily="34" charset="-122"/>
                <a:cs typeface="Georgia" pitchFamily="34" charset="-120"/>
              </a:rPr>
              <a:t>⚙️ Application Logic</a:t>
            </a:r>
            <a:endParaRPr lang="en-US" sz="1300" dirty="0">
              <a:latin typeface="Ubuntu" panose="020B0504030602030204" pitchFamily="34" charset="0"/>
            </a:endParaRPr>
          </a:p>
        </p:txBody>
      </p:sp>
      <p:sp>
        <p:nvSpPr>
          <p:cNvPr id="40" name="Shape 38"/>
          <p:cNvSpPr/>
          <p:nvPr/>
        </p:nvSpPr>
        <p:spPr>
          <a:xfrm>
            <a:off x="3657600" y="1353312"/>
            <a:ext cx="182880" cy="182880"/>
          </a:xfrm>
          <a:prstGeom prst="ellipse">
            <a:avLst/>
          </a:prstGeom>
          <a:solidFill>
            <a:srgbClr val="C0392B"/>
          </a:solidFill>
          <a:ln/>
        </p:spPr>
      </p:sp>
      <p:sp>
        <p:nvSpPr>
          <p:cNvPr id="41" name="Text 39"/>
          <p:cNvSpPr/>
          <p:nvPr/>
        </p:nvSpPr>
        <p:spPr>
          <a:xfrm>
            <a:off x="3886200" y="1325880"/>
            <a:ext cx="1188720" cy="256032"/>
          </a:xfrm>
          <a:prstGeom prst="rect">
            <a:avLst/>
          </a:prstGeom>
          <a:noFill/>
          <a:ln/>
        </p:spPr>
        <p:txBody>
          <a:bodyPr wrap="square" lIns="0" tIns="0" rIns="0" bIns="0" rtlCol="0" anchor="ctr"/>
          <a:lstStyle/>
          <a:p>
            <a:pPr marL="0" indent="0">
              <a:buNone/>
            </a:pPr>
            <a:r>
              <a:rPr lang="en-US" sz="1100" b="1" dirty="0">
                <a:solidFill>
                  <a:srgbClr val="2C1810"/>
                </a:solidFill>
                <a:latin typeface="Ubuntu" panose="020B0504030602030204" pitchFamily="34" charset="0"/>
                <a:ea typeface="Georgia" pitchFamily="34" charset="-122"/>
                <a:cs typeface="Georgia" pitchFamily="34" charset="-120"/>
              </a:rPr>
              <a:t>1. Input:</a:t>
            </a:r>
            <a:endParaRPr lang="en-US" sz="1100" dirty="0">
              <a:latin typeface="Ubuntu" panose="020B0504030602030204" pitchFamily="34" charset="0"/>
            </a:endParaRPr>
          </a:p>
        </p:txBody>
      </p:sp>
      <p:sp>
        <p:nvSpPr>
          <p:cNvPr id="42" name="Text 40"/>
          <p:cNvSpPr/>
          <p:nvPr/>
        </p:nvSpPr>
        <p:spPr>
          <a:xfrm>
            <a:off x="5074920" y="1325880"/>
            <a:ext cx="3749040" cy="256032"/>
          </a:xfrm>
          <a:prstGeom prst="rect">
            <a:avLst/>
          </a:prstGeom>
          <a:noFill/>
          <a:ln/>
        </p:spPr>
        <p:txBody>
          <a:bodyPr wrap="square" lIns="0" tIns="0" rIns="0" bIns="0" rtlCol="0" anchor="ctr"/>
          <a:lstStyle/>
          <a:p>
            <a:pPr marL="0" indent="0">
              <a:buNone/>
            </a:pPr>
            <a:r>
              <a:rPr lang="en-US" sz="1100" dirty="0">
                <a:solidFill>
                  <a:srgbClr val="5D4037"/>
                </a:solidFill>
                <a:latin typeface="Ubuntu" panose="020B0504030602030204" pitchFamily="34" charset="0"/>
                <a:ea typeface="Calibri" pitchFamily="34" charset="-122"/>
                <a:cs typeface="Calibri" pitchFamily="34" charset="-120"/>
              </a:rPr>
              <a:t>User types ingredients separated by commas</a:t>
            </a:r>
            <a:endParaRPr lang="en-US" sz="1100" dirty="0">
              <a:latin typeface="Ubuntu" panose="020B0504030602030204" pitchFamily="34" charset="0"/>
            </a:endParaRPr>
          </a:p>
        </p:txBody>
      </p:sp>
      <p:sp>
        <p:nvSpPr>
          <p:cNvPr id="43" name="Shape 41"/>
          <p:cNvSpPr/>
          <p:nvPr/>
        </p:nvSpPr>
        <p:spPr>
          <a:xfrm>
            <a:off x="3657600" y="1856232"/>
            <a:ext cx="182880" cy="182880"/>
          </a:xfrm>
          <a:prstGeom prst="ellipse">
            <a:avLst/>
          </a:prstGeom>
          <a:solidFill>
            <a:srgbClr val="C0392B"/>
          </a:solidFill>
          <a:ln/>
        </p:spPr>
      </p:sp>
      <p:sp>
        <p:nvSpPr>
          <p:cNvPr id="44" name="Text 42"/>
          <p:cNvSpPr/>
          <p:nvPr/>
        </p:nvSpPr>
        <p:spPr>
          <a:xfrm>
            <a:off x="3886200" y="1828800"/>
            <a:ext cx="1188720" cy="256032"/>
          </a:xfrm>
          <a:prstGeom prst="rect">
            <a:avLst/>
          </a:prstGeom>
          <a:noFill/>
          <a:ln/>
        </p:spPr>
        <p:txBody>
          <a:bodyPr wrap="square" lIns="0" tIns="0" rIns="0" bIns="0" rtlCol="0" anchor="ctr"/>
          <a:lstStyle/>
          <a:p>
            <a:pPr marL="0" indent="0">
              <a:buNone/>
            </a:pPr>
            <a:r>
              <a:rPr lang="en-US" sz="1100" b="1" dirty="0">
                <a:solidFill>
                  <a:srgbClr val="2C1810"/>
                </a:solidFill>
                <a:latin typeface="Ubuntu" panose="020B0504030602030204" pitchFamily="34" charset="0"/>
                <a:ea typeface="Georgia" pitchFamily="34" charset="-122"/>
                <a:cs typeface="Georgia" pitchFamily="34" charset="-120"/>
              </a:rPr>
              <a:t>2. Auth Check:</a:t>
            </a:r>
            <a:endParaRPr lang="en-US" sz="1100" dirty="0">
              <a:latin typeface="Ubuntu" panose="020B0504030602030204" pitchFamily="34" charset="0"/>
            </a:endParaRPr>
          </a:p>
        </p:txBody>
      </p:sp>
      <p:sp>
        <p:nvSpPr>
          <p:cNvPr id="45" name="Text 43"/>
          <p:cNvSpPr/>
          <p:nvPr/>
        </p:nvSpPr>
        <p:spPr>
          <a:xfrm>
            <a:off x="5074920" y="1828800"/>
            <a:ext cx="3749040" cy="256032"/>
          </a:xfrm>
          <a:prstGeom prst="rect">
            <a:avLst/>
          </a:prstGeom>
          <a:noFill/>
          <a:ln/>
        </p:spPr>
        <p:txBody>
          <a:bodyPr wrap="square" lIns="0" tIns="0" rIns="0" bIns="0" rtlCol="0" anchor="ctr"/>
          <a:lstStyle/>
          <a:p>
            <a:pPr marL="0" indent="0">
              <a:buNone/>
            </a:pPr>
            <a:r>
              <a:rPr lang="en-US" sz="1100" dirty="0">
                <a:solidFill>
                  <a:srgbClr val="5D4037"/>
                </a:solidFill>
                <a:latin typeface="Ubuntu" panose="020B0504030602030204" pitchFamily="34" charset="0"/>
                <a:ea typeface="Calibri" pitchFamily="34" charset="-122"/>
                <a:cs typeface="Calibri" pitchFamily="34" charset="-120"/>
              </a:rPr>
              <a:t>Verify JWT token exists in localStorage</a:t>
            </a:r>
            <a:endParaRPr lang="en-US" sz="1100" dirty="0">
              <a:latin typeface="Ubuntu" panose="020B0504030602030204" pitchFamily="34" charset="0"/>
            </a:endParaRPr>
          </a:p>
        </p:txBody>
      </p:sp>
      <p:sp>
        <p:nvSpPr>
          <p:cNvPr id="46" name="Shape 44"/>
          <p:cNvSpPr/>
          <p:nvPr/>
        </p:nvSpPr>
        <p:spPr>
          <a:xfrm>
            <a:off x="3657600" y="2359152"/>
            <a:ext cx="182880" cy="182880"/>
          </a:xfrm>
          <a:prstGeom prst="ellipse">
            <a:avLst/>
          </a:prstGeom>
          <a:solidFill>
            <a:srgbClr val="C0392B"/>
          </a:solidFill>
          <a:ln/>
        </p:spPr>
      </p:sp>
      <p:sp>
        <p:nvSpPr>
          <p:cNvPr id="47" name="Text 45"/>
          <p:cNvSpPr/>
          <p:nvPr/>
        </p:nvSpPr>
        <p:spPr>
          <a:xfrm>
            <a:off x="3886200" y="2331720"/>
            <a:ext cx="1188720" cy="256032"/>
          </a:xfrm>
          <a:prstGeom prst="rect">
            <a:avLst/>
          </a:prstGeom>
          <a:noFill/>
          <a:ln/>
        </p:spPr>
        <p:txBody>
          <a:bodyPr wrap="square" lIns="0" tIns="0" rIns="0" bIns="0" rtlCol="0" anchor="ctr"/>
          <a:lstStyle/>
          <a:p>
            <a:pPr marL="0" indent="0">
              <a:buNone/>
            </a:pPr>
            <a:r>
              <a:rPr lang="en-US" sz="1100" b="1" dirty="0">
                <a:solidFill>
                  <a:srgbClr val="2C1810"/>
                </a:solidFill>
                <a:latin typeface="Ubuntu" panose="020B0504030602030204" pitchFamily="34" charset="0"/>
                <a:ea typeface="Georgia" pitchFamily="34" charset="-122"/>
                <a:cs typeface="Georgia" pitchFamily="34" charset="-120"/>
              </a:rPr>
              <a:t>3. API Call:</a:t>
            </a:r>
            <a:endParaRPr lang="en-US" sz="1100" dirty="0">
              <a:latin typeface="Ubuntu" panose="020B0504030602030204" pitchFamily="34" charset="0"/>
            </a:endParaRPr>
          </a:p>
        </p:txBody>
      </p:sp>
      <p:sp>
        <p:nvSpPr>
          <p:cNvPr id="48" name="Text 46"/>
          <p:cNvSpPr/>
          <p:nvPr/>
        </p:nvSpPr>
        <p:spPr>
          <a:xfrm>
            <a:off x="5074920" y="2331720"/>
            <a:ext cx="3749040" cy="256032"/>
          </a:xfrm>
          <a:prstGeom prst="rect">
            <a:avLst/>
          </a:prstGeom>
          <a:noFill/>
          <a:ln/>
        </p:spPr>
        <p:txBody>
          <a:bodyPr wrap="square" lIns="0" tIns="0" rIns="0" bIns="0" rtlCol="0" anchor="ctr"/>
          <a:lstStyle/>
          <a:p>
            <a:pPr marL="0" indent="0">
              <a:buNone/>
            </a:pPr>
            <a:r>
              <a:rPr lang="en-US" sz="1100" dirty="0">
                <a:solidFill>
                  <a:srgbClr val="5D4037"/>
                </a:solidFill>
                <a:latin typeface="Ubuntu" panose="020B0504030602030204" pitchFamily="34" charset="0"/>
                <a:ea typeface="Calibri" pitchFamily="34" charset="-122"/>
                <a:cs typeface="Calibri" pitchFamily="34" charset="-120"/>
              </a:rPr>
              <a:t>POST /api/recipes/ai-search with ingredients list</a:t>
            </a:r>
            <a:endParaRPr lang="en-US" sz="1100" dirty="0">
              <a:latin typeface="Ubuntu" panose="020B0504030602030204" pitchFamily="34" charset="0"/>
            </a:endParaRPr>
          </a:p>
        </p:txBody>
      </p:sp>
      <p:sp>
        <p:nvSpPr>
          <p:cNvPr id="49" name="Shape 47"/>
          <p:cNvSpPr/>
          <p:nvPr/>
        </p:nvSpPr>
        <p:spPr>
          <a:xfrm>
            <a:off x="3657600" y="2862072"/>
            <a:ext cx="182880" cy="182880"/>
          </a:xfrm>
          <a:prstGeom prst="ellipse">
            <a:avLst/>
          </a:prstGeom>
          <a:solidFill>
            <a:srgbClr val="C0392B"/>
          </a:solidFill>
          <a:ln/>
        </p:spPr>
      </p:sp>
      <p:sp>
        <p:nvSpPr>
          <p:cNvPr id="50" name="Text 48"/>
          <p:cNvSpPr/>
          <p:nvPr/>
        </p:nvSpPr>
        <p:spPr>
          <a:xfrm>
            <a:off x="3886200" y="2834640"/>
            <a:ext cx="1188720" cy="256032"/>
          </a:xfrm>
          <a:prstGeom prst="rect">
            <a:avLst/>
          </a:prstGeom>
          <a:noFill/>
          <a:ln/>
        </p:spPr>
        <p:txBody>
          <a:bodyPr wrap="square" lIns="0" tIns="0" rIns="0" bIns="0" rtlCol="0" anchor="ctr"/>
          <a:lstStyle/>
          <a:p>
            <a:pPr marL="0" indent="0">
              <a:buNone/>
            </a:pPr>
            <a:r>
              <a:rPr lang="en-US" sz="1100" b="1" dirty="0">
                <a:solidFill>
                  <a:srgbClr val="2C1810"/>
                </a:solidFill>
                <a:latin typeface="Ubuntu" panose="020B0504030602030204" pitchFamily="34" charset="0"/>
                <a:ea typeface="Georgia" pitchFamily="34" charset="-122"/>
                <a:cs typeface="Georgia" pitchFamily="34" charset="-120"/>
              </a:rPr>
              <a:t>4. AI Processing:</a:t>
            </a:r>
            <a:endParaRPr lang="en-US" sz="1100" dirty="0">
              <a:latin typeface="Ubuntu" panose="020B0504030602030204" pitchFamily="34" charset="0"/>
            </a:endParaRPr>
          </a:p>
        </p:txBody>
      </p:sp>
      <p:sp>
        <p:nvSpPr>
          <p:cNvPr id="51" name="Text 49"/>
          <p:cNvSpPr/>
          <p:nvPr/>
        </p:nvSpPr>
        <p:spPr>
          <a:xfrm>
            <a:off x="5074920" y="2834640"/>
            <a:ext cx="3749040" cy="256032"/>
          </a:xfrm>
          <a:prstGeom prst="rect">
            <a:avLst/>
          </a:prstGeom>
          <a:noFill/>
          <a:ln/>
        </p:spPr>
        <p:txBody>
          <a:bodyPr wrap="square" lIns="0" tIns="0" rIns="0" bIns="0" rtlCol="0" anchor="ctr"/>
          <a:lstStyle/>
          <a:p>
            <a:pPr marL="0" indent="0">
              <a:buNone/>
            </a:pPr>
            <a:r>
              <a:rPr lang="en-US" sz="1100" dirty="0">
                <a:solidFill>
                  <a:srgbClr val="5D4037"/>
                </a:solidFill>
                <a:latin typeface="Ubuntu" panose="020B0504030602030204" pitchFamily="34" charset="0"/>
                <a:ea typeface="Calibri" pitchFamily="34" charset="-122"/>
                <a:cs typeface="Calibri" pitchFamily="34" charset="-120"/>
              </a:rPr>
              <a:t>TF-IDF + Cosine Similarity calculation</a:t>
            </a:r>
            <a:endParaRPr lang="en-US" sz="1100" dirty="0">
              <a:latin typeface="Ubuntu" panose="020B0504030602030204" pitchFamily="34" charset="0"/>
            </a:endParaRPr>
          </a:p>
        </p:txBody>
      </p:sp>
      <p:sp>
        <p:nvSpPr>
          <p:cNvPr id="52" name="Shape 50"/>
          <p:cNvSpPr/>
          <p:nvPr/>
        </p:nvSpPr>
        <p:spPr>
          <a:xfrm>
            <a:off x="3657600" y="3364992"/>
            <a:ext cx="182880" cy="182880"/>
          </a:xfrm>
          <a:prstGeom prst="ellipse">
            <a:avLst/>
          </a:prstGeom>
          <a:solidFill>
            <a:srgbClr val="C0392B"/>
          </a:solidFill>
          <a:ln/>
        </p:spPr>
      </p:sp>
      <p:sp>
        <p:nvSpPr>
          <p:cNvPr id="53" name="Text 51"/>
          <p:cNvSpPr/>
          <p:nvPr/>
        </p:nvSpPr>
        <p:spPr>
          <a:xfrm>
            <a:off x="3886200" y="3337560"/>
            <a:ext cx="1188720" cy="256032"/>
          </a:xfrm>
          <a:prstGeom prst="rect">
            <a:avLst/>
          </a:prstGeom>
          <a:noFill/>
          <a:ln/>
        </p:spPr>
        <p:txBody>
          <a:bodyPr wrap="square" lIns="0" tIns="0" rIns="0" bIns="0" rtlCol="0" anchor="ctr"/>
          <a:lstStyle/>
          <a:p>
            <a:pPr marL="0" indent="0">
              <a:buNone/>
            </a:pPr>
            <a:r>
              <a:rPr lang="en-US" sz="1100" b="1" dirty="0">
                <a:solidFill>
                  <a:srgbClr val="2C1810"/>
                </a:solidFill>
                <a:latin typeface="Ubuntu" panose="020B0504030602030204" pitchFamily="34" charset="0"/>
                <a:ea typeface="Georgia" pitchFamily="34" charset="-122"/>
                <a:cs typeface="Georgia" pitchFamily="34" charset="-120"/>
              </a:rPr>
              <a:t>5. Scoring:</a:t>
            </a:r>
            <a:endParaRPr lang="en-US" sz="1100" dirty="0">
              <a:latin typeface="Ubuntu" panose="020B0504030602030204" pitchFamily="34" charset="0"/>
            </a:endParaRPr>
          </a:p>
        </p:txBody>
      </p:sp>
      <p:sp>
        <p:nvSpPr>
          <p:cNvPr id="54" name="Text 52"/>
          <p:cNvSpPr/>
          <p:nvPr/>
        </p:nvSpPr>
        <p:spPr>
          <a:xfrm>
            <a:off x="5074920" y="3337560"/>
            <a:ext cx="3749040" cy="256032"/>
          </a:xfrm>
          <a:prstGeom prst="rect">
            <a:avLst/>
          </a:prstGeom>
          <a:noFill/>
          <a:ln/>
        </p:spPr>
        <p:txBody>
          <a:bodyPr wrap="square" lIns="0" tIns="0" rIns="0" bIns="0" rtlCol="0" anchor="ctr"/>
          <a:lstStyle/>
          <a:p>
            <a:pPr marL="0" indent="0">
              <a:buNone/>
            </a:pPr>
            <a:r>
              <a:rPr lang="en-US" sz="1100" dirty="0">
                <a:solidFill>
                  <a:srgbClr val="5D4037"/>
                </a:solidFill>
                <a:latin typeface="Ubuntu" panose="020B0504030602030204" pitchFamily="34" charset="0"/>
                <a:ea typeface="Calibri" pitchFamily="34" charset="-122"/>
                <a:cs typeface="Calibri" pitchFamily="34" charset="-120"/>
              </a:rPr>
              <a:t>Each recipe gets an AI score (0-100%)</a:t>
            </a:r>
            <a:endParaRPr lang="en-US" sz="1100" dirty="0">
              <a:latin typeface="Ubuntu" panose="020B0504030602030204" pitchFamily="34" charset="0"/>
            </a:endParaRPr>
          </a:p>
        </p:txBody>
      </p:sp>
      <p:sp>
        <p:nvSpPr>
          <p:cNvPr id="55" name="Shape 53"/>
          <p:cNvSpPr/>
          <p:nvPr/>
        </p:nvSpPr>
        <p:spPr>
          <a:xfrm>
            <a:off x="3657600" y="3867912"/>
            <a:ext cx="182880" cy="182880"/>
          </a:xfrm>
          <a:prstGeom prst="ellipse">
            <a:avLst/>
          </a:prstGeom>
          <a:solidFill>
            <a:srgbClr val="C0392B"/>
          </a:solidFill>
          <a:ln/>
        </p:spPr>
      </p:sp>
      <p:sp>
        <p:nvSpPr>
          <p:cNvPr id="56" name="Text 54"/>
          <p:cNvSpPr/>
          <p:nvPr/>
        </p:nvSpPr>
        <p:spPr>
          <a:xfrm>
            <a:off x="3886200" y="3840480"/>
            <a:ext cx="1188720" cy="256032"/>
          </a:xfrm>
          <a:prstGeom prst="rect">
            <a:avLst/>
          </a:prstGeom>
          <a:noFill/>
          <a:ln/>
        </p:spPr>
        <p:txBody>
          <a:bodyPr wrap="square" lIns="0" tIns="0" rIns="0" bIns="0" rtlCol="0" anchor="ctr"/>
          <a:lstStyle/>
          <a:p>
            <a:pPr marL="0" indent="0">
              <a:buNone/>
            </a:pPr>
            <a:r>
              <a:rPr lang="en-US" sz="1100" b="1" dirty="0">
                <a:solidFill>
                  <a:srgbClr val="2C1810"/>
                </a:solidFill>
                <a:latin typeface="Ubuntu" panose="020B0504030602030204" pitchFamily="34" charset="0"/>
                <a:ea typeface="Georgia" pitchFamily="34" charset="-122"/>
                <a:cs typeface="Georgia" pitchFamily="34" charset="-120"/>
              </a:rPr>
              <a:t>6. Sorting:</a:t>
            </a:r>
            <a:endParaRPr lang="en-US" sz="1100" dirty="0">
              <a:latin typeface="Ubuntu" panose="020B0504030602030204" pitchFamily="34" charset="0"/>
            </a:endParaRPr>
          </a:p>
        </p:txBody>
      </p:sp>
      <p:sp>
        <p:nvSpPr>
          <p:cNvPr id="57" name="Text 55"/>
          <p:cNvSpPr/>
          <p:nvPr/>
        </p:nvSpPr>
        <p:spPr>
          <a:xfrm>
            <a:off x="5074920" y="3840480"/>
            <a:ext cx="3749040" cy="256032"/>
          </a:xfrm>
          <a:prstGeom prst="rect">
            <a:avLst/>
          </a:prstGeom>
          <a:noFill/>
          <a:ln/>
        </p:spPr>
        <p:txBody>
          <a:bodyPr wrap="square" lIns="0" tIns="0" rIns="0" bIns="0" rtlCol="0" anchor="ctr"/>
          <a:lstStyle/>
          <a:p>
            <a:pPr marL="0" indent="0">
              <a:buNone/>
            </a:pPr>
            <a:r>
              <a:rPr lang="en-US" sz="1100" dirty="0">
                <a:solidFill>
                  <a:srgbClr val="5D4037"/>
                </a:solidFill>
                <a:latin typeface="Ubuntu" panose="020B0504030602030204" pitchFamily="34" charset="0"/>
                <a:ea typeface="Calibri" pitchFamily="34" charset="-122"/>
                <a:cs typeface="Calibri" pitchFamily="34" charset="-120"/>
              </a:rPr>
              <a:t>Results sorted by score descending</a:t>
            </a:r>
            <a:endParaRPr lang="en-US" sz="1100" dirty="0">
              <a:latin typeface="Ubuntu" panose="020B0504030602030204" pitchFamily="34" charset="0"/>
            </a:endParaRPr>
          </a:p>
        </p:txBody>
      </p:sp>
      <p:sp>
        <p:nvSpPr>
          <p:cNvPr id="58" name="Shape 56"/>
          <p:cNvSpPr/>
          <p:nvPr/>
        </p:nvSpPr>
        <p:spPr>
          <a:xfrm>
            <a:off x="3657600" y="4370832"/>
            <a:ext cx="182880" cy="182880"/>
          </a:xfrm>
          <a:prstGeom prst="ellipse">
            <a:avLst/>
          </a:prstGeom>
          <a:solidFill>
            <a:srgbClr val="C0392B"/>
          </a:solidFill>
          <a:ln/>
        </p:spPr>
      </p:sp>
      <p:sp>
        <p:nvSpPr>
          <p:cNvPr id="59" name="Text 57"/>
          <p:cNvSpPr/>
          <p:nvPr/>
        </p:nvSpPr>
        <p:spPr>
          <a:xfrm>
            <a:off x="3886200" y="4343400"/>
            <a:ext cx="1188720" cy="256032"/>
          </a:xfrm>
          <a:prstGeom prst="rect">
            <a:avLst/>
          </a:prstGeom>
          <a:noFill/>
          <a:ln/>
        </p:spPr>
        <p:txBody>
          <a:bodyPr wrap="square" lIns="0" tIns="0" rIns="0" bIns="0" rtlCol="0" anchor="ctr"/>
          <a:lstStyle/>
          <a:p>
            <a:pPr marL="0" indent="0">
              <a:buNone/>
            </a:pPr>
            <a:r>
              <a:rPr lang="en-US" sz="1100" b="1" dirty="0">
                <a:solidFill>
                  <a:srgbClr val="2C1810"/>
                </a:solidFill>
                <a:latin typeface="Ubuntu" panose="020B0504030602030204" pitchFamily="34" charset="0"/>
                <a:ea typeface="Georgia" pitchFamily="34" charset="-122"/>
                <a:cs typeface="Georgia" pitchFamily="34" charset="-120"/>
              </a:rPr>
              <a:t>7. Display:</a:t>
            </a:r>
            <a:endParaRPr lang="en-US" sz="1100" dirty="0">
              <a:latin typeface="Ubuntu" panose="020B0504030602030204" pitchFamily="34" charset="0"/>
            </a:endParaRPr>
          </a:p>
        </p:txBody>
      </p:sp>
      <p:sp>
        <p:nvSpPr>
          <p:cNvPr id="60" name="Text 58"/>
          <p:cNvSpPr/>
          <p:nvPr/>
        </p:nvSpPr>
        <p:spPr>
          <a:xfrm>
            <a:off x="5074920" y="4343400"/>
            <a:ext cx="3749040" cy="256032"/>
          </a:xfrm>
          <a:prstGeom prst="rect">
            <a:avLst/>
          </a:prstGeom>
          <a:noFill/>
          <a:ln/>
        </p:spPr>
        <p:txBody>
          <a:bodyPr wrap="square" lIns="0" tIns="0" rIns="0" bIns="0" rtlCol="0" anchor="ctr"/>
          <a:lstStyle/>
          <a:p>
            <a:pPr marL="0" indent="0">
              <a:buNone/>
            </a:pPr>
            <a:r>
              <a:rPr lang="en-US" sz="1100" dirty="0">
                <a:solidFill>
                  <a:srgbClr val="5D4037"/>
                </a:solidFill>
                <a:latin typeface="Ubuntu" panose="020B0504030602030204" pitchFamily="34" charset="0"/>
                <a:ea typeface="Calibri" pitchFamily="34" charset="-122"/>
                <a:cs typeface="Calibri" pitchFamily="34" charset="-120"/>
              </a:rPr>
              <a:t>Recipe cards shown with match percentage</a:t>
            </a:r>
            <a:endParaRPr lang="en-US" sz="1100" dirty="0">
              <a:latin typeface="Ubuntu" panose="020B0504030602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C0392B"/>
          </a:solidFill>
          <a:ln/>
        </p:spPr>
      </p:sp>
      <p:sp>
        <p:nvSpPr>
          <p:cNvPr id="3" name="Shape 1"/>
          <p:cNvSpPr/>
          <p:nvPr/>
        </p:nvSpPr>
        <p:spPr>
          <a:xfrm>
            <a:off x="0" y="0"/>
            <a:ext cx="457200" cy="777240"/>
          </a:xfrm>
          <a:prstGeom prst="rect">
            <a:avLst/>
          </a:prstGeom>
          <a:solidFill>
            <a:srgbClr val="C0392B"/>
          </a:solidFill>
          <a:ln/>
        </p:spPr>
      </p:sp>
      <p:sp>
        <p:nvSpPr>
          <p:cNvPr id="4" name="Text 2"/>
          <p:cNvSpPr/>
          <p:nvPr/>
        </p:nvSpPr>
        <p:spPr>
          <a:xfrm>
            <a:off x="548640" y="0"/>
            <a:ext cx="7315200" cy="777240"/>
          </a:xfrm>
          <a:prstGeom prst="rect">
            <a:avLst/>
          </a:prstGeom>
          <a:noFill/>
          <a:ln/>
        </p:spPr>
        <p:txBody>
          <a:bodyPr wrap="square" lIns="0" tIns="0" rIns="0" bIns="0" rtlCol="0" anchor="ctr"/>
          <a:lstStyle/>
          <a:p>
            <a:pPr marL="0" indent="0" algn="l">
              <a:buNone/>
            </a:pPr>
            <a:r>
              <a:rPr lang="en-US" sz="2200" b="1" dirty="0">
                <a:solidFill>
                  <a:srgbClr val="FFFFFF"/>
                </a:solidFill>
                <a:latin typeface="Ubuntu" panose="020B0504030602030204" pitchFamily="34" charset="0"/>
                <a:ea typeface="Georgia" pitchFamily="34" charset="-122"/>
                <a:cs typeface="Georgia" pitchFamily="34" charset="-120"/>
              </a:rPr>
              <a:t> Part 2 : Main Functions Used</a:t>
            </a:r>
            <a:endParaRPr lang="en-US" sz="2200" dirty="0">
              <a:latin typeface="Ubuntu" panose="020B0504030602030204" pitchFamily="34" charset="0"/>
            </a:endParaRPr>
          </a:p>
        </p:txBody>
      </p:sp>
      <p:sp>
        <p:nvSpPr>
          <p:cNvPr id="6" name="Shape 4"/>
          <p:cNvSpPr/>
          <p:nvPr/>
        </p:nvSpPr>
        <p:spPr>
          <a:xfrm>
            <a:off x="182880" y="896112"/>
            <a:ext cx="4251960" cy="1280160"/>
          </a:xfrm>
          <a:prstGeom prst="rect">
            <a:avLst/>
          </a:prstGeom>
          <a:solidFill>
            <a:srgbClr val="FFFFFF">
              <a:alpha val="7000"/>
            </a:srgbClr>
          </a:solidFill>
          <a:ln w="12700">
            <a:solidFill>
              <a:srgbClr val="C0392B"/>
            </a:solidFill>
            <a:prstDash val="solid"/>
          </a:ln>
          <a:effectLst>
            <a:outerShdw blurRad="101600" dist="38100" dir="8100000" algn="bl" rotWithShape="0">
              <a:srgbClr val="000000">
                <a:alpha val="15000"/>
              </a:srgbClr>
            </a:outerShdw>
          </a:effectLst>
        </p:spPr>
      </p:sp>
      <p:sp>
        <p:nvSpPr>
          <p:cNvPr id="7" name="Shape 5"/>
          <p:cNvSpPr/>
          <p:nvPr/>
        </p:nvSpPr>
        <p:spPr>
          <a:xfrm>
            <a:off x="182880" y="896112"/>
            <a:ext cx="4251960" cy="347472"/>
          </a:xfrm>
          <a:prstGeom prst="rect">
            <a:avLst/>
          </a:prstGeom>
          <a:solidFill>
            <a:srgbClr val="C0392B">
              <a:alpha val="80000"/>
            </a:srgbClr>
          </a:solidFill>
          <a:ln/>
        </p:spPr>
      </p:sp>
      <p:sp>
        <p:nvSpPr>
          <p:cNvPr id="8" name="Text 6"/>
          <p:cNvSpPr/>
          <p:nvPr/>
        </p:nvSpPr>
        <p:spPr>
          <a:xfrm>
            <a:off x="256032" y="932688"/>
            <a:ext cx="3200400" cy="274320"/>
          </a:xfrm>
          <a:prstGeom prst="rect">
            <a:avLst/>
          </a:prstGeom>
          <a:noFill/>
          <a:ln/>
        </p:spPr>
        <p:txBody>
          <a:bodyPr wrap="square" lIns="0" tIns="0" rIns="0" bIns="0" rtlCol="0" anchor="ctr"/>
          <a:lstStyle/>
          <a:p>
            <a:pPr marL="0" indent="0">
              <a:buNone/>
            </a:pPr>
            <a:r>
              <a:rPr lang="en-US" sz="1150" b="1" dirty="0">
                <a:solidFill>
                  <a:srgbClr val="FFFFFF"/>
                </a:solidFill>
                <a:latin typeface="Ubuntu" panose="020B0504030602030204" pitchFamily="34" charset="0"/>
                <a:ea typeface="Consolas" pitchFamily="34" charset="-122"/>
                <a:cs typeface="Consolas" pitchFamily="34" charset="-120"/>
              </a:rPr>
              <a:t>⚙️ normalize(text)</a:t>
            </a:r>
            <a:endParaRPr lang="en-US" sz="1150" dirty="0">
              <a:latin typeface="Ubuntu" panose="020B0504030602030204" pitchFamily="34" charset="0"/>
            </a:endParaRPr>
          </a:p>
        </p:txBody>
      </p:sp>
      <p:sp>
        <p:nvSpPr>
          <p:cNvPr id="10" name="Text 8"/>
          <p:cNvSpPr/>
          <p:nvPr/>
        </p:nvSpPr>
        <p:spPr>
          <a:xfrm>
            <a:off x="256032" y="1298448"/>
            <a:ext cx="4096512" cy="457200"/>
          </a:xfrm>
          <a:prstGeom prst="rect">
            <a:avLst/>
          </a:prstGeom>
          <a:noFill/>
          <a:ln/>
        </p:spPr>
        <p:txBody>
          <a:bodyPr wrap="square" lIns="0" tIns="0" rIns="0" bIns="0" rtlCol="0" anchor="ctr"/>
          <a:lstStyle/>
          <a:p>
            <a:pPr marL="0" indent="0">
              <a:buNone/>
            </a:pPr>
            <a:r>
              <a:rPr lang="en-US" sz="1000" dirty="0">
                <a:latin typeface="Ubuntu" panose="020B0504030602030204" pitchFamily="34" charset="0"/>
                <a:ea typeface="Calibri" pitchFamily="34" charset="-122"/>
                <a:cs typeface="Calibri" pitchFamily="34" charset="-120"/>
              </a:rPr>
              <a:t>Normalizes Arabic/English text by lowercasing and replacing similar Arabic chars (أإآ→ا, ةه→ه)</a:t>
            </a:r>
            <a:endParaRPr lang="en-US" sz="1000" dirty="0">
              <a:latin typeface="Ubuntu" panose="020B0504030602030204" pitchFamily="34" charset="0"/>
            </a:endParaRPr>
          </a:p>
        </p:txBody>
      </p:sp>
      <p:sp>
        <p:nvSpPr>
          <p:cNvPr id="13" name="Shape 11"/>
          <p:cNvSpPr/>
          <p:nvPr/>
        </p:nvSpPr>
        <p:spPr>
          <a:xfrm>
            <a:off x="4663440" y="896112"/>
            <a:ext cx="4251960" cy="1280160"/>
          </a:xfrm>
          <a:prstGeom prst="rect">
            <a:avLst/>
          </a:prstGeom>
          <a:solidFill>
            <a:srgbClr val="FFFFFF">
              <a:alpha val="7000"/>
            </a:srgbClr>
          </a:solidFill>
          <a:ln w="12700">
            <a:solidFill>
              <a:srgbClr val="D4A017"/>
            </a:solidFill>
            <a:prstDash val="solid"/>
          </a:ln>
          <a:effectLst>
            <a:outerShdw blurRad="101600" dist="38100" dir="8100000" algn="bl" rotWithShape="0">
              <a:srgbClr val="000000">
                <a:alpha val="15000"/>
              </a:srgbClr>
            </a:outerShdw>
          </a:effectLst>
        </p:spPr>
      </p:sp>
      <p:sp>
        <p:nvSpPr>
          <p:cNvPr id="14" name="Shape 12"/>
          <p:cNvSpPr/>
          <p:nvPr/>
        </p:nvSpPr>
        <p:spPr>
          <a:xfrm>
            <a:off x="4663440" y="896112"/>
            <a:ext cx="4251960" cy="347472"/>
          </a:xfrm>
          <a:prstGeom prst="rect">
            <a:avLst/>
          </a:prstGeom>
          <a:solidFill>
            <a:srgbClr val="D4A017">
              <a:alpha val="80000"/>
            </a:srgbClr>
          </a:solidFill>
          <a:ln/>
        </p:spPr>
      </p:sp>
      <p:sp>
        <p:nvSpPr>
          <p:cNvPr id="15" name="Text 13"/>
          <p:cNvSpPr/>
          <p:nvPr/>
        </p:nvSpPr>
        <p:spPr>
          <a:xfrm>
            <a:off x="4736592" y="932688"/>
            <a:ext cx="3200400" cy="274320"/>
          </a:xfrm>
          <a:prstGeom prst="rect">
            <a:avLst/>
          </a:prstGeom>
          <a:noFill/>
          <a:ln/>
        </p:spPr>
        <p:txBody>
          <a:bodyPr wrap="square" lIns="0" tIns="0" rIns="0" bIns="0" rtlCol="0" anchor="ctr"/>
          <a:lstStyle/>
          <a:p>
            <a:pPr marL="0" indent="0">
              <a:buNone/>
            </a:pPr>
            <a:r>
              <a:rPr lang="en-US" sz="1150" b="1" dirty="0">
                <a:solidFill>
                  <a:srgbClr val="FFFFFF"/>
                </a:solidFill>
                <a:latin typeface="Ubuntu" panose="020B0504030602030204" pitchFamily="34" charset="0"/>
                <a:ea typeface="Consolas" pitchFamily="34" charset="-122"/>
                <a:cs typeface="Consolas" pitchFamily="34" charset="-120"/>
              </a:rPr>
              <a:t>⚙️ simple_match_score()</a:t>
            </a:r>
            <a:endParaRPr lang="en-US" sz="1150" dirty="0">
              <a:latin typeface="Ubuntu" panose="020B0504030602030204" pitchFamily="34" charset="0"/>
            </a:endParaRPr>
          </a:p>
        </p:txBody>
      </p:sp>
      <p:sp>
        <p:nvSpPr>
          <p:cNvPr id="16" name="Text 14"/>
          <p:cNvSpPr/>
          <p:nvPr/>
        </p:nvSpPr>
        <p:spPr>
          <a:xfrm>
            <a:off x="7863840" y="950976"/>
            <a:ext cx="960120" cy="228600"/>
          </a:xfrm>
          <a:prstGeom prst="rect">
            <a:avLst/>
          </a:prstGeom>
          <a:noFill/>
          <a:ln/>
        </p:spPr>
        <p:txBody>
          <a:bodyPr wrap="square" lIns="0" tIns="0" rIns="0" bIns="0" rtlCol="0" anchor="ctr"/>
          <a:lstStyle/>
          <a:p>
            <a:pPr marL="0" indent="0" algn="r">
              <a:buNone/>
            </a:pPr>
            <a:r>
              <a:rPr lang="en-US" sz="900" i="1" dirty="0">
                <a:solidFill>
                  <a:srgbClr val="CCBBAA"/>
                </a:solidFill>
                <a:latin typeface="Ubuntu" panose="020B0504030602030204" pitchFamily="34" charset="0"/>
                <a:ea typeface="Calibri" pitchFamily="34" charset="-122"/>
                <a:cs typeface="Calibri" pitchFamily="34" charset="-120"/>
              </a:rPr>
              <a:t>ai_engine.py</a:t>
            </a:r>
            <a:endParaRPr lang="en-US" sz="900" dirty="0">
              <a:latin typeface="Ubuntu" panose="020B0504030602030204" pitchFamily="34" charset="0"/>
            </a:endParaRPr>
          </a:p>
        </p:txBody>
      </p:sp>
      <p:sp>
        <p:nvSpPr>
          <p:cNvPr id="17" name="Text 15"/>
          <p:cNvSpPr/>
          <p:nvPr/>
        </p:nvSpPr>
        <p:spPr>
          <a:xfrm>
            <a:off x="4736592" y="1298448"/>
            <a:ext cx="4096512" cy="457200"/>
          </a:xfrm>
          <a:prstGeom prst="rect">
            <a:avLst/>
          </a:prstGeom>
          <a:noFill/>
          <a:ln/>
        </p:spPr>
        <p:txBody>
          <a:bodyPr wrap="square" lIns="0" tIns="0" rIns="0" bIns="0" rtlCol="0" anchor="ctr"/>
          <a:lstStyle/>
          <a:p>
            <a:pPr marL="0" indent="0">
              <a:buNone/>
            </a:pPr>
            <a:r>
              <a:rPr lang="en-US" sz="1000" dirty="0">
                <a:latin typeface="Ubuntu" panose="020B0504030602030204" pitchFamily="34" charset="0"/>
                <a:ea typeface="Calibri" pitchFamily="34" charset="-122"/>
                <a:cs typeface="Calibri" pitchFamily="34" charset="-120"/>
              </a:rPr>
              <a:t>Calculates simple match between user ingredients and recipe ingredients with partial matching</a:t>
            </a:r>
            <a:endParaRPr lang="en-US" sz="1000" dirty="0">
              <a:latin typeface="Ubuntu" panose="020B0504030602030204" pitchFamily="34" charset="0"/>
            </a:endParaRPr>
          </a:p>
        </p:txBody>
      </p:sp>
      <p:sp>
        <p:nvSpPr>
          <p:cNvPr id="20" name="Shape 18"/>
          <p:cNvSpPr/>
          <p:nvPr/>
        </p:nvSpPr>
        <p:spPr>
          <a:xfrm>
            <a:off x="182880" y="2313432"/>
            <a:ext cx="4251960" cy="1280160"/>
          </a:xfrm>
          <a:prstGeom prst="rect">
            <a:avLst/>
          </a:prstGeom>
          <a:solidFill>
            <a:srgbClr val="FFFFFF">
              <a:alpha val="7000"/>
            </a:srgbClr>
          </a:solidFill>
          <a:ln w="12700">
            <a:solidFill>
              <a:srgbClr val="7B2D8B"/>
            </a:solidFill>
            <a:prstDash val="solid"/>
          </a:ln>
          <a:effectLst>
            <a:outerShdw blurRad="101600" dist="38100" dir="8100000" algn="bl" rotWithShape="0">
              <a:srgbClr val="000000">
                <a:alpha val="15000"/>
              </a:srgbClr>
            </a:outerShdw>
          </a:effectLst>
        </p:spPr>
      </p:sp>
      <p:sp>
        <p:nvSpPr>
          <p:cNvPr id="21" name="Shape 19"/>
          <p:cNvSpPr/>
          <p:nvPr/>
        </p:nvSpPr>
        <p:spPr>
          <a:xfrm>
            <a:off x="182880" y="2313432"/>
            <a:ext cx="4251960" cy="347472"/>
          </a:xfrm>
          <a:prstGeom prst="rect">
            <a:avLst/>
          </a:prstGeom>
          <a:solidFill>
            <a:srgbClr val="7B2D8B">
              <a:alpha val="80000"/>
            </a:srgbClr>
          </a:solidFill>
          <a:ln/>
        </p:spPr>
      </p:sp>
      <p:sp>
        <p:nvSpPr>
          <p:cNvPr id="22" name="Text 20"/>
          <p:cNvSpPr/>
          <p:nvPr/>
        </p:nvSpPr>
        <p:spPr>
          <a:xfrm>
            <a:off x="256032" y="2350008"/>
            <a:ext cx="3200400" cy="274320"/>
          </a:xfrm>
          <a:prstGeom prst="rect">
            <a:avLst/>
          </a:prstGeom>
          <a:noFill/>
          <a:ln/>
        </p:spPr>
        <p:txBody>
          <a:bodyPr wrap="square" lIns="0" tIns="0" rIns="0" bIns="0" rtlCol="0" anchor="ctr"/>
          <a:lstStyle/>
          <a:p>
            <a:pPr marL="0" indent="0">
              <a:buNone/>
            </a:pPr>
            <a:r>
              <a:rPr lang="en-US" sz="1150" b="1" dirty="0">
                <a:solidFill>
                  <a:srgbClr val="FFFFFF"/>
                </a:solidFill>
                <a:latin typeface="Ubuntu" panose="020B0504030602030204" pitchFamily="34" charset="0"/>
                <a:ea typeface="Consolas" pitchFamily="34" charset="-122"/>
                <a:cs typeface="Consolas" pitchFamily="34" charset="-120"/>
              </a:rPr>
              <a:t>⚙️ tfidf_similarity()</a:t>
            </a:r>
            <a:endParaRPr lang="en-US" sz="1150" dirty="0">
              <a:latin typeface="Ubuntu" panose="020B0504030602030204" pitchFamily="34" charset="0"/>
            </a:endParaRPr>
          </a:p>
        </p:txBody>
      </p:sp>
      <p:sp>
        <p:nvSpPr>
          <p:cNvPr id="24" name="Text 22"/>
          <p:cNvSpPr/>
          <p:nvPr/>
        </p:nvSpPr>
        <p:spPr>
          <a:xfrm>
            <a:off x="256032" y="2715768"/>
            <a:ext cx="4096512" cy="457200"/>
          </a:xfrm>
          <a:prstGeom prst="rect">
            <a:avLst/>
          </a:prstGeom>
          <a:noFill/>
          <a:ln/>
        </p:spPr>
        <p:txBody>
          <a:bodyPr wrap="square" lIns="0" tIns="0" rIns="0" bIns="0" rtlCol="0" anchor="ctr"/>
          <a:lstStyle/>
          <a:p>
            <a:pPr marL="0" indent="0">
              <a:buNone/>
            </a:pPr>
            <a:r>
              <a:rPr lang="en-US" sz="1000" dirty="0">
                <a:latin typeface="Ubuntu" panose="020B0504030602030204" pitchFamily="34" charset="0"/>
                <a:ea typeface="Calibri" pitchFamily="34" charset="-122"/>
                <a:cs typeface="Calibri" pitchFamily="34" charset="-120"/>
              </a:rPr>
              <a:t>Builds TF-IDF vectors for both ingredient lists and computes cosine similarity score</a:t>
            </a:r>
            <a:endParaRPr lang="en-US" sz="1000" dirty="0">
              <a:latin typeface="Ubuntu" panose="020B0504030602030204" pitchFamily="34" charset="0"/>
            </a:endParaRPr>
          </a:p>
        </p:txBody>
      </p:sp>
      <p:sp>
        <p:nvSpPr>
          <p:cNvPr id="27" name="Shape 25"/>
          <p:cNvSpPr/>
          <p:nvPr/>
        </p:nvSpPr>
        <p:spPr>
          <a:xfrm>
            <a:off x="4663440" y="2313432"/>
            <a:ext cx="4251960" cy="1280160"/>
          </a:xfrm>
          <a:prstGeom prst="rect">
            <a:avLst/>
          </a:prstGeom>
          <a:solidFill>
            <a:srgbClr val="FFFFFF">
              <a:alpha val="7000"/>
            </a:srgbClr>
          </a:solidFill>
          <a:ln w="12700">
            <a:solidFill>
              <a:srgbClr val="1A6B3C"/>
            </a:solidFill>
            <a:prstDash val="solid"/>
          </a:ln>
          <a:effectLst>
            <a:outerShdw blurRad="101600" dist="38100" dir="8100000" algn="bl" rotWithShape="0">
              <a:srgbClr val="000000">
                <a:alpha val="15000"/>
              </a:srgbClr>
            </a:outerShdw>
          </a:effectLst>
        </p:spPr>
      </p:sp>
      <p:sp>
        <p:nvSpPr>
          <p:cNvPr id="28" name="Shape 26"/>
          <p:cNvSpPr/>
          <p:nvPr/>
        </p:nvSpPr>
        <p:spPr>
          <a:xfrm>
            <a:off x="4663440" y="2313432"/>
            <a:ext cx="4251960" cy="347472"/>
          </a:xfrm>
          <a:prstGeom prst="rect">
            <a:avLst/>
          </a:prstGeom>
          <a:solidFill>
            <a:srgbClr val="1A6B3C">
              <a:alpha val="80000"/>
            </a:srgbClr>
          </a:solidFill>
          <a:ln/>
        </p:spPr>
      </p:sp>
      <p:sp>
        <p:nvSpPr>
          <p:cNvPr id="29" name="Text 27"/>
          <p:cNvSpPr/>
          <p:nvPr/>
        </p:nvSpPr>
        <p:spPr>
          <a:xfrm>
            <a:off x="4736592" y="2350008"/>
            <a:ext cx="3200400" cy="274320"/>
          </a:xfrm>
          <a:prstGeom prst="rect">
            <a:avLst/>
          </a:prstGeom>
          <a:noFill/>
          <a:ln/>
        </p:spPr>
        <p:txBody>
          <a:bodyPr wrap="square" lIns="0" tIns="0" rIns="0" bIns="0" rtlCol="0" anchor="ctr"/>
          <a:lstStyle/>
          <a:p>
            <a:pPr marL="0" indent="0">
              <a:buNone/>
            </a:pPr>
            <a:r>
              <a:rPr lang="en-US" sz="1150" b="1" dirty="0">
                <a:solidFill>
                  <a:srgbClr val="FFFFFF"/>
                </a:solidFill>
                <a:latin typeface="Ubuntu" panose="020B0504030602030204" pitchFamily="34" charset="0"/>
                <a:ea typeface="Consolas" pitchFamily="34" charset="-122"/>
                <a:cs typeface="Consolas" pitchFamily="34" charset="-120"/>
              </a:rPr>
              <a:t>⚙️ ai_recommend()</a:t>
            </a:r>
            <a:endParaRPr lang="en-US" sz="1150" dirty="0">
              <a:latin typeface="Ubuntu" panose="020B0504030602030204" pitchFamily="34" charset="0"/>
            </a:endParaRPr>
          </a:p>
        </p:txBody>
      </p:sp>
      <p:sp>
        <p:nvSpPr>
          <p:cNvPr id="31" name="Text 29"/>
          <p:cNvSpPr/>
          <p:nvPr/>
        </p:nvSpPr>
        <p:spPr>
          <a:xfrm>
            <a:off x="4736592" y="2715768"/>
            <a:ext cx="4096512" cy="457200"/>
          </a:xfrm>
          <a:prstGeom prst="rect">
            <a:avLst/>
          </a:prstGeom>
          <a:noFill/>
          <a:ln/>
        </p:spPr>
        <p:txBody>
          <a:bodyPr wrap="square" lIns="0" tIns="0" rIns="0" bIns="0" rtlCol="0" anchor="ctr"/>
          <a:lstStyle/>
          <a:p>
            <a:pPr marL="0" indent="0">
              <a:buNone/>
            </a:pPr>
            <a:r>
              <a:rPr lang="en-US" sz="1000" dirty="0">
                <a:latin typeface="Ubuntu" panose="020B0504030602030204" pitchFamily="34" charset="0"/>
                <a:ea typeface="Calibri" pitchFamily="34" charset="-122"/>
                <a:cs typeface="Calibri" pitchFamily="34" charset="-120"/>
              </a:rPr>
              <a:t>Main AI engine: combines all levels, queries DB, scores all recipes and returns sorted top-N</a:t>
            </a:r>
            <a:endParaRPr lang="en-US" sz="1000" dirty="0">
              <a:latin typeface="Ubuntu" panose="020B0504030602030204" pitchFamily="34" charset="0"/>
            </a:endParaRPr>
          </a:p>
        </p:txBody>
      </p:sp>
      <p:sp>
        <p:nvSpPr>
          <p:cNvPr id="34" name="Shape 32"/>
          <p:cNvSpPr/>
          <p:nvPr/>
        </p:nvSpPr>
        <p:spPr>
          <a:xfrm>
            <a:off x="182880" y="3730752"/>
            <a:ext cx="4251960" cy="1280160"/>
          </a:xfrm>
          <a:prstGeom prst="rect">
            <a:avLst/>
          </a:prstGeom>
          <a:solidFill>
            <a:srgbClr val="FFFFFF">
              <a:alpha val="7000"/>
            </a:srgbClr>
          </a:solidFill>
          <a:ln w="12700">
            <a:solidFill>
              <a:srgbClr val="15618A"/>
            </a:solidFill>
            <a:prstDash val="solid"/>
          </a:ln>
          <a:effectLst>
            <a:outerShdw blurRad="101600" dist="38100" dir="8100000" algn="bl" rotWithShape="0">
              <a:srgbClr val="000000">
                <a:alpha val="15000"/>
              </a:srgbClr>
            </a:outerShdw>
          </a:effectLst>
        </p:spPr>
      </p:sp>
      <p:sp>
        <p:nvSpPr>
          <p:cNvPr id="35" name="Shape 33"/>
          <p:cNvSpPr/>
          <p:nvPr/>
        </p:nvSpPr>
        <p:spPr>
          <a:xfrm>
            <a:off x="182880" y="3730752"/>
            <a:ext cx="4251960" cy="347472"/>
          </a:xfrm>
          <a:prstGeom prst="rect">
            <a:avLst/>
          </a:prstGeom>
          <a:solidFill>
            <a:srgbClr val="15618A">
              <a:alpha val="80000"/>
            </a:srgbClr>
          </a:solidFill>
          <a:ln/>
        </p:spPr>
      </p:sp>
      <p:sp>
        <p:nvSpPr>
          <p:cNvPr id="36" name="Text 34"/>
          <p:cNvSpPr/>
          <p:nvPr/>
        </p:nvSpPr>
        <p:spPr>
          <a:xfrm>
            <a:off x="256032" y="3767328"/>
            <a:ext cx="3200400" cy="274320"/>
          </a:xfrm>
          <a:prstGeom prst="rect">
            <a:avLst/>
          </a:prstGeom>
          <a:noFill/>
          <a:ln/>
        </p:spPr>
        <p:txBody>
          <a:bodyPr wrap="square" lIns="0" tIns="0" rIns="0" bIns="0" rtlCol="0" anchor="ctr"/>
          <a:lstStyle/>
          <a:p>
            <a:pPr marL="0" indent="0">
              <a:buNone/>
            </a:pPr>
            <a:r>
              <a:rPr lang="en-US" sz="1150" b="1" dirty="0">
                <a:solidFill>
                  <a:srgbClr val="FFFFFF"/>
                </a:solidFill>
                <a:latin typeface="Ubuntu" panose="020B0504030602030204" pitchFamily="34" charset="0"/>
                <a:ea typeface="Consolas" pitchFamily="34" charset="-122"/>
                <a:cs typeface="Consolas" pitchFamily="34" charset="-120"/>
              </a:rPr>
              <a:t>⚙️ import_csv()</a:t>
            </a:r>
            <a:endParaRPr lang="en-US" sz="1150" dirty="0">
              <a:latin typeface="Ubuntu" panose="020B0504030602030204" pitchFamily="34" charset="0"/>
            </a:endParaRPr>
          </a:p>
        </p:txBody>
      </p:sp>
      <p:sp>
        <p:nvSpPr>
          <p:cNvPr id="38" name="Text 36"/>
          <p:cNvSpPr/>
          <p:nvPr/>
        </p:nvSpPr>
        <p:spPr>
          <a:xfrm>
            <a:off x="256032" y="4133088"/>
            <a:ext cx="4096512" cy="457200"/>
          </a:xfrm>
          <a:prstGeom prst="rect">
            <a:avLst/>
          </a:prstGeom>
          <a:noFill/>
          <a:ln/>
        </p:spPr>
        <p:txBody>
          <a:bodyPr wrap="square" lIns="0" tIns="0" rIns="0" bIns="0" rtlCol="0" anchor="ctr"/>
          <a:lstStyle/>
          <a:p>
            <a:pPr marL="0" indent="0">
              <a:buNone/>
            </a:pPr>
            <a:r>
              <a:rPr lang="en-US" sz="1000" dirty="0">
                <a:latin typeface="Ubuntu" panose="020B0504030602030204" pitchFamily="34" charset="0"/>
                <a:ea typeface="Calibri" pitchFamily="34" charset="-122"/>
                <a:cs typeface="Calibri" pitchFamily="34" charset="-120"/>
              </a:rPr>
              <a:t>Reads uploaded CSV, detects encoding/separator, imports recipes + ingredients to MySQL</a:t>
            </a:r>
            <a:endParaRPr lang="en-US" sz="1000" dirty="0">
              <a:latin typeface="Ubuntu" panose="020B0504030602030204" pitchFamily="34" charset="0"/>
            </a:endParaRPr>
          </a:p>
        </p:txBody>
      </p:sp>
      <p:sp>
        <p:nvSpPr>
          <p:cNvPr id="41" name="Shape 39"/>
          <p:cNvSpPr/>
          <p:nvPr/>
        </p:nvSpPr>
        <p:spPr>
          <a:xfrm>
            <a:off x="4663440" y="3730752"/>
            <a:ext cx="4251960" cy="1280160"/>
          </a:xfrm>
          <a:prstGeom prst="rect">
            <a:avLst/>
          </a:prstGeom>
          <a:solidFill>
            <a:srgbClr val="FFFFFF">
              <a:alpha val="7000"/>
            </a:srgbClr>
          </a:solidFill>
          <a:ln w="12700">
            <a:solidFill>
              <a:srgbClr val="E67E22"/>
            </a:solidFill>
            <a:prstDash val="solid"/>
          </a:ln>
          <a:effectLst>
            <a:outerShdw blurRad="101600" dist="38100" dir="8100000" algn="bl" rotWithShape="0">
              <a:srgbClr val="000000">
                <a:alpha val="15000"/>
              </a:srgbClr>
            </a:outerShdw>
          </a:effectLst>
        </p:spPr>
      </p:sp>
      <p:sp>
        <p:nvSpPr>
          <p:cNvPr id="42" name="Shape 40"/>
          <p:cNvSpPr/>
          <p:nvPr/>
        </p:nvSpPr>
        <p:spPr>
          <a:xfrm>
            <a:off x="4663440" y="3730752"/>
            <a:ext cx="4251960" cy="347472"/>
          </a:xfrm>
          <a:prstGeom prst="rect">
            <a:avLst/>
          </a:prstGeom>
          <a:solidFill>
            <a:srgbClr val="E67E22">
              <a:alpha val="80000"/>
            </a:srgbClr>
          </a:solidFill>
          <a:ln/>
        </p:spPr>
      </p:sp>
      <p:sp>
        <p:nvSpPr>
          <p:cNvPr id="43" name="Text 41"/>
          <p:cNvSpPr/>
          <p:nvPr/>
        </p:nvSpPr>
        <p:spPr>
          <a:xfrm>
            <a:off x="4736592" y="3767328"/>
            <a:ext cx="3200400" cy="274320"/>
          </a:xfrm>
          <a:prstGeom prst="rect">
            <a:avLst/>
          </a:prstGeom>
          <a:noFill/>
          <a:ln/>
        </p:spPr>
        <p:txBody>
          <a:bodyPr wrap="square" lIns="0" tIns="0" rIns="0" bIns="0" rtlCol="0" anchor="ctr"/>
          <a:lstStyle/>
          <a:p>
            <a:pPr marL="0" indent="0">
              <a:buNone/>
            </a:pPr>
            <a:r>
              <a:rPr lang="en-US" sz="1150" b="1" dirty="0">
                <a:solidFill>
                  <a:srgbClr val="FFFFFF"/>
                </a:solidFill>
                <a:latin typeface="Ubuntu" panose="020B0504030602030204" pitchFamily="34" charset="0"/>
                <a:ea typeface="Consolas" pitchFamily="34" charset="-122"/>
                <a:cs typeface="Consolas" pitchFamily="34" charset="-120"/>
              </a:rPr>
              <a:t>⚙️ hash_password() / verify_password()</a:t>
            </a:r>
            <a:endParaRPr lang="en-US" sz="1150" dirty="0">
              <a:latin typeface="Ubuntu" panose="020B0504030602030204" pitchFamily="34" charset="0"/>
            </a:endParaRPr>
          </a:p>
        </p:txBody>
      </p:sp>
      <p:sp>
        <p:nvSpPr>
          <p:cNvPr id="45" name="Text 43"/>
          <p:cNvSpPr/>
          <p:nvPr/>
        </p:nvSpPr>
        <p:spPr>
          <a:xfrm>
            <a:off x="4736592" y="4133088"/>
            <a:ext cx="4096512" cy="457200"/>
          </a:xfrm>
          <a:prstGeom prst="rect">
            <a:avLst/>
          </a:prstGeom>
          <a:noFill/>
          <a:ln/>
        </p:spPr>
        <p:txBody>
          <a:bodyPr wrap="square" lIns="0" tIns="0" rIns="0" bIns="0" rtlCol="0" anchor="ctr"/>
          <a:lstStyle/>
          <a:p>
            <a:pPr marL="0" indent="0">
              <a:buNone/>
            </a:pPr>
            <a:r>
              <a:rPr lang="en-US" sz="1000" dirty="0">
                <a:latin typeface="Ubuntu" panose="020B0504030602030204" pitchFamily="34" charset="0"/>
                <a:ea typeface="Calibri" pitchFamily="34" charset="-122"/>
                <a:cs typeface="Calibri" pitchFamily="34" charset="-120"/>
              </a:rPr>
              <a:t>bcrypt-based password hashing and verification with 12 rounds for secure authentication</a:t>
            </a:r>
            <a:endParaRPr lang="en-US" sz="1000" dirty="0">
              <a:latin typeface="Ubuntu" panose="020B050403060203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C0392B"/>
          </a:solidFill>
          <a:ln/>
        </p:spPr>
      </p:sp>
      <p:sp>
        <p:nvSpPr>
          <p:cNvPr id="3" name="Shape 1"/>
          <p:cNvSpPr/>
          <p:nvPr/>
        </p:nvSpPr>
        <p:spPr>
          <a:xfrm>
            <a:off x="0" y="0"/>
            <a:ext cx="457200" cy="777240"/>
          </a:xfrm>
          <a:prstGeom prst="rect">
            <a:avLst/>
          </a:prstGeom>
          <a:solidFill>
            <a:srgbClr val="C0392B"/>
          </a:solidFill>
          <a:ln/>
        </p:spPr>
      </p:sp>
      <p:sp>
        <p:nvSpPr>
          <p:cNvPr id="4" name="Text 2"/>
          <p:cNvSpPr/>
          <p:nvPr/>
        </p:nvSpPr>
        <p:spPr>
          <a:xfrm>
            <a:off x="548640" y="0"/>
            <a:ext cx="7315200" cy="777240"/>
          </a:xfrm>
          <a:prstGeom prst="rect">
            <a:avLst/>
          </a:prstGeom>
          <a:noFill/>
          <a:ln/>
        </p:spPr>
        <p:txBody>
          <a:bodyPr wrap="square" lIns="0" tIns="0" rIns="0" bIns="0" rtlCol="0" anchor="ctr"/>
          <a:lstStyle/>
          <a:p>
            <a:pPr marL="0" indent="0" algn="l">
              <a:buNone/>
            </a:pPr>
            <a:r>
              <a:rPr lang="en-US" sz="2200" b="1" dirty="0">
                <a:solidFill>
                  <a:srgbClr val="FFFFFF"/>
                </a:solidFill>
                <a:latin typeface="Ubuntu" panose="020B0504030602030204" pitchFamily="34" charset="0"/>
                <a:ea typeface="Georgia" pitchFamily="34" charset="-122"/>
                <a:cs typeface="Georgia" pitchFamily="34" charset="-120"/>
              </a:rPr>
              <a:t>Part 3 : Source Code Structure</a:t>
            </a:r>
            <a:endParaRPr lang="en-US" sz="2200" dirty="0">
              <a:latin typeface="Ubuntu" panose="020B0504030602030204" pitchFamily="34" charset="0"/>
            </a:endParaRPr>
          </a:p>
        </p:txBody>
      </p:sp>
      <p:sp>
        <p:nvSpPr>
          <p:cNvPr id="6" name="Shape 4"/>
          <p:cNvSpPr/>
          <p:nvPr/>
        </p:nvSpPr>
        <p:spPr>
          <a:xfrm>
            <a:off x="228600" y="868680"/>
            <a:ext cx="3657600" cy="4160520"/>
          </a:xfrm>
          <a:prstGeom prst="rect">
            <a:avLst/>
          </a:prstGeom>
          <a:solidFill>
            <a:srgbClr val="FFFFFF"/>
          </a:solidFill>
          <a:ln/>
          <a:effectLst>
            <a:outerShdw blurRad="101600" dist="38100" dir="8100000" algn="bl" rotWithShape="0">
              <a:srgbClr val="000000">
                <a:alpha val="15000"/>
              </a:srgbClr>
            </a:outerShdw>
          </a:effectLst>
        </p:spPr>
      </p:sp>
      <p:sp>
        <p:nvSpPr>
          <p:cNvPr id="7" name="Shape 5"/>
          <p:cNvSpPr/>
          <p:nvPr/>
        </p:nvSpPr>
        <p:spPr>
          <a:xfrm>
            <a:off x="228600" y="868680"/>
            <a:ext cx="3657600" cy="384048"/>
          </a:xfrm>
          <a:prstGeom prst="rect">
            <a:avLst/>
          </a:prstGeom>
          <a:solidFill>
            <a:srgbClr val="2C1810"/>
          </a:solidFill>
          <a:ln/>
        </p:spPr>
      </p:sp>
      <p:sp>
        <p:nvSpPr>
          <p:cNvPr id="8" name="Text 6"/>
          <p:cNvSpPr/>
          <p:nvPr/>
        </p:nvSpPr>
        <p:spPr>
          <a:xfrm>
            <a:off x="228600" y="868680"/>
            <a:ext cx="3657600" cy="384048"/>
          </a:xfrm>
          <a:prstGeom prst="rect">
            <a:avLst/>
          </a:prstGeom>
          <a:noFill/>
          <a:ln/>
        </p:spPr>
        <p:txBody>
          <a:bodyPr wrap="square" lIns="0" tIns="0" rIns="0" bIns="0" rtlCol="0" anchor="ctr"/>
          <a:lstStyle/>
          <a:p>
            <a:pPr marL="0" indent="0" algn="ctr">
              <a:buNone/>
            </a:pPr>
            <a:r>
              <a:rPr lang="en-US" sz="1300" b="1" dirty="0">
                <a:solidFill>
                  <a:srgbClr val="D4A017"/>
                </a:solidFill>
                <a:latin typeface="Ubuntu" panose="020B0504030602030204" pitchFamily="34" charset="0"/>
                <a:ea typeface="Georgia" pitchFamily="34" charset="-122"/>
                <a:cs typeface="Georgia" pitchFamily="34" charset="-120"/>
              </a:rPr>
              <a:t>📁 Project Structure</a:t>
            </a:r>
            <a:endParaRPr lang="en-US" sz="1300" dirty="0">
              <a:latin typeface="Ubuntu" panose="020B0504030602030204" pitchFamily="34" charset="0"/>
            </a:endParaRPr>
          </a:p>
        </p:txBody>
      </p:sp>
      <p:sp>
        <p:nvSpPr>
          <p:cNvPr id="9" name="Text 7"/>
          <p:cNvSpPr/>
          <p:nvPr/>
        </p:nvSpPr>
        <p:spPr>
          <a:xfrm>
            <a:off x="320040" y="1325880"/>
            <a:ext cx="3474720" cy="3566160"/>
          </a:xfrm>
          <a:prstGeom prst="rect">
            <a:avLst/>
          </a:prstGeom>
          <a:noFill/>
          <a:ln/>
        </p:spPr>
        <p:txBody>
          <a:bodyPr wrap="square" lIns="0" tIns="0" rIns="0" bIns="0" rtlCol="0" anchor="ctr"/>
          <a:lstStyle/>
          <a:p>
            <a:pPr marL="0" indent="0">
              <a:buNone/>
            </a:pPr>
            <a:r>
              <a:rPr lang="en-US" sz="900" dirty="0">
                <a:solidFill>
                  <a:srgbClr val="5D4037"/>
                </a:solidFill>
                <a:latin typeface="Ubuntu" panose="020B0504030602030204" pitchFamily="34" charset="0"/>
                <a:ea typeface="Consolas" pitchFamily="34" charset="-122"/>
                <a:cs typeface="Consolas" pitchFamily="34" charset="-120"/>
              </a:rPr>
              <a:t>sha-ntieb/</a:t>
            </a:r>
            <a:endParaRPr lang="en-US" sz="900" dirty="0">
              <a:latin typeface="Ubuntu" panose="020B0504030602030204" pitchFamily="34" charset="0"/>
            </a:endParaRPr>
          </a:p>
          <a:p>
            <a:pPr marL="0" indent="0">
              <a:buNone/>
            </a:pPr>
            <a:r>
              <a:rPr lang="en-US" sz="900" dirty="0">
                <a:solidFill>
                  <a:srgbClr val="5D4037"/>
                </a:solidFill>
                <a:latin typeface="Ubuntu" panose="020B0504030602030204" pitchFamily="34" charset="0"/>
                <a:ea typeface="Consolas" pitchFamily="34" charset="-122"/>
                <a:cs typeface="Consolas" pitchFamily="34" charset="-120"/>
              </a:rPr>
              <a:t>├── 📁 backend/</a:t>
            </a:r>
            <a:endParaRPr lang="en-US" sz="900" dirty="0">
              <a:latin typeface="Ubuntu" panose="020B0504030602030204" pitchFamily="34" charset="0"/>
            </a:endParaRPr>
          </a:p>
          <a:p>
            <a:pPr marL="0" indent="0">
              <a:buNone/>
            </a:pPr>
            <a:r>
              <a:rPr lang="en-US" sz="900" dirty="0">
                <a:solidFill>
                  <a:srgbClr val="5D4037"/>
                </a:solidFill>
                <a:latin typeface="Ubuntu" panose="020B0504030602030204" pitchFamily="34" charset="0"/>
                <a:ea typeface="Consolas" pitchFamily="34" charset="-122"/>
                <a:cs typeface="Consolas" pitchFamily="34" charset="-120"/>
              </a:rPr>
              <a:t>│   ├── app/</a:t>
            </a:r>
            <a:endParaRPr lang="en-US" sz="900" dirty="0">
              <a:latin typeface="Ubuntu" panose="020B0504030602030204" pitchFamily="34" charset="0"/>
            </a:endParaRPr>
          </a:p>
          <a:p>
            <a:pPr marL="0" indent="0">
              <a:buNone/>
            </a:pPr>
            <a:r>
              <a:rPr lang="en-US" sz="900" dirty="0">
                <a:solidFill>
                  <a:srgbClr val="5D4037"/>
                </a:solidFill>
                <a:latin typeface="Ubuntu" panose="020B0504030602030204" pitchFamily="34" charset="0"/>
                <a:ea typeface="Consolas" pitchFamily="34" charset="-122"/>
                <a:cs typeface="Consolas" pitchFamily="34" charset="-120"/>
              </a:rPr>
              <a:t>│   │   ├── api/routes/</a:t>
            </a:r>
            <a:endParaRPr lang="en-US" sz="900" dirty="0">
              <a:latin typeface="Ubuntu" panose="020B0504030602030204" pitchFamily="34" charset="0"/>
            </a:endParaRPr>
          </a:p>
          <a:p>
            <a:pPr marL="0" indent="0">
              <a:buNone/>
            </a:pPr>
            <a:r>
              <a:rPr lang="en-US" sz="900" dirty="0">
                <a:solidFill>
                  <a:srgbClr val="5D4037"/>
                </a:solidFill>
                <a:latin typeface="Ubuntu" panose="020B0504030602030204" pitchFamily="34" charset="0"/>
                <a:ea typeface="Consolas" pitchFamily="34" charset="-122"/>
                <a:cs typeface="Consolas" pitchFamily="34" charset="-120"/>
              </a:rPr>
              <a:t>│   │   │   ├── auth.py</a:t>
            </a:r>
            <a:endParaRPr lang="en-US" sz="900" dirty="0">
              <a:latin typeface="Ubuntu" panose="020B0504030602030204" pitchFamily="34" charset="0"/>
            </a:endParaRPr>
          </a:p>
          <a:p>
            <a:pPr marL="0" indent="0">
              <a:buNone/>
            </a:pPr>
            <a:r>
              <a:rPr lang="en-US" sz="900" dirty="0">
                <a:solidFill>
                  <a:srgbClr val="5D4037"/>
                </a:solidFill>
                <a:latin typeface="Ubuntu" panose="020B0504030602030204" pitchFamily="34" charset="0"/>
                <a:ea typeface="Consolas" pitchFamily="34" charset="-122"/>
                <a:cs typeface="Consolas" pitchFamily="34" charset="-120"/>
              </a:rPr>
              <a:t>│   │   │   ├── recipes.py</a:t>
            </a:r>
            <a:endParaRPr lang="en-US" sz="900" dirty="0">
              <a:latin typeface="Ubuntu" panose="020B0504030602030204" pitchFamily="34" charset="0"/>
            </a:endParaRPr>
          </a:p>
          <a:p>
            <a:pPr marL="0" indent="0">
              <a:buNone/>
            </a:pPr>
            <a:r>
              <a:rPr lang="en-US" sz="900" dirty="0">
                <a:solidFill>
                  <a:srgbClr val="5D4037"/>
                </a:solidFill>
                <a:latin typeface="Ubuntu" panose="020B0504030602030204" pitchFamily="34" charset="0"/>
                <a:ea typeface="Consolas" pitchFamily="34" charset="-122"/>
                <a:cs typeface="Consolas" pitchFamily="34" charset="-120"/>
              </a:rPr>
              <a:t>│   │   │   └── admin.py</a:t>
            </a:r>
            <a:endParaRPr lang="en-US" sz="900" dirty="0">
              <a:latin typeface="Ubuntu" panose="020B0504030602030204" pitchFamily="34" charset="0"/>
            </a:endParaRPr>
          </a:p>
          <a:p>
            <a:pPr marL="0" indent="0">
              <a:buNone/>
            </a:pPr>
            <a:r>
              <a:rPr lang="en-US" sz="900" dirty="0">
                <a:solidFill>
                  <a:srgbClr val="5D4037"/>
                </a:solidFill>
                <a:latin typeface="Ubuntu" panose="020B0504030602030204" pitchFamily="34" charset="0"/>
                <a:ea typeface="Consolas" pitchFamily="34" charset="-122"/>
                <a:cs typeface="Consolas" pitchFamily="34" charset="-120"/>
              </a:rPr>
              <a:t>│   │   ├── core/</a:t>
            </a:r>
            <a:endParaRPr lang="en-US" sz="900" dirty="0">
              <a:latin typeface="Ubuntu" panose="020B0504030602030204" pitchFamily="34" charset="0"/>
            </a:endParaRPr>
          </a:p>
          <a:p>
            <a:pPr marL="0" indent="0">
              <a:buNone/>
            </a:pPr>
            <a:r>
              <a:rPr lang="en-US" sz="900" dirty="0">
                <a:solidFill>
                  <a:srgbClr val="5D4037"/>
                </a:solidFill>
                <a:latin typeface="Ubuntu" panose="020B0504030602030204" pitchFamily="34" charset="0"/>
                <a:ea typeface="Consolas" pitchFamily="34" charset="-122"/>
                <a:cs typeface="Consolas" pitchFamily="34" charset="-120"/>
              </a:rPr>
              <a:t>│   │   │   ├── config.py</a:t>
            </a:r>
            <a:endParaRPr lang="en-US" sz="900" dirty="0">
              <a:latin typeface="Ubuntu" panose="020B0504030602030204" pitchFamily="34" charset="0"/>
            </a:endParaRPr>
          </a:p>
          <a:p>
            <a:pPr marL="0" indent="0">
              <a:buNone/>
            </a:pPr>
            <a:r>
              <a:rPr lang="en-US" sz="900" dirty="0">
                <a:solidFill>
                  <a:srgbClr val="5D4037"/>
                </a:solidFill>
                <a:latin typeface="Ubuntu" panose="020B0504030602030204" pitchFamily="34" charset="0"/>
                <a:ea typeface="Consolas" pitchFamily="34" charset="-122"/>
                <a:cs typeface="Consolas" pitchFamily="34" charset="-120"/>
              </a:rPr>
              <a:t>│   │   │   ├── database.py</a:t>
            </a:r>
            <a:endParaRPr lang="en-US" sz="900" dirty="0">
              <a:latin typeface="Ubuntu" panose="020B0504030602030204" pitchFamily="34" charset="0"/>
            </a:endParaRPr>
          </a:p>
          <a:p>
            <a:pPr marL="0" indent="0">
              <a:buNone/>
            </a:pPr>
            <a:r>
              <a:rPr lang="en-US" sz="900" dirty="0">
                <a:solidFill>
                  <a:srgbClr val="5D4037"/>
                </a:solidFill>
                <a:latin typeface="Ubuntu" panose="020B0504030602030204" pitchFamily="34" charset="0"/>
                <a:ea typeface="Consolas" pitchFamily="34" charset="-122"/>
                <a:cs typeface="Consolas" pitchFamily="34" charset="-120"/>
              </a:rPr>
              <a:t>│   │   │   └── security.py</a:t>
            </a:r>
            <a:endParaRPr lang="en-US" sz="900" dirty="0">
              <a:latin typeface="Ubuntu" panose="020B0504030602030204" pitchFamily="34" charset="0"/>
            </a:endParaRPr>
          </a:p>
          <a:p>
            <a:pPr marL="0" indent="0">
              <a:buNone/>
            </a:pPr>
            <a:r>
              <a:rPr lang="en-US" sz="900" dirty="0">
                <a:solidFill>
                  <a:srgbClr val="5D4037"/>
                </a:solidFill>
                <a:latin typeface="Ubuntu" panose="020B0504030602030204" pitchFamily="34" charset="0"/>
                <a:ea typeface="Consolas" pitchFamily="34" charset="-122"/>
                <a:cs typeface="Consolas" pitchFamily="34" charset="-120"/>
              </a:rPr>
              <a:t>│   │   ├── models/</a:t>
            </a:r>
            <a:endParaRPr lang="en-US" sz="900" dirty="0">
              <a:latin typeface="Ubuntu" panose="020B0504030602030204" pitchFamily="34" charset="0"/>
            </a:endParaRPr>
          </a:p>
          <a:p>
            <a:pPr marL="0" indent="0">
              <a:buNone/>
            </a:pPr>
            <a:r>
              <a:rPr lang="en-US" sz="900" dirty="0">
                <a:solidFill>
                  <a:srgbClr val="5D4037"/>
                </a:solidFill>
                <a:latin typeface="Ubuntu" panose="020B0504030602030204" pitchFamily="34" charset="0"/>
                <a:ea typeface="Consolas" pitchFamily="34" charset="-122"/>
                <a:cs typeface="Consolas" pitchFamily="34" charset="-120"/>
              </a:rPr>
              <a:t>│   │   ├── schemas/</a:t>
            </a:r>
            <a:endParaRPr lang="en-US" sz="900" dirty="0">
              <a:latin typeface="Ubuntu" panose="020B0504030602030204" pitchFamily="34" charset="0"/>
            </a:endParaRPr>
          </a:p>
          <a:p>
            <a:pPr marL="0" indent="0">
              <a:buNone/>
            </a:pPr>
            <a:r>
              <a:rPr lang="en-US" sz="900" dirty="0">
                <a:solidFill>
                  <a:srgbClr val="5D4037"/>
                </a:solidFill>
                <a:latin typeface="Ubuntu" panose="020B0504030602030204" pitchFamily="34" charset="0"/>
                <a:ea typeface="Consolas" pitchFamily="34" charset="-122"/>
                <a:cs typeface="Consolas" pitchFamily="34" charset="-120"/>
              </a:rPr>
              <a:t>│   │   ├── services/</a:t>
            </a:r>
            <a:endParaRPr lang="en-US" sz="900" dirty="0">
              <a:latin typeface="Ubuntu" panose="020B0504030602030204" pitchFamily="34" charset="0"/>
            </a:endParaRPr>
          </a:p>
          <a:p>
            <a:pPr marL="0" indent="0">
              <a:buNone/>
            </a:pPr>
            <a:r>
              <a:rPr lang="en-US" sz="900" dirty="0">
                <a:solidFill>
                  <a:srgbClr val="5D4037"/>
                </a:solidFill>
                <a:latin typeface="Ubuntu" panose="020B0504030602030204" pitchFamily="34" charset="0"/>
                <a:ea typeface="Consolas" pitchFamily="34" charset="-122"/>
                <a:cs typeface="Consolas" pitchFamily="34" charset="-120"/>
              </a:rPr>
              <a:t>│   │   │   └── ai_engine.py</a:t>
            </a:r>
            <a:endParaRPr lang="en-US" sz="900" dirty="0">
              <a:latin typeface="Ubuntu" panose="020B0504030602030204" pitchFamily="34" charset="0"/>
            </a:endParaRPr>
          </a:p>
          <a:p>
            <a:pPr marL="0" indent="0">
              <a:buNone/>
            </a:pPr>
            <a:r>
              <a:rPr lang="en-US" sz="900" dirty="0">
                <a:solidFill>
                  <a:srgbClr val="5D4037"/>
                </a:solidFill>
                <a:latin typeface="Ubuntu" panose="020B0504030602030204" pitchFamily="34" charset="0"/>
                <a:ea typeface="Consolas" pitchFamily="34" charset="-122"/>
                <a:cs typeface="Consolas" pitchFamily="34" charset="-120"/>
              </a:rPr>
              <a:t>│   │   └── main.py</a:t>
            </a:r>
            <a:endParaRPr lang="en-US" sz="900" dirty="0">
              <a:latin typeface="Ubuntu" panose="020B0504030602030204" pitchFamily="34" charset="0"/>
            </a:endParaRPr>
          </a:p>
          <a:p>
            <a:pPr marL="0" indent="0">
              <a:buNone/>
            </a:pPr>
            <a:r>
              <a:rPr lang="en-US" sz="900" dirty="0">
                <a:solidFill>
                  <a:srgbClr val="5D4037"/>
                </a:solidFill>
                <a:latin typeface="Ubuntu" panose="020B0504030602030204" pitchFamily="34" charset="0"/>
                <a:ea typeface="Consolas" pitchFamily="34" charset="-122"/>
                <a:cs typeface="Consolas" pitchFamily="34" charset="-120"/>
              </a:rPr>
              <a:t>│   └── requirements.txt</a:t>
            </a:r>
            <a:endParaRPr lang="en-US" sz="900" dirty="0">
              <a:latin typeface="Ubuntu" panose="020B0504030602030204" pitchFamily="34" charset="0"/>
            </a:endParaRPr>
          </a:p>
          <a:p>
            <a:pPr marL="0" indent="0">
              <a:buNone/>
            </a:pPr>
            <a:r>
              <a:rPr lang="en-US" sz="900" dirty="0">
                <a:solidFill>
                  <a:srgbClr val="5D4037"/>
                </a:solidFill>
                <a:latin typeface="Ubuntu" panose="020B0504030602030204" pitchFamily="34" charset="0"/>
                <a:ea typeface="Consolas" pitchFamily="34" charset="-122"/>
                <a:cs typeface="Consolas" pitchFamily="34" charset="-120"/>
              </a:rPr>
              <a:t>├── 📁 frontend/src/</a:t>
            </a:r>
            <a:endParaRPr lang="en-US" sz="900" dirty="0">
              <a:latin typeface="Ubuntu" panose="020B0504030602030204" pitchFamily="34" charset="0"/>
            </a:endParaRPr>
          </a:p>
          <a:p>
            <a:pPr marL="0" indent="0">
              <a:buNone/>
            </a:pPr>
            <a:r>
              <a:rPr lang="en-US" sz="900" dirty="0">
                <a:solidFill>
                  <a:srgbClr val="5D4037"/>
                </a:solidFill>
                <a:latin typeface="Ubuntu" panose="020B0504030602030204" pitchFamily="34" charset="0"/>
                <a:ea typeface="Consolas" pitchFamily="34" charset="-122"/>
                <a:cs typeface="Consolas" pitchFamily="34" charset="-120"/>
              </a:rPr>
              <a:t>└── recipes.csv</a:t>
            </a:r>
            <a:endParaRPr lang="en-US" sz="900" dirty="0">
              <a:latin typeface="Ubuntu" panose="020B0504030602030204" pitchFamily="34" charset="0"/>
            </a:endParaRPr>
          </a:p>
        </p:txBody>
      </p:sp>
      <p:sp>
        <p:nvSpPr>
          <p:cNvPr id="10" name="Shape 8"/>
          <p:cNvSpPr/>
          <p:nvPr/>
        </p:nvSpPr>
        <p:spPr>
          <a:xfrm>
            <a:off x="4069080" y="868680"/>
            <a:ext cx="4846320" cy="1920240"/>
          </a:xfrm>
          <a:prstGeom prst="rect">
            <a:avLst/>
          </a:prstGeom>
          <a:solidFill>
            <a:srgbClr val="FFFFFF"/>
          </a:solidFill>
          <a:ln/>
          <a:effectLst>
            <a:outerShdw blurRad="101600" dist="38100" dir="8100000" algn="bl" rotWithShape="0">
              <a:srgbClr val="000000">
                <a:alpha val="15000"/>
              </a:srgbClr>
            </a:outerShdw>
          </a:effectLst>
        </p:spPr>
      </p:sp>
      <p:sp>
        <p:nvSpPr>
          <p:cNvPr id="11" name="Shape 9"/>
          <p:cNvSpPr/>
          <p:nvPr/>
        </p:nvSpPr>
        <p:spPr>
          <a:xfrm>
            <a:off x="4069080" y="868680"/>
            <a:ext cx="4846320" cy="384048"/>
          </a:xfrm>
          <a:prstGeom prst="rect">
            <a:avLst/>
          </a:prstGeom>
          <a:solidFill>
            <a:srgbClr val="1A6B3C"/>
          </a:solidFill>
          <a:ln/>
        </p:spPr>
      </p:sp>
      <p:sp>
        <p:nvSpPr>
          <p:cNvPr id="12" name="Text 10"/>
          <p:cNvSpPr/>
          <p:nvPr/>
        </p:nvSpPr>
        <p:spPr>
          <a:xfrm>
            <a:off x="4069080" y="868680"/>
            <a:ext cx="48463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Ubuntu" panose="020B0504030602030204" pitchFamily="34" charset="0"/>
                <a:ea typeface="Georgia" pitchFamily="34" charset="-122"/>
                <a:cs typeface="Georgia" pitchFamily="34" charset="-120"/>
              </a:rPr>
              <a:t>📦 Libraries Used</a:t>
            </a:r>
            <a:endParaRPr lang="en-US" sz="1300" dirty="0">
              <a:latin typeface="Ubuntu" panose="020B0504030602030204" pitchFamily="34" charset="0"/>
            </a:endParaRPr>
          </a:p>
        </p:txBody>
      </p:sp>
      <p:sp>
        <p:nvSpPr>
          <p:cNvPr id="13" name="Text 11"/>
          <p:cNvSpPr/>
          <p:nvPr/>
        </p:nvSpPr>
        <p:spPr>
          <a:xfrm>
            <a:off x="4206240" y="1353312"/>
            <a:ext cx="1188720" cy="256032"/>
          </a:xfrm>
          <a:prstGeom prst="rect">
            <a:avLst/>
          </a:prstGeom>
          <a:noFill/>
          <a:ln/>
        </p:spPr>
        <p:txBody>
          <a:bodyPr wrap="square" lIns="0" tIns="0" rIns="0" bIns="0" rtlCol="0" anchor="ctr"/>
          <a:lstStyle/>
          <a:p>
            <a:pPr marL="0" indent="0">
              <a:buNone/>
            </a:pPr>
            <a:r>
              <a:rPr lang="en-US" sz="1000" b="1" dirty="0">
                <a:solidFill>
                  <a:srgbClr val="1A6B3C"/>
                </a:solidFill>
                <a:latin typeface="Ubuntu" panose="020B0504030602030204" pitchFamily="34" charset="0"/>
                <a:ea typeface="Consolas" pitchFamily="34" charset="-122"/>
                <a:cs typeface="Consolas" pitchFamily="34" charset="-120"/>
              </a:rPr>
              <a:t>📌 FastAPI:</a:t>
            </a:r>
            <a:endParaRPr lang="en-US" sz="1000" dirty="0">
              <a:latin typeface="Ubuntu" panose="020B0504030602030204" pitchFamily="34" charset="0"/>
            </a:endParaRPr>
          </a:p>
        </p:txBody>
      </p:sp>
      <p:sp>
        <p:nvSpPr>
          <p:cNvPr id="14" name="Text 12"/>
          <p:cNvSpPr/>
          <p:nvPr/>
        </p:nvSpPr>
        <p:spPr>
          <a:xfrm>
            <a:off x="5074920" y="1367028"/>
            <a:ext cx="1463040" cy="256032"/>
          </a:xfrm>
          <a:prstGeom prst="rect">
            <a:avLst/>
          </a:prstGeom>
          <a:noFill/>
          <a:ln/>
        </p:spPr>
        <p:txBody>
          <a:bodyPr wrap="square" lIns="0" tIns="0" rIns="0" bIns="0" rtlCol="0" anchor="ctr"/>
          <a:lstStyle/>
          <a:p>
            <a:pPr marL="0" indent="0">
              <a:buNone/>
            </a:pPr>
            <a:r>
              <a:rPr lang="en-US" sz="1000" dirty="0">
                <a:solidFill>
                  <a:srgbClr val="5D4037"/>
                </a:solidFill>
                <a:latin typeface="Ubuntu" panose="020B0504030602030204" pitchFamily="34" charset="0"/>
                <a:ea typeface="Calibri" pitchFamily="34" charset="-122"/>
                <a:cs typeface="Calibri" pitchFamily="34" charset="-120"/>
              </a:rPr>
              <a:t>REST API Framework</a:t>
            </a:r>
            <a:endParaRPr lang="en-US" sz="1000" dirty="0">
              <a:latin typeface="Ubuntu" panose="020B0504030602030204" pitchFamily="34" charset="0"/>
            </a:endParaRPr>
          </a:p>
        </p:txBody>
      </p:sp>
      <p:sp>
        <p:nvSpPr>
          <p:cNvPr id="15" name="Text 13"/>
          <p:cNvSpPr/>
          <p:nvPr/>
        </p:nvSpPr>
        <p:spPr>
          <a:xfrm>
            <a:off x="6583680" y="1353312"/>
            <a:ext cx="1188720" cy="256032"/>
          </a:xfrm>
          <a:prstGeom prst="rect">
            <a:avLst/>
          </a:prstGeom>
          <a:noFill/>
          <a:ln/>
        </p:spPr>
        <p:txBody>
          <a:bodyPr wrap="square" lIns="0" tIns="0" rIns="0" bIns="0" rtlCol="0" anchor="ctr"/>
          <a:lstStyle/>
          <a:p>
            <a:pPr marL="0" indent="0">
              <a:buNone/>
            </a:pPr>
            <a:r>
              <a:rPr lang="en-US" sz="1000" b="1" dirty="0">
                <a:solidFill>
                  <a:srgbClr val="1A6B3C"/>
                </a:solidFill>
                <a:latin typeface="Ubuntu" panose="020B0504030602030204" pitchFamily="34" charset="0"/>
                <a:ea typeface="Consolas" pitchFamily="34" charset="-122"/>
                <a:cs typeface="Consolas" pitchFamily="34" charset="-120"/>
              </a:rPr>
              <a:t>📌 SQLAlchemy:</a:t>
            </a:r>
            <a:endParaRPr lang="en-US" sz="1000" dirty="0">
              <a:latin typeface="Ubuntu" panose="020B0504030602030204" pitchFamily="34" charset="0"/>
            </a:endParaRPr>
          </a:p>
        </p:txBody>
      </p:sp>
      <p:sp>
        <p:nvSpPr>
          <p:cNvPr id="16" name="Text 14"/>
          <p:cNvSpPr/>
          <p:nvPr/>
        </p:nvSpPr>
        <p:spPr>
          <a:xfrm>
            <a:off x="7772400" y="1353312"/>
            <a:ext cx="1463040" cy="256032"/>
          </a:xfrm>
          <a:prstGeom prst="rect">
            <a:avLst/>
          </a:prstGeom>
          <a:noFill/>
          <a:ln/>
        </p:spPr>
        <p:txBody>
          <a:bodyPr wrap="square" lIns="0" tIns="0" rIns="0" bIns="0" rtlCol="0" anchor="ctr"/>
          <a:lstStyle/>
          <a:p>
            <a:pPr marL="0" indent="0">
              <a:buNone/>
            </a:pPr>
            <a:r>
              <a:rPr lang="en-US" sz="1000" dirty="0">
                <a:solidFill>
                  <a:srgbClr val="5D4037"/>
                </a:solidFill>
                <a:latin typeface="Ubuntu" panose="020B0504030602030204" pitchFamily="34" charset="0"/>
                <a:ea typeface="Calibri" pitchFamily="34" charset="-122"/>
                <a:cs typeface="Calibri" pitchFamily="34" charset="-120"/>
              </a:rPr>
              <a:t>ORM for MySQL</a:t>
            </a:r>
            <a:endParaRPr lang="en-US" sz="1000" dirty="0">
              <a:latin typeface="Ubuntu" panose="020B0504030602030204" pitchFamily="34" charset="0"/>
            </a:endParaRPr>
          </a:p>
        </p:txBody>
      </p:sp>
      <p:sp>
        <p:nvSpPr>
          <p:cNvPr id="17" name="Text 15"/>
          <p:cNvSpPr/>
          <p:nvPr/>
        </p:nvSpPr>
        <p:spPr>
          <a:xfrm>
            <a:off x="4206240" y="1700784"/>
            <a:ext cx="1188720" cy="256032"/>
          </a:xfrm>
          <a:prstGeom prst="rect">
            <a:avLst/>
          </a:prstGeom>
          <a:noFill/>
          <a:ln/>
        </p:spPr>
        <p:txBody>
          <a:bodyPr wrap="square" lIns="0" tIns="0" rIns="0" bIns="0" rtlCol="0" anchor="ctr"/>
          <a:lstStyle/>
          <a:p>
            <a:pPr marL="0" indent="0">
              <a:buNone/>
            </a:pPr>
            <a:r>
              <a:rPr lang="en-US" sz="1000" b="1" dirty="0">
                <a:solidFill>
                  <a:srgbClr val="1A6B3C"/>
                </a:solidFill>
                <a:latin typeface="Ubuntu" panose="020B0504030602030204" pitchFamily="34" charset="0"/>
                <a:ea typeface="Consolas" pitchFamily="34" charset="-122"/>
                <a:cs typeface="Consolas" pitchFamily="34" charset="-120"/>
              </a:rPr>
              <a:t>📌 Pandas:</a:t>
            </a:r>
            <a:endParaRPr lang="en-US" sz="1000" dirty="0">
              <a:latin typeface="Ubuntu" panose="020B0504030602030204" pitchFamily="34" charset="0"/>
            </a:endParaRPr>
          </a:p>
        </p:txBody>
      </p:sp>
      <p:sp>
        <p:nvSpPr>
          <p:cNvPr id="18" name="Text 16"/>
          <p:cNvSpPr/>
          <p:nvPr/>
        </p:nvSpPr>
        <p:spPr>
          <a:xfrm>
            <a:off x="5074920" y="1707642"/>
            <a:ext cx="1463040" cy="256032"/>
          </a:xfrm>
          <a:prstGeom prst="rect">
            <a:avLst/>
          </a:prstGeom>
          <a:noFill/>
          <a:ln/>
        </p:spPr>
        <p:txBody>
          <a:bodyPr wrap="square" lIns="0" tIns="0" rIns="0" bIns="0" rtlCol="0" anchor="ctr"/>
          <a:lstStyle/>
          <a:p>
            <a:pPr marL="0" indent="0">
              <a:buNone/>
            </a:pPr>
            <a:r>
              <a:rPr lang="en-US" sz="1000" dirty="0">
                <a:solidFill>
                  <a:srgbClr val="5D4037"/>
                </a:solidFill>
                <a:latin typeface="Ubuntu" panose="020B0504030602030204" pitchFamily="34" charset="0"/>
                <a:ea typeface="Calibri" pitchFamily="34" charset="-122"/>
                <a:cs typeface="Calibri" pitchFamily="34" charset="-120"/>
              </a:rPr>
              <a:t>CSV Processing</a:t>
            </a:r>
            <a:endParaRPr lang="en-US" sz="1000" dirty="0">
              <a:latin typeface="Ubuntu" panose="020B0504030602030204" pitchFamily="34" charset="0"/>
            </a:endParaRPr>
          </a:p>
        </p:txBody>
      </p:sp>
      <p:sp>
        <p:nvSpPr>
          <p:cNvPr id="19" name="Text 17"/>
          <p:cNvSpPr/>
          <p:nvPr/>
        </p:nvSpPr>
        <p:spPr>
          <a:xfrm>
            <a:off x="6583680" y="1700784"/>
            <a:ext cx="1188720" cy="256032"/>
          </a:xfrm>
          <a:prstGeom prst="rect">
            <a:avLst/>
          </a:prstGeom>
          <a:noFill/>
          <a:ln/>
        </p:spPr>
        <p:txBody>
          <a:bodyPr wrap="square" lIns="0" tIns="0" rIns="0" bIns="0" rtlCol="0" anchor="ctr"/>
          <a:lstStyle/>
          <a:p>
            <a:pPr marL="0" indent="0">
              <a:buNone/>
            </a:pPr>
            <a:r>
              <a:rPr lang="en-US" sz="1000" b="1" dirty="0">
                <a:solidFill>
                  <a:srgbClr val="1A6B3C"/>
                </a:solidFill>
                <a:latin typeface="Ubuntu" panose="020B0504030602030204" pitchFamily="34" charset="0"/>
                <a:ea typeface="Consolas" pitchFamily="34" charset="-122"/>
                <a:cs typeface="Consolas" pitchFamily="34" charset="-120"/>
              </a:rPr>
              <a:t>📌 Passlib/bcrypt:</a:t>
            </a:r>
            <a:endParaRPr lang="en-US" sz="1000" dirty="0">
              <a:latin typeface="Ubuntu" panose="020B0504030602030204" pitchFamily="34" charset="0"/>
            </a:endParaRPr>
          </a:p>
        </p:txBody>
      </p:sp>
      <p:sp>
        <p:nvSpPr>
          <p:cNvPr id="20" name="Text 18"/>
          <p:cNvSpPr/>
          <p:nvPr/>
        </p:nvSpPr>
        <p:spPr>
          <a:xfrm>
            <a:off x="7772400" y="1700784"/>
            <a:ext cx="1463040" cy="256032"/>
          </a:xfrm>
          <a:prstGeom prst="rect">
            <a:avLst/>
          </a:prstGeom>
          <a:noFill/>
          <a:ln/>
        </p:spPr>
        <p:txBody>
          <a:bodyPr wrap="square" lIns="0" tIns="0" rIns="0" bIns="0" rtlCol="0" anchor="ctr"/>
          <a:lstStyle/>
          <a:p>
            <a:pPr marL="0" indent="0">
              <a:buNone/>
            </a:pPr>
            <a:r>
              <a:rPr lang="en-US" sz="1000" dirty="0">
                <a:solidFill>
                  <a:srgbClr val="5D4037"/>
                </a:solidFill>
                <a:latin typeface="Ubuntu" panose="020B0504030602030204" pitchFamily="34" charset="0"/>
                <a:ea typeface="Calibri" pitchFamily="34" charset="-122"/>
                <a:cs typeface="Calibri" pitchFamily="34" charset="-120"/>
              </a:rPr>
              <a:t>Password Hashing</a:t>
            </a:r>
            <a:endParaRPr lang="en-US" sz="1000" dirty="0">
              <a:latin typeface="Ubuntu" panose="020B0504030602030204" pitchFamily="34" charset="0"/>
            </a:endParaRPr>
          </a:p>
        </p:txBody>
      </p:sp>
      <p:sp>
        <p:nvSpPr>
          <p:cNvPr id="21" name="Text 19"/>
          <p:cNvSpPr/>
          <p:nvPr/>
        </p:nvSpPr>
        <p:spPr>
          <a:xfrm>
            <a:off x="4206240" y="2048256"/>
            <a:ext cx="1188720" cy="256032"/>
          </a:xfrm>
          <a:prstGeom prst="rect">
            <a:avLst/>
          </a:prstGeom>
          <a:noFill/>
          <a:ln/>
        </p:spPr>
        <p:txBody>
          <a:bodyPr wrap="square" lIns="0" tIns="0" rIns="0" bIns="0" rtlCol="0" anchor="ctr"/>
          <a:lstStyle/>
          <a:p>
            <a:pPr marL="0" indent="0">
              <a:buNone/>
            </a:pPr>
            <a:r>
              <a:rPr lang="en-US" sz="1000" b="1" dirty="0">
                <a:solidFill>
                  <a:srgbClr val="1A6B3C"/>
                </a:solidFill>
                <a:latin typeface="Ubuntu" panose="020B0504030602030204" pitchFamily="34" charset="0"/>
                <a:ea typeface="Consolas" pitchFamily="34" charset="-122"/>
                <a:cs typeface="Consolas" pitchFamily="34" charset="-120"/>
              </a:rPr>
              <a:t>📌 python-jose:</a:t>
            </a:r>
            <a:endParaRPr lang="en-US" sz="1000" dirty="0">
              <a:latin typeface="Ubuntu" panose="020B0504030602030204" pitchFamily="34" charset="0"/>
            </a:endParaRPr>
          </a:p>
        </p:txBody>
      </p:sp>
      <p:sp>
        <p:nvSpPr>
          <p:cNvPr id="22" name="Text 20"/>
          <p:cNvSpPr/>
          <p:nvPr/>
        </p:nvSpPr>
        <p:spPr>
          <a:xfrm>
            <a:off x="5234940" y="2061972"/>
            <a:ext cx="1463040" cy="256032"/>
          </a:xfrm>
          <a:prstGeom prst="rect">
            <a:avLst/>
          </a:prstGeom>
          <a:noFill/>
          <a:ln/>
        </p:spPr>
        <p:txBody>
          <a:bodyPr wrap="square" lIns="0" tIns="0" rIns="0" bIns="0" rtlCol="0" anchor="ctr"/>
          <a:lstStyle/>
          <a:p>
            <a:pPr marL="0" indent="0">
              <a:buNone/>
            </a:pPr>
            <a:r>
              <a:rPr lang="en-US" sz="1000" dirty="0">
                <a:solidFill>
                  <a:srgbClr val="5D4037"/>
                </a:solidFill>
                <a:latin typeface="Ubuntu" panose="020B0504030602030204" pitchFamily="34" charset="0"/>
                <a:ea typeface="Calibri" pitchFamily="34" charset="-122"/>
                <a:cs typeface="Calibri" pitchFamily="34" charset="-120"/>
              </a:rPr>
              <a:t>JWT Tokens</a:t>
            </a:r>
            <a:endParaRPr lang="en-US" sz="1000" dirty="0">
              <a:latin typeface="Ubuntu" panose="020B0504030602030204" pitchFamily="34" charset="0"/>
            </a:endParaRPr>
          </a:p>
        </p:txBody>
      </p:sp>
      <p:sp>
        <p:nvSpPr>
          <p:cNvPr id="23" name="Text 21"/>
          <p:cNvSpPr/>
          <p:nvPr/>
        </p:nvSpPr>
        <p:spPr>
          <a:xfrm>
            <a:off x="6583680" y="2048256"/>
            <a:ext cx="1188720" cy="256032"/>
          </a:xfrm>
          <a:prstGeom prst="rect">
            <a:avLst/>
          </a:prstGeom>
          <a:noFill/>
          <a:ln/>
        </p:spPr>
        <p:txBody>
          <a:bodyPr wrap="square" lIns="0" tIns="0" rIns="0" bIns="0" rtlCol="0" anchor="ctr"/>
          <a:lstStyle/>
          <a:p>
            <a:pPr marL="0" indent="0">
              <a:buNone/>
            </a:pPr>
            <a:r>
              <a:rPr lang="en-US" sz="1000" b="1" dirty="0">
                <a:solidFill>
                  <a:srgbClr val="1A6B3C"/>
                </a:solidFill>
                <a:latin typeface="Ubuntu" panose="020B0504030602030204" pitchFamily="34" charset="0"/>
                <a:ea typeface="Consolas" pitchFamily="34" charset="-122"/>
                <a:cs typeface="Consolas" pitchFamily="34" charset="-120"/>
              </a:rPr>
              <a:t>📌 pydantic:</a:t>
            </a:r>
            <a:endParaRPr lang="en-US" sz="1000" dirty="0">
              <a:latin typeface="Ubuntu" panose="020B0504030602030204" pitchFamily="34" charset="0"/>
            </a:endParaRPr>
          </a:p>
        </p:txBody>
      </p:sp>
      <p:sp>
        <p:nvSpPr>
          <p:cNvPr id="24" name="Text 22"/>
          <p:cNvSpPr/>
          <p:nvPr/>
        </p:nvSpPr>
        <p:spPr>
          <a:xfrm>
            <a:off x="7772400" y="2048256"/>
            <a:ext cx="1463040" cy="256032"/>
          </a:xfrm>
          <a:prstGeom prst="rect">
            <a:avLst/>
          </a:prstGeom>
          <a:noFill/>
          <a:ln/>
        </p:spPr>
        <p:txBody>
          <a:bodyPr wrap="square" lIns="0" tIns="0" rIns="0" bIns="0" rtlCol="0" anchor="ctr"/>
          <a:lstStyle/>
          <a:p>
            <a:pPr marL="0" indent="0">
              <a:buNone/>
            </a:pPr>
            <a:r>
              <a:rPr lang="en-US" sz="1000" dirty="0">
                <a:solidFill>
                  <a:srgbClr val="5D4037"/>
                </a:solidFill>
                <a:latin typeface="Ubuntu" panose="020B0504030602030204" pitchFamily="34" charset="0"/>
                <a:ea typeface="Calibri" pitchFamily="34" charset="-122"/>
                <a:cs typeface="Calibri" pitchFamily="34" charset="-120"/>
              </a:rPr>
              <a:t>Data Validation</a:t>
            </a:r>
            <a:endParaRPr lang="en-US" sz="1000" dirty="0">
              <a:latin typeface="Ubuntu" panose="020B0504030602030204" pitchFamily="34" charset="0"/>
            </a:endParaRPr>
          </a:p>
        </p:txBody>
      </p:sp>
      <p:sp>
        <p:nvSpPr>
          <p:cNvPr id="38" name="Shape 36"/>
          <p:cNvSpPr/>
          <p:nvPr/>
        </p:nvSpPr>
        <p:spPr>
          <a:xfrm>
            <a:off x="0" y="4796028"/>
            <a:ext cx="9144000" cy="347472"/>
          </a:xfrm>
          <a:prstGeom prst="rect">
            <a:avLst/>
          </a:prstGeom>
          <a:solidFill>
            <a:srgbClr val="2C1810">
              <a:alpha val="70000"/>
            </a:srgbClr>
          </a:solidFill>
          <a:ln/>
        </p:spPr>
      </p:sp>
      <p:sp>
        <p:nvSpPr>
          <p:cNvPr id="39" name="Text 37"/>
          <p:cNvSpPr/>
          <p:nvPr/>
        </p:nvSpPr>
        <p:spPr>
          <a:xfrm>
            <a:off x="0" y="4782312"/>
            <a:ext cx="8686800" cy="347472"/>
          </a:xfrm>
          <a:prstGeom prst="rect">
            <a:avLst/>
          </a:prstGeom>
          <a:noFill/>
          <a:ln/>
        </p:spPr>
        <p:txBody>
          <a:bodyPr wrap="square" lIns="0" tIns="0" rIns="0" bIns="0" rtlCol="0" anchor="ctr"/>
          <a:lstStyle/>
          <a:p>
            <a:pPr algn="ctr"/>
            <a:r>
              <a:rPr lang="en-US" sz="1100" b="1" dirty="0">
                <a:solidFill>
                  <a:srgbClr val="D4A017"/>
                </a:solidFill>
                <a:latin typeface="Ubuntu" panose="020B0504030602030204" pitchFamily="34" charset="0"/>
                <a:ea typeface="Calibri" pitchFamily="34" charset="-122"/>
                <a:cs typeface="Calibri" pitchFamily="34" charset="-120"/>
              </a:rPr>
              <a:t>🔗 https://github.com/feredj/sha-ntieb</a:t>
            </a:r>
            <a:endParaRPr lang="en-US" sz="1100" dirty="0">
              <a:latin typeface="Ubuntu" panose="020B050403060203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3E931-6C14-5980-93CE-DDE08AB68A4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C4B68EE-C4A6-B229-B6A8-FCD2B03DD145}"/>
              </a:ext>
            </a:extLst>
          </p:cNvPr>
          <p:cNvSpPr/>
          <p:nvPr/>
        </p:nvSpPr>
        <p:spPr>
          <a:xfrm>
            <a:off x="0" y="0"/>
            <a:ext cx="9144000" cy="777240"/>
          </a:xfrm>
          <a:prstGeom prst="rect">
            <a:avLst/>
          </a:prstGeom>
          <a:solidFill>
            <a:srgbClr val="C0392B"/>
          </a:solidFill>
          <a:ln/>
        </p:spPr>
      </p:sp>
      <p:sp>
        <p:nvSpPr>
          <p:cNvPr id="3" name="Shape 1">
            <a:extLst>
              <a:ext uri="{FF2B5EF4-FFF2-40B4-BE49-F238E27FC236}">
                <a16:creationId xmlns:a16="http://schemas.microsoft.com/office/drawing/2014/main" id="{A8D9AAB5-2A88-5EF6-A6B7-A648D73A2B4B}"/>
              </a:ext>
            </a:extLst>
          </p:cNvPr>
          <p:cNvSpPr/>
          <p:nvPr/>
        </p:nvSpPr>
        <p:spPr>
          <a:xfrm>
            <a:off x="0" y="0"/>
            <a:ext cx="457200" cy="777240"/>
          </a:xfrm>
          <a:prstGeom prst="rect">
            <a:avLst/>
          </a:prstGeom>
          <a:solidFill>
            <a:srgbClr val="C0392B"/>
          </a:solidFill>
          <a:ln/>
        </p:spPr>
      </p:sp>
      <p:sp>
        <p:nvSpPr>
          <p:cNvPr id="4" name="Text 2">
            <a:extLst>
              <a:ext uri="{FF2B5EF4-FFF2-40B4-BE49-F238E27FC236}">
                <a16:creationId xmlns:a16="http://schemas.microsoft.com/office/drawing/2014/main" id="{47799DC5-5F91-5F14-19A5-D57C189B900B}"/>
              </a:ext>
            </a:extLst>
          </p:cNvPr>
          <p:cNvSpPr/>
          <p:nvPr/>
        </p:nvSpPr>
        <p:spPr>
          <a:xfrm>
            <a:off x="548640" y="0"/>
            <a:ext cx="7315200" cy="777240"/>
          </a:xfrm>
          <a:prstGeom prst="rect">
            <a:avLst/>
          </a:prstGeom>
          <a:noFill/>
          <a:ln/>
        </p:spPr>
        <p:txBody>
          <a:bodyPr wrap="square" lIns="0" tIns="0" rIns="0" bIns="0" rtlCol="0" anchor="ctr"/>
          <a:lstStyle/>
          <a:p>
            <a:pPr marL="0" indent="0" algn="l">
              <a:buNone/>
            </a:pPr>
            <a:r>
              <a:rPr lang="en-US" sz="2200" b="1" dirty="0">
                <a:solidFill>
                  <a:srgbClr val="FFFFFF"/>
                </a:solidFill>
                <a:latin typeface="Ubuntu" panose="020B0504030602030204" pitchFamily="34" charset="0"/>
                <a:ea typeface="Georgia" pitchFamily="34" charset="-122"/>
                <a:cs typeface="Georgia" pitchFamily="34" charset="-120"/>
              </a:rPr>
              <a:t>Part 3 : Source Code Structure</a:t>
            </a:r>
            <a:endParaRPr lang="en-US" sz="2200" dirty="0">
              <a:latin typeface="Ubuntu" panose="020B0504030602030204" pitchFamily="34" charset="0"/>
            </a:endParaRPr>
          </a:p>
        </p:txBody>
      </p:sp>
      <p:sp>
        <p:nvSpPr>
          <p:cNvPr id="6" name="Shape 4">
            <a:extLst>
              <a:ext uri="{FF2B5EF4-FFF2-40B4-BE49-F238E27FC236}">
                <a16:creationId xmlns:a16="http://schemas.microsoft.com/office/drawing/2014/main" id="{CA85B51A-E6E1-5A77-F232-EBB640F19D33}"/>
              </a:ext>
            </a:extLst>
          </p:cNvPr>
          <p:cNvSpPr/>
          <p:nvPr/>
        </p:nvSpPr>
        <p:spPr>
          <a:xfrm>
            <a:off x="228599" y="868680"/>
            <a:ext cx="2296551" cy="2060029"/>
          </a:xfrm>
          <a:prstGeom prst="rect">
            <a:avLst/>
          </a:prstGeom>
          <a:solidFill>
            <a:srgbClr val="FFFFFF"/>
          </a:solidFill>
          <a:ln/>
          <a:effectLst>
            <a:outerShdw blurRad="101600" dist="38100" dir="8100000" algn="bl" rotWithShape="0">
              <a:srgbClr val="000000">
                <a:alpha val="15000"/>
              </a:srgbClr>
            </a:outerShdw>
          </a:effectLst>
        </p:spPr>
      </p:sp>
      <p:sp>
        <p:nvSpPr>
          <p:cNvPr id="7" name="Shape 5">
            <a:extLst>
              <a:ext uri="{FF2B5EF4-FFF2-40B4-BE49-F238E27FC236}">
                <a16:creationId xmlns:a16="http://schemas.microsoft.com/office/drawing/2014/main" id="{2E1BC069-CBC6-9132-D412-414717E4BFC2}"/>
              </a:ext>
            </a:extLst>
          </p:cNvPr>
          <p:cNvSpPr/>
          <p:nvPr/>
        </p:nvSpPr>
        <p:spPr>
          <a:xfrm>
            <a:off x="228599" y="868680"/>
            <a:ext cx="2296551" cy="384048"/>
          </a:xfrm>
          <a:prstGeom prst="rect">
            <a:avLst/>
          </a:prstGeom>
          <a:solidFill>
            <a:srgbClr val="00B050"/>
          </a:solidFill>
          <a:ln/>
        </p:spPr>
        <p:txBody>
          <a:bodyPr/>
          <a:lstStyle/>
          <a:p>
            <a:endParaRPr lang="en-US" dirty="0">
              <a:solidFill>
                <a:srgbClr val="00B050"/>
              </a:solidFill>
            </a:endParaRPr>
          </a:p>
        </p:txBody>
      </p:sp>
      <p:sp>
        <p:nvSpPr>
          <p:cNvPr id="8" name="Text 6">
            <a:extLst>
              <a:ext uri="{FF2B5EF4-FFF2-40B4-BE49-F238E27FC236}">
                <a16:creationId xmlns:a16="http://schemas.microsoft.com/office/drawing/2014/main" id="{F23ED901-0D30-9B94-B23E-AD9770448EB4}"/>
              </a:ext>
            </a:extLst>
          </p:cNvPr>
          <p:cNvSpPr/>
          <p:nvPr/>
        </p:nvSpPr>
        <p:spPr>
          <a:xfrm>
            <a:off x="228600" y="868680"/>
            <a:ext cx="2296550" cy="384048"/>
          </a:xfrm>
          <a:prstGeom prst="rect">
            <a:avLst/>
          </a:prstGeom>
          <a:noFill/>
          <a:ln/>
        </p:spPr>
        <p:txBody>
          <a:bodyPr wrap="square" lIns="0" tIns="0" rIns="0" bIns="0" rtlCol="0" anchor="ctr"/>
          <a:lstStyle/>
          <a:p>
            <a:pPr marL="0" indent="0" algn="ctr">
              <a:buNone/>
            </a:pPr>
            <a:r>
              <a:rPr lang="en-US" sz="1300" b="1" dirty="0">
                <a:solidFill>
                  <a:schemeClr val="bg1"/>
                </a:solidFill>
                <a:latin typeface="Ubuntu" panose="020B0504030602030204" pitchFamily="34" charset="0"/>
                <a:ea typeface="Georgia" pitchFamily="34" charset="-122"/>
                <a:cs typeface="Georgia" pitchFamily="34" charset="-120"/>
              </a:rPr>
              <a:t> Fast API</a:t>
            </a:r>
            <a:endParaRPr lang="en-US" sz="1300" dirty="0">
              <a:solidFill>
                <a:schemeClr val="bg1"/>
              </a:solidFill>
              <a:latin typeface="Ubuntu" panose="020B0504030602030204" pitchFamily="34" charset="0"/>
            </a:endParaRPr>
          </a:p>
        </p:txBody>
      </p:sp>
      <p:sp>
        <p:nvSpPr>
          <p:cNvPr id="38" name="Shape 36">
            <a:extLst>
              <a:ext uri="{FF2B5EF4-FFF2-40B4-BE49-F238E27FC236}">
                <a16:creationId xmlns:a16="http://schemas.microsoft.com/office/drawing/2014/main" id="{C7B3CC66-3862-7C30-450B-72B168D08B54}"/>
              </a:ext>
            </a:extLst>
          </p:cNvPr>
          <p:cNvSpPr/>
          <p:nvPr/>
        </p:nvSpPr>
        <p:spPr>
          <a:xfrm>
            <a:off x="0" y="4881698"/>
            <a:ext cx="9144000" cy="261802"/>
          </a:xfrm>
          <a:prstGeom prst="rect">
            <a:avLst/>
          </a:prstGeom>
          <a:solidFill>
            <a:srgbClr val="2C1810">
              <a:alpha val="70000"/>
            </a:srgbClr>
          </a:solidFill>
          <a:ln/>
        </p:spPr>
      </p:sp>
      <p:sp>
        <p:nvSpPr>
          <p:cNvPr id="39" name="Text 37">
            <a:extLst>
              <a:ext uri="{FF2B5EF4-FFF2-40B4-BE49-F238E27FC236}">
                <a16:creationId xmlns:a16="http://schemas.microsoft.com/office/drawing/2014/main" id="{2B62F20C-5775-C2B9-CC41-28D3B1333A7E}"/>
              </a:ext>
            </a:extLst>
          </p:cNvPr>
          <p:cNvSpPr/>
          <p:nvPr/>
        </p:nvSpPr>
        <p:spPr>
          <a:xfrm>
            <a:off x="0" y="4895414"/>
            <a:ext cx="8686800" cy="234370"/>
          </a:xfrm>
          <a:prstGeom prst="rect">
            <a:avLst/>
          </a:prstGeom>
          <a:noFill/>
          <a:ln/>
        </p:spPr>
        <p:txBody>
          <a:bodyPr wrap="square" lIns="0" tIns="0" rIns="0" bIns="0" rtlCol="0" anchor="ctr"/>
          <a:lstStyle/>
          <a:p>
            <a:pPr algn="ctr"/>
            <a:r>
              <a:rPr lang="en-US" sz="1100" b="1" dirty="0">
                <a:solidFill>
                  <a:srgbClr val="D4A017"/>
                </a:solidFill>
                <a:latin typeface="Ubuntu" panose="020B0504030602030204" pitchFamily="34" charset="0"/>
                <a:ea typeface="Calibri" pitchFamily="34" charset="-122"/>
                <a:cs typeface="Calibri" pitchFamily="34" charset="-120"/>
              </a:rPr>
              <a:t>🔗 https://github.com/feredj/sha-ntieb</a:t>
            </a:r>
            <a:endParaRPr lang="en-US" sz="1100" dirty="0">
              <a:latin typeface="Ubuntu" panose="020B0504030602030204" pitchFamily="34" charset="0"/>
            </a:endParaRPr>
          </a:p>
        </p:txBody>
      </p:sp>
      <p:sp>
        <p:nvSpPr>
          <p:cNvPr id="5" name="ZoneTexte 4">
            <a:extLst>
              <a:ext uri="{FF2B5EF4-FFF2-40B4-BE49-F238E27FC236}">
                <a16:creationId xmlns:a16="http://schemas.microsoft.com/office/drawing/2014/main" id="{989BC618-CC94-EBF1-A4A3-9FE4F1A4C162}"/>
              </a:ext>
            </a:extLst>
          </p:cNvPr>
          <p:cNvSpPr txBox="1"/>
          <p:nvPr/>
        </p:nvSpPr>
        <p:spPr>
          <a:xfrm>
            <a:off x="246180" y="1245903"/>
            <a:ext cx="2296552" cy="1015663"/>
          </a:xfrm>
          <a:prstGeom prst="rect">
            <a:avLst/>
          </a:prstGeom>
          <a:noFill/>
        </p:spPr>
        <p:txBody>
          <a:bodyPr wrap="square" rtlCol="0">
            <a:spAutoFit/>
          </a:bodyPr>
          <a:lstStyle/>
          <a:p>
            <a:pPr algn="just"/>
            <a:r>
              <a:rPr lang="en-US" sz="1200" dirty="0" err="1">
                <a:latin typeface="Ubuntu" panose="020B0504030602030204" pitchFamily="34" charset="0"/>
              </a:rPr>
              <a:t>FastAPI</a:t>
            </a:r>
            <a:r>
              <a:rPr lang="en-US" sz="1200" dirty="0">
                <a:latin typeface="Ubuntu" panose="020B0504030602030204" pitchFamily="34" charset="0"/>
              </a:rPr>
              <a:t> is a modern, fast (high-performance), web framework for building APIs with Python based on standard Python type hints.</a:t>
            </a:r>
          </a:p>
        </p:txBody>
      </p:sp>
      <p:sp>
        <p:nvSpPr>
          <p:cNvPr id="25" name="Shape 4">
            <a:extLst>
              <a:ext uri="{FF2B5EF4-FFF2-40B4-BE49-F238E27FC236}">
                <a16:creationId xmlns:a16="http://schemas.microsoft.com/office/drawing/2014/main" id="{3728EA36-9B6B-24A6-592F-9F2C23187F4E}"/>
              </a:ext>
            </a:extLst>
          </p:cNvPr>
          <p:cNvSpPr/>
          <p:nvPr/>
        </p:nvSpPr>
        <p:spPr>
          <a:xfrm>
            <a:off x="5152298" y="1180698"/>
            <a:ext cx="2992895" cy="1748011"/>
          </a:xfrm>
          <a:prstGeom prst="rect">
            <a:avLst/>
          </a:prstGeom>
          <a:solidFill>
            <a:srgbClr val="FFFFFF"/>
          </a:solidFill>
          <a:ln/>
          <a:effectLst>
            <a:outerShdw blurRad="101600" dist="38100" dir="8100000" algn="bl" rotWithShape="0">
              <a:srgbClr val="000000">
                <a:alpha val="15000"/>
              </a:srgbClr>
            </a:outerShdw>
          </a:effectLst>
        </p:spPr>
      </p:sp>
      <p:sp>
        <p:nvSpPr>
          <p:cNvPr id="26" name="Shape 5">
            <a:extLst>
              <a:ext uri="{FF2B5EF4-FFF2-40B4-BE49-F238E27FC236}">
                <a16:creationId xmlns:a16="http://schemas.microsoft.com/office/drawing/2014/main" id="{1C93EAD6-4A44-336D-414F-ED3318B7B433}"/>
              </a:ext>
            </a:extLst>
          </p:cNvPr>
          <p:cNvSpPr/>
          <p:nvPr/>
        </p:nvSpPr>
        <p:spPr>
          <a:xfrm>
            <a:off x="5152297" y="868680"/>
            <a:ext cx="2992897" cy="384048"/>
          </a:xfrm>
          <a:prstGeom prst="rect">
            <a:avLst/>
          </a:prstGeom>
          <a:solidFill>
            <a:schemeClr val="bg1">
              <a:lumMod val="50000"/>
            </a:schemeClr>
          </a:solidFill>
          <a:ln/>
        </p:spPr>
        <p:txBody>
          <a:bodyPr/>
          <a:lstStyle/>
          <a:p>
            <a:endParaRPr lang="en-US" dirty="0">
              <a:solidFill>
                <a:srgbClr val="00B050"/>
              </a:solidFill>
            </a:endParaRPr>
          </a:p>
        </p:txBody>
      </p:sp>
      <p:sp>
        <p:nvSpPr>
          <p:cNvPr id="27" name="Text 6">
            <a:extLst>
              <a:ext uri="{FF2B5EF4-FFF2-40B4-BE49-F238E27FC236}">
                <a16:creationId xmlns:a16="http://schemas.microsoft.com/office/drawing/2014/main" id="{214D6048-C4A9-AD37-FC4F-1D7878D65878}"/>
              </a:ext>
            </a:extLst>
          </p:cNvPr>
          <p:cNvSpPr/>
          <p:nvPr/>
        </p:nvSpPr>
        <p:spPr>
          <a:xfrm>
            <a:off x="5152298" y="868680"/>
            <a:ext cx="2992896" cy="384048"/>
          </a:xfrm>
          <a:prstGeom prst="rect">
            <a:avLst/>
          </a:prstGeom>
          <a:noFill/>
          <a:ln/>
        </p:spPr>
        <p:txBody>
          <a:bodyPr wrap="square" lIns="0" tIns="0" rIns="0" bIns="0" rtlCol="0" anchor="ctr"/>
          <a:lstStyle/>
          <a:p>
            <a:pPr marL="0" indent="0" algn="ctr">
              <a:buNone/>
            </a:pPr>
            <a:r>
              <a:rPr lang="en-US" sz="1300" b="1" dirty="0">
                <a:solidFill>
                  <a:schemeClr val="bg1"/>
                </a:solidFill>
                <a:latin typeface="Ubuntu" panose="020B0504030602030204" pitchFamily="34" charset="0"/>
                <a:ea typeface="Georgia" pitchFamily="34" charset="-122"/>
                <a:cs typeface="Georgia" pitchFamily="34" charset="-120"/>
              </a:rPr>
              <a:t> </a:t>
            </a:r>
            <a:r>
              <a:rPr lang="en-US" sz="1300" b="1" dirty="0" err="1">
                <a:solidFill>
                  <a:schemeClr val="bg1"/>
                </a:solidFill>
                <a:latin typeface="Ubuntu" panose="020B0504030602030204" pitchFamily="34" charset="0"/>
                <a:ea typeface="Georgia" pitchFamily="34" charset="-122"/>
                <a:cs typeface="Georgia" pitchFamily="34" charset="-120"/>
              </a:rPr>
              <a:t>MySql</a:t>
            </a:r>
            <a:endParaRPr lang="en-US" sz="1300" dirty="0">
              <a:solidFill>
                <a:schemeClr val="bg1"/>
              </a:solidFill>
              <a:latin typeface="Ubuntu" panose="020B0504030602030204" pitchFamily="34" charset="0"/>
            </a:endParaRPr>
          </a:p>
        </p:txBody>
      </p:sp>
      <p:sp>
        <p:nvSpPr>
          <p:cNvPr id="28" name="ZoneTexte 27">
            <a:extLst>
              <a:ext uri="{FF2B5EF4-FFF2-40B4-BE49-F238E27FC236}">
                <a16:creationId xmlns:a16="http://schemas.microsoft.com/office/drawing/2014/main" id="{897B0590-DC6B-A3F2-9C56-AB786B8D5565}"/>
              </a:ext>
            </a:extLst>
          </p:cNvPr>
          <p:cNvSpPr txBox="1"/>
          <p:nvPr/>
        </p:nvSpPr>
        <p:spPr>
          <a:xfrm>
            <a:off x="5120646" y="1251872"/>
            <a:ext cx="3024547" cy="1580882"/>
          </a:xfrm>
          <a:prstGeom prst="rect">
            <a:avLst/>
          </a:prstGeom>
          <a:noFill/>
        </p:spPr>
        <p:txBody>
          <a:bodyPr wrap="square" rtlCol="0">
            <a:spAutoFit/>
          </a:bodyPr>
          <a:lstStyle/>
          <a:p>
            <a:pPr algn="just">
              <a:lnSpc>
                <a:spcPct val="150000"/>
              </a:lnSpc>
            </a:pPr>
            <a:r>
              <a:rPr lang="en-US" sz="1100" dirty="0">
                <a:latin typeface="Ubuntu" panose="020B0504030602030204" pitchFamily="34" charset="0"/>
              </a:rPr>
              <a:t>MySQL is a widely used relational database management system (RDBMS).</a:t>
            </a:r>
          </a:p>
          <a:p>
            <a:pPr algn="just">
              <a:lnSpc>
                <a:spcPct val="150000"/>
              </a:lnSpc>
            </a:pPr>
            <a:r>
              <a:rPr lang="en-US" sz="1100" dirty="0">
                <a:latin typeface="Ubuntu" panose="020B0504030602030204" pitchFamily="34" charset="0"/>
              </a:rPr>
              <a:t>MySQL is free and open-source.</a:t>
            </a:r>
          </a:p>
          <a:p>
            <a:pPr algn="just">
              <a:lnSpc>
                <a:spcPct val="150000"/>
              </a:lnSpc>
            </a:pPr>
            <a:r>
              <a:rPr lang="en-US" sz="1100" dirty="0">
                <a:latin typeface="Ubuntu" panose="020B0504030602030204" pitchFamily="34" charset="0"/>
              </a:rPr>
              <a:t>MySQL is known for being fast, reliable, scalable, and easy to use, and is ideal for both small and large applications.</a:t>
            </a:r>
          </a:p>
        </p:txBody>
      </p:sp>
      <p:sp>
        <p:nvSpPr>
          <p:cNvPr id="29" name="Shape 4">
            <a:extLst>
              <a:ext uri="{FF2B5EF4-FFF2-40B4-BE49-F238E27FC236}">
                <a16:creationId xmlns:a16="http://schemas.microsoft.com/office/drawing/2014/main" id="{A716EB88-EDE7-1241-6967-D98C7719212C}"/>
              </a:ext>
            </a:extLst>
          </p:cNvPr>
          <p:cNvSpPr/>
          <p:nvPr/>
        </p:nvSpPr>
        <p:spPr>
          <a:xfrm>
            <a:off x="277830" y="3182311"/>
            <a:ext cx="2296551" cy="965781"/>
          </a:xfrm>
          <a:prstGeom prst="rect">
            <a:avLst/>
          </a:prstGeom>
          <a:solidFill>
            <a:srgbClr val="FFFFFF"/>
          </a:solidFill>
          <a:ln/>
          <a:effectLst>
            <a:outerShdw blurRad="101600" dist="38100" dir="8100000" algn="bl" rotWithShape="0">
              <a:srgbClr val="000000">
                <a:alpha val="15000"/>
              </a:srgbClr>
            </a:outerShdw>
          </a:effectLst>
        </p:spPr>
      </p:sp>
      <p:sp>
        <p:nvSpPr>
          <p:cNvPr id="30" name="Shape 5">
            <a:extLst>
              <a:ext uri="{FF2B5EF4-FFF2-40B4-BE49-F238E27FC236}">
                <a16:creationId xmlns:a16="http://schemas.microsoft.com/office/drawing/2014/main" id="{5E23A2A3-2554-3A6E-8082-4AA8D18A5CF5}"/>
              </a:ext>
            </a:extLst>
          </p:cNvPr>
          <p:cNvSpPr/>
          <p:nvPr/>
        </p:nvSpPr>
        <p:spPr>
          <a:xfrm>
            <a:off x="277830" y="3182312"/>
            <a:ext cx="2296551" cy="384048"/>
          </a:xfrm>
          <a:prstGeom prst="rect">
            <a:avLst/>
          </a:prstGeom>
          <a:solidFill>
            <a:schemeClr val="accent1">
              <a:lumMod val="75000"/>
            </a:schemeClr>
          </a:solidFill>
          <a:ln>
            <a:solidFill>
              <a:schemeClr val="accent6">
                <a:lumMod val="75000"/>
              </a:schemeClr>
            </a:solidFill>
          </a:ln>
        </p:spPr>
        <p:txBody>
          <a:bodyPr/>
          <a:lstStyle/>
          <a:p>
            <a:endParaRPr lang="en-US" dirty="0">
              <a:solidFill>
                <a:srgbClr val="00B050"/>
              </a:solidFill>
            </a:endParaRPr>
          </a:p>
        </p:txBody>
      </p:sp>
      <p:sp>
        <p:nvSpPr>
          <p:cNvPr id="31" name="Text 6">
            <a:extLst>
              <a:ext uri="{FF2B5EF4-FFF2-40B4-BE49-F238E27FC236}">
                <a16:creationId xmlns:a16="http://schemas.microsoft.com/office/drawing/2014/main" id="{DE525ED4-42BD-D741-83D7-002D2EABDDDB}"/>
              </a:ext>
            </a:extLst>
          </p:cNvPr>
          <p:cNvSpPr/>
          <p:nvPr/>
        </p:nvSpPr>
        <p:spPr>
          <a:xfrm>
            <a:off x="277831" y="3182312"/>
            <a:ext cx="2296550" cy="404971"/>
          </a:xfrm>
          <a:prstGeom prst="rect">
            <a:avLst/>
          </a:prstGeom>
          <a:noFill/>
          <a:ln/>
        </p:spPr>
        <p:txBody>
          <a:bodyPr wrap="square" lIns="0" tIns="0" rIns="0" bIns="0" rtlCol="0" anchor="ctr"/>
          <a:lstStyle/>
          <a:p>
            <a:pPr marL="0" indent="0" algn="ctr">
              <a:buNone/>
            </a:pPr>
            <a:r>
              <a:rPr lang="en-US" sz="1300" b="1" dirty="0">
                <a:solidFill>
                  <a:schemeClr val="bg1"/>
                </a:solidFill>
                <a:latin typeface="Ubuntu" panose="020B0504030602030204" pitchFamily="34" charset="0"/>
                <a:ea typeface="Georgia" pitchFamily="34" charset="-122"/>
                <a:cs typeface="Georgia" pitchFamily="34" charset="-120"/>
              </a:rPr>
              <a:t>Pandas</a:t>
            </a:r>
            <a:endParaRPr lang="en-US" sz="1300" dirty="0">
              <a:solidFill>
                <a:schemeClr val="bg1"/>
              </a:solidFill>
              <a:latin typeface="Ubuntu" panose="020B0504030602030204" pitchFamily="34" charset="0"/>
            </a:endParaRPr>
          </a:p>
        </p:txBody>
      </p:sp>
      <p:sp>
        <p:nvSpPr>
          <p:cNvPr id="32" name="ZoneTexte 31">
            <a:extLst>
              <a:ext uri="{FF2B5EF4-FFF2-40B4-BE49-F238E27FC236}">
                <a16:creationId xmlns:a16="http://schemas.microsoft.com/office/drawing/2014/main" id="{3A9B766D-A5FF-5B4D-10A9-6D4EDBF75A6B}"/>
              </a:ext>
            </a:extLst>
          </p:cNvPr>
          <p:cNvSpPr txBox="1"/>
          <p:nvPr/>
        </p:nvSpPr>
        <p:spPr>
          <a:xfrm>
            <a:off x="246180" y="3565504"/>
            <a:ext cx="2296552" cy="565219"/>
          </a:xfrm>
          <a:prstGeom prst="rect">
            <a:avLst/>
          </a:prstGeom>
          <a:noFill/>
        </p:spPr>
        <p:txBody>
          <a:bodyPr wrap="square" rtlCol="0">
            <a:spAutoFit/>
          </a:bodyPr>
          <a:lstStyle/>
          <a:p>
            <a:pPr algn="just">
              <a:lnSpc>
                <a:spcPct val="150000"/>
              </a:lnSpc>
            </a:pPr>
            <a:r>
              <a:rPr lang="en-US" sz="1100" dirty="0">
                <a:latin typeface="Ubuntu" panose="020B0504030602030204" pitchFamily="34" charset="0"/>
              </a:rPr>
              <a:t>Pandas is a Python library.</a:t>
            </a:r>
          </a:p>
          <a:p>
            <a:pPr algn="just">
              <a:lnSpc>
                <a:spcPct val="150000"/>
              </a:lnSpc>
            </a:pPr>
            <a:r>
              <a:rPr lang="en-US" sz="1100" dirty="0">
                <a:latin typeface="Ubuntu" panose="020B0504030602030204" pitchFamily="34" charset="0"/>
              </a:rPr>
              <a:t>Pandas is used to analyze data.</a:t>
            </a:r>
          </a:p>
        </p:txBody>
      </p:sp>
      <p:sp>
        <p:nvSpPr>
          <p:cNvPr id="33" name="Shape 4">
            <a:extLst>
              <a:ext uri="{FF2B5EF4-FFF2-40B4-BE49-F238E27FC236}">
                <a16:creationId xmlns:a16="http://schemas.microsoft.com/office/drawing/2014/main" id="{1A588EB4-9E9C-A84A-D359-01C3088A140A}"/>
              </a:ext>
            </a:extLst>
          </p:cNvPr>
          <p:cNvSpPr/>
          <p:nvPr/>
        </p:nvSpPr>
        <p:spPr>
          <a:xfrm>
            <a:off x="2690448" y="871744"/>
            <a:ext cx="2296551" cy="2056965"/>
          </a:xfrm>
          <a:prstGeom prst="rect">
            <a:avLst/>
          </a:prstGeom>
          <a:solidFill>
            <a:srgbClr val="FFFFFF"/>
          </a:solidFill>
          <a:ln/>
          <a:effectLst>
            <a:outerShdw blurRad="101600" dist="38100" dir="8100000" algn="bl" rotWithShape="0">
              <a:srgbClr val="000000">
                <a:alpha val="15000"/>
              </a:srgbClr>
            </a:outerShdw>
          </a:effectLst>
        </p:spPr>
      </p:sp>
      <p:sp>
        <p:nvSpPr>
          <p:cNvPr id="34" name="Shape 5">
            <a:extLst>
              <a:ext uri="{FF2B5EF4-FFF2-40B4-BE49-F238E27FC236}">
                <a16:creationId xmlns:a16="http://schemas.microsoft.com/office/drawing/2014/main" id="{AC483AEF-C98B-B4ED-D627-4C5C2E8DF80A}"/>
              </a:ext>
            </a:extLst>
          </p:cNvPr>
          <p:cNvSpPr/>
          <p:nvPr/>
        </p:nvSpPr>
        <p:spPr>
          <a:xfrm>
            <a:off x="2690448" y="871745"/>
            <a:ext cx="2296551" cy="384048"/>
          </a:xfrm>
          <a:prstGeom prst="rect">
            <a:avLst/>
          </a:prstGeom>
          <a:solidFill>
            <a:schemeClr val="accent2">
              <a:lumMod val="75000"/>
            </a:schemeClr>
          </a:solidFill>
          <a:ln/>
        </p:spPr>
        <p:txBody>
          <a:bodyPr/>
          <a:lstStyle/>
          <a:p>
            <a:endParaRPr lang="en-US" dirty="0">
              <a:solidFill>
                <a:srgbClr val="00B050"/>
              </a:solidFill>
            </a:endParaRPr>
          </a:p>
        </p:txBody>
      </p:sp>
      <p:sp>
        <p:nvSpPr>
          <p:cNvPr id="35" name="Text 6">
            <a:extLst>
              <a:ext uri="{FF2B5EF4-FFF2-40B4-BE49-F238E27FC236}">
                <a16:creationId xmlns:a16="http://schemas.microsoft.com/office/drawing/2014/main" id="{627224F5-F404-FDF8-735D-FEC3D0923517}"/>
              </a:ext>
            </a:extLst>
          </p:cNvPr>
          <p:cNvSpPr/>
          <p:nvPr/>
        </p:nvSpPr>
        <p:spPr>
          <a:xfrm>
            <a:off x="2690449" y="871745"/>
            <a:ext cx="2296550" cy="384048"/>
          </a:xfrm>
          <a:prstGeom prst="rect">
            <a:avLst/>
          </a:prstGeom>
          <a:noFill/>
          <a:ln/>
        </p:spPr>
        <p:txBody>
          <a:bodyPr wrap="square" lIns="0" tIns="0" rIns="0" bIns="0" rtlCol="0" anchor="ctr"/>
          <a:lstStyle/>
          <a:p>
            <a:pPr algn="ctr"/>
            <a:r>
              <a:rPr lang="en-US" sz="1300" b="1" dirty="0">
                <a:solidFill>
                  <a:schemeClr val="bg1"/>
                </a:solidFill>
                <a:latin typeface="Ubuntu" panose="020B0504030602030204" pitchFamily="34" charset="0"/>
                <a:ea typeface="Georgia" pitchFamily="34" charset="-122"/>
                <a:cs typeface="Georgia" pitchFamily="34" charset="-120"/>
              </a:rPr>
              <a:t>Password hashing</a:t>
            </a:r>
            <a:endParaRPr lang="en-US" sz="1300" dirty="0">
              <a:solidFill>
                <a:schemeClr val="bg1"/>
              </a:solidFill>
              <a:latin typeface="Ubuntu" panose="020B0504030602030204" pitchFamily="34" charset="0"/>
            </a:endParaRPr>
          </a:p>
        </p:txBody>
      </p:sp>
      <p:sp>
        <p:nvSpPr>
          <p:cNvPr id="36" name="ZoneTexte 35">
            <a:extLst>
              <a:ext uri="{FF2B5EF4-FFF2-40B4-BE49-F238E27FC236}">
                <a16:creationId xmlns:a16="http://schemas.microsoft.com/office/drawing/2014/main" id="{854C84C1-FD49-F946-DD08-84F4D871BDBF}"/>
              </a:ext>
            </a:extLst>
          </p:cNvPr>
          <p:cNvSpPr txBox="1"/>
          <p:nvPr/>
        </p:nvSpPr>
        <p:spPr>
          <a:xfrm>
            <a:off x="2658798" y="1254937"/>
            <a:ext cx="2296552" cy="1580882"/>
          </a:xfrm>
          <a:prstGeom prst="rect">
            <a:avLst/>
          </a:prstGeom>
          <a:noFill/>
        </p:spPr>
        <p:txBody>
          <a:bodyPr wrap="square" rtlCol="0">
            <a:spAutoFit/>
          </a:bodyPr>
          <a:lstStyle/>
          <a:p>
            <a:pPr algn="just">
              <a:lnSpc>
                <a:spcPct val="150000"/>
              </a:lnSpc>
            </a:pPr>
            <a:r>
              <a:rPr lang="en-US" sz="1100" dirty="0">
                <a:latin typeface="Ubuntu" panose="020B0504030602030204" pitchFamily="34" charset="0"/>
              </a:rPr>
              <a:t>Password hashing transforms user passwords into secure, fixed-length, one-way cryptographic strings, ensuring passwords are not stored in plaintext. </a:t>
            </a:r>
          </a:p>
        </p:txBody>
      </p:sp>
      <p:sp>
        <p:nvSpPr>
          <p:cNvPr id="37" name="Shape 4">
            <a:extLst>
              <a:ext uri="{FF2B5EF4-FFF2-40B4-BE49-F238E27FC236}">
                <a16:creationId xmlns:a16="http://schemas.microsoft.com/office/drawing/2014/main" id="{952DDF15-B2C0-DEC5-A6F4-F8F716A38359}"/>
              </a:ext>
            </a:extLst>
          </p:cNvPr>
          <p:cNvSpPr/>
          <p:nvPr/>
        </p:nvSpPr>
        <p:spPr>
          <a:xfrm>
            <a:off x="2722101" y="3493474"/>
            <a:ext cx="6323425" cy="1073051"/>
          </a:xfrm>
          <a:prstGeom prst="rect">
            <a:avLst/>
          </a:prstGeom>
          <a:solidFill>
            <a:srgbClr val="FFFFFF"/>
          </a:solidFill>
          <a:ln/>
          <a:effectLst>
            <a:outerShdw blurRad="101600" dist="38100" dir="8100000" algn="bl" rotWithShape="0">
              <a:srgbClr val="000000">
                <a:alpha val="15000"/>
              </a:srgbClr>
            </a:outerShdw>
          </a:effectLst>
        </p:spPr>
      </p:sp>
      <p:sp>
        <p:nvSpPr>
          <p:cNvPr id="40" name="Shape 5">
            <a:extLst>
              <a:ext uri="{FF2B5EF4-FFF2-40B4-BE49-F238E27FC236}">
                <a16:creationId xmlns:a16="http://schemas.microsoft.com/office/drawing/2014/main" id="{97DC8133-AF3B-0ED1-EED3-49FE553DBA72}"/>
              </a:ext>
            </a:extLst>
          </p:cNvPr>
          <p:cNvSpPr/>
          <p:nvPr/>
        </p:nvSpPr>
        <p:spPr>
          <a:xfrm>
            <a:off x="2722100" y="3104082"/>
            <a:ext cx="6323425" cy="384048"/>
          </a:xfrm>
          <a:prstGeom prst="rect">
            <a:avLst/>
          </a:prstGeom>
          <a:solidFill>
            <a:schemeClr val="bg1">
              <a:lumMod val="50000"/>
            </a:schemeClr>
          </a:solidFill>
          <a:ln/>
        </p:spPr>
        <p:txBody>
          <a:bodyPr/>
          <a:lstStyle/>
          <a:p>
            <a:endParaRPr lang="en-US" dirty="0">
              <a:solidFill>
                <a:srgbClr val="00B050"/>
              </a:solidFill>
            </a:endParaRPr>
          </a:p>
        </p:txBody>
      </p:sp>
      <p:sp>
        <p:nvSpPr>
          <p:cNvPr id="41" name="ZoneTexte 40">
            <a:extLst>
              <a:ext uri="{FF2B5EF4-FFF2-40B4-BE49-F238E27FC236}">
                <a16:creationId xmlns:a16="http://schemas.microsoft.com/office/drawing/2014/main" id="{E5F28DCE-E615-2EED-5927-50B3F822E455}"/>
              </a:ext>
            </a:extLst>
          </p:cNvPr>
          <p:cNvSpPr txBox="1"/>
          <p:nvPr/>
        </p:nvSpPr>
        <p:spPr>
          <a:xfrm>
            <a:off x="2722099" y="3419060"/>
            <a:ext cx="6323427" cy="1073051"/>
          </a:xfrm>
          <a:prstGeom prst="rect">
            <a:avLst/>
          </a:prstGeom>
          <a:noFill/>
        </p:spPr>
        <p:txBody>
          <a:bodyPr wrap="square" rtlCol="0">
            <a:spAutoFit/>
          </a:bodyPr>
          <a:lstStyle/>
          <a:p>
            <a:pPr algn="just">
              <a:lnSpc>
                <a:spcPct val="150000"/>
              </a:lnSpc>
            </a:pPr>
            <a:r>
              <a:rPr lang="en-US" sz="1100" dirty="0">
                <a:latin typeface="Ubuntu" panose="020B0504030602030204" pitchFamily="34" charset="0"/>
              </a:rPr>
              <a:t>A JSON Web Token (JWT) is an open, industry-standard (RFC 7519) method for securely representing claims between two parties, commonly used for authorization and authentication in web apps. It is a compact, URL-safe, self-contained string comprising a header, payload, and signature, allowing servers to verify user identity without database lookups. </a:t>
            </a:r>
          </a:p>
        </p:txBody>
      </p:sp>
      <p:sp>
        <p:nvSpPr>
          <p:cNvPr id="42" name="Text 6">
            <a:extLst>
              <a:ext uri="{FF2B5EF4-FFF2-40B4-BE49-F238E27FC236}">
                <a16:creationId xmlns:a16="http://schemas.microsoft.com/office/drawing/2014/main" id="{5F55780B-C823-A6AB-99E9-9E757369A14F}"/>
              </a:ext>
            </a:extLst>
          </p:cNvPr>
          <p:cNvSpPr/>
          <p:nvPr/>
        </p:nvSpPr>
        <p:spPr>
          <a:xfrm>
            <a:off x="2726780" y="3104900"/>
            <a:ext cx="6318745" cy="404971"/>
          </a:xfrm>
          <a:prstGeom prst="rect">
            <a:avLst/>
          </a:prstGeom>
          <a:noFill/>
          <a:ln/>
        </p:spPr>
        <p:txBody>
          <a:bodyPr wrap="square" lIns="0" tIns="0" rIns="0" bIns="0" rtlCol="0" anchor="ctr"/>
          <a:lstStyle/>
          <a:p>
            <a:pPr algn="ctr"/>
            <a:r>
              <a:rPr lang="en-US" sz="1300" b="1" dirty="0">
                <a:solidFill>
                  <a:schemeClr val="bg1"/>
                </a:solidFill>
                <a:latin typeface="Ubuntu" panose="020B0504030602030204" pitchFamily="34" charset="0"/>
                <a:ea typeface="Georgia" pitchFamily="34" charset="-122"/>
                <a:cs typeface="Georgia" pitchFamily="34" charset="-120"/>
              </a:rPr>
              <a:t>JSON Web Token (JWT)</a:t>
            </a:r>
            <a:endParaRPr lang="en-US" sz="1300" dirty="0">
              <a:solidFill>
                <a:schemeClr val="bg1"/>
              </a:solidFill>
              <a:latin typeface="Ubuntu" panose="020B0504030602030204" pitchFamily="34" charset="0"/>
            </a:endParaRPr>
          </a:p>
        </p:txBody>
      </p:sp>
    </p:spTree>
    <p:extLst>
      <p:ext uri="{BB962C8B-B14F-4D97-AF65-F5344CB8AC3E}">
        <p14:creationId xmlns:p14="http://schemas.microsoft.com/office/powerpoint/2010/main" val="1442282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C0392B"/>
          </a:solidFill>
          <a:ln/>
        </p:spPr>
      </p:sp>
      <p:sp>
        <p:nvSpPr>
          <p:cNvPr id="3" name="Shape 1"/>
          <p:cNvSpPr/>
          <p:nvPr/>
        </p:nvSpPr>
        <p:spPr>
          <a:xfrm>
            <a:off x="0" y="0"/>
            <a:ext cx="457200" cy="777240"/>
          </a:xfrm>
          <a:prstGeom prst="rect">
            <a:avLst/>
          </a:prstGeom>
          <a:solidFill>
            <a:srgbClr val="C0392B"/>
          </a:solidFill>
          <a:ln/>
        </p:spPr>
      </p:sp>
      <p:sp>
        <p:nvSpPr>
          <p:cNvPr id="4" name="Text 2"/>
          <p:cNvSpPr/>
          <p:nvPr/>
        </p:nvSpPr>
        <p:spPr>
          <a:xfrm>
            <a:off x="548640" y="0"/>
            <a:ext cx="7315200" cy="777240"/>
          </a:xfrm>
          <a:prstGeom prst="rect">
            <a:avLst/>
          </a:prstGeom>
          <a:noFill/>
          <a:ln/>
        </p:spPr>
        <p:txBody>
          <a:bodyPr wrap="square" lIns="0" tIns="0" rIns="0" bIns="0" rtlCol="0" anchor="ctr"/>
          <a:lstStyle/>
          <a:p>
            <a:pPr marL="0" indent="0" algn="l">
              <a:buNone/>
            </a:pPr>
            <a:r>
              <a:rPr lang="en-US" sz="2200" b="1" dirty="0">
                <a:solidFill>
                  <a:srgbClr val="FFFFFF"/>
                </a:solidFill>
                <a:latin typeface="Georgia" pitchFamily="34" charset="0"/>
                <a:ea typeface="Georgia" pitchFamily="34" charset="-122"/>
                <a:cs typeface="Georgia" pitchFamily="34" charset="-120"/>
              </a:rPr>
              <a:t>Part 4 : Results &amp; Interpretation</a:t>
            </a:r>
            <a:endParaRPr lang="en-US" sz="2200" dirty="0"/>
          </a:p>
        </p:txBody>
      </p:sp>
      <p:sp>
        <p:nvSpPr>
          <p:cNvPr id="6" name="Shape 4"/>
          <p:cNvSpPr/>
          <p:nvPr/>
        </p:nvSpPr>
        <p:spPr>
          <a:xfrm>
            <a:off x="182880" y="868679"/>
            <a:ext cx="8869680" cy="4209757"/>
          </a:xfrm>
          <a:prstGeom prst="rect">
            <a:avLst/>
          </a:prstGeom>
          <a:solidFill>
            <a:srgbClr val="FFFFFF">
              <a:alpha val="7000"/>
            </a:srgbClr>
          </a:solidFill>
          <a:ln w="12700">
            <a:solidFill>
              <a:srgbClr val="C0392B"/>
            </a:solidFill>
            <a:prstDash val="solid"/>
          </a:ln>
          <a:effectLst>
            <a:outerShdw blurRad="101600" dist="38100" dir="8100000" algn="bl" rotWithShape="0">
              <a:srgbClr val="000000">
                <a:alpha val="15000"/>
              </a:srgbClr>
            </a:outerShdw>
          </a:effectLst>
        </p:spPr>
      </p:sp>
      <p:sp>
        <p:nvSpPr>
          <p:cNvPr id="7" name="Shape 5"/>
          <p:cNvSpPr/>
          <p:nvPr/>
        </p:nvSpPr>
        <p:spPr>
          <a:xfrm>
            <a:off x="182880" y="868680"/>
            <a:ext cx="8869680" cy="777240"/>
          </a:xfrm>
          <a:prstGeom prst="rect">
            <a:avLst/>
          </a:prstGeom>
          <a:solidFill>
            <a:srgbClr val="C0392B">
              <a:alpha val="65000"/>
            </a:srgbClr>
          </a:solidFill>
          <a:ln/>
        </p:spPr>
      </p:sp>
      <p:sp>
        <p:nvSpPr>
          <p:cNvPr id="8" name="Text 6"/>
          <p:cNvSpPr/>
          <p:nvPr/>
        </p:nvSpPr>
        <p:spPr>
          <a:xfrm>
            <a:off x="182880" y="868680"/>
            <a:ext cx="8869680" cy="530352"/>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9" name="Text 7"/>
          <p:cNvSpPr/>
          <p:nvPr/>
        </p:nvSpPr>
        <p:spPr>
          <a:xfrm>
            <a:off x="182880" y="1371600"/>
            <a:ext cx="88696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Home Page</a:t>
            </a:r>
            <a:endParaRPr lang="en-US" sz="1200" dirty="0"/>
          </a:p>
        </p:txBody>
      </p:sp>
      <p:pic>
        <p:nvPicPr>
          <p:cNvPr id="37" name="Image 36">
            <a:extLst>
              <a:ext uri="{FF2B5EF4-FFF2-40B4-BE49-F238E27FC236}">
                <a16:creationId xmlns:a16="http://schemas.microsoft.com/office/drawing/2014/main" id="{C82B1C71-74A9-CA88-FB44-A5BED7EBC056}"/>
              </a:ext>
            </a:extLst>
          </p:cNvPr>
          <p:cNvPicPr>
            <a:picLocks noChangeAspect="1"/>
          </p:cNvPicPr>
          <p:nvPr/>
        </p:nvPicPr>
        <p:blipFill>
          <a:blip r:embed="rId3"/>
          <a:stretch>
            <a:fillRect/>
          </a:stretch>
        </p:blipFill>
        <p:spPr>
          <a:xfrm>
            <a:off x="182880" y="1645921"/>
            <a:ext cx="8869680" cy="343251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C0392B"/>
          </a:solidFill>
          <a:ln/>
        </p:spPr>
      </p:sp>
      <p:sp>
        <p:nvSpPr>
          <p:cNvPr id="3" name="Shape 1"/>
          <p:cNvSpPr/>
          <p:nvPr/>
        </p:nvSpPr>
        <p:spPr>
          <a:xfrm>
            <a:off x="0" y="0"/>
            <a:ext cx="457200" cy="777240"/>
          </a:xfrm>
          <a:prstGeom prst="rect">
            <a:avLst/>
          </a:prstGeom>
          <a:solidFill>
            <a:srgbClr val="C0392B"/>
          </a:solidFill>
          <a:ln/>
        </p:spPr>
      </p:sp>
      <p:sp>
        <p:nvSpPr>
          <p:cNvPr id="4" name="Text 2"/>
          <p:cNvSpPr/>
          <p:nvPr/>
        </p:nvSpPr>
        <p:spPr>
          <a:xfrm>
            <a:off x="548640" y="0"/>
            <a:ext cx="7315200" cy="777240"/>
          </a:xfrm>
          <a:prstGeom prst="rect">
            <a:avLst/>
          </a:prstGeom>
          <a:noFill/>
          <a:ln/>
        </p:spPr>
        <p:txBody>
          <a:bodyPr wrap="square" lIns="0" tIns="0" rIns="0" bIns="0" rtlCol="0" anchor="ctr"/>
          <a:lstStyle/>
          <a:p>
            <a:pPr marL="0" indent="0" algn="l">
              <a:buNone/>
            </a:pPr>
            <a:r>
              <a:rPr lang="en-US" sz="2200" b="1" dirty="0">
                <a:solidFill>
                  <a:srgbClr val="FFFFFF"/>
                </a:solidFill>
                <a:latin typeface="Ubuntu" panose="020B0504030602030204" pitchFamily="34" charset="0"/>
                <a:ea typeface="Georgia" pitchFamily="34" charset="-122"/>
                <a:cs typeface="Georgia" pitchFamily="34" charset="-120"/>
              </a:rPr>
              <a:t>Part 4 : Results &amp; Interpretation</a:t>
            </a:r>
            <a:endParaRPr lang="en-US" sz="2200" dirty="0">
              <a:latin typeface="Ubuntu" panose="020B0504030602030204" pitchFamily="34" charset="0"/>
            </a:endParaRPr>
          </a:p>
        </p:txBody>
      </p:sp>
      <p:sp>
        <p:nvSpPr>
          <p:cNvPr id="8" name="Text 6"/>
          <p:cNvSpPr/>
          <p:nvPr/>
        </p:nvSpPr>
        <p:spPr>
          <a:xfrm>
            <a:off x="182880" y="896112"/>
            <a:ext cx="2788920" cy="502920"/>
          </a:xfrm>
          <a:prstGeom prst="rect">
            <a:avLst/>
          </a:prstGeom>
          <a:noFill/>
          <a:ln/>
        </p:spPr>
        <p:txBody>
          <a:bodyPr wrap="square" rtlCol="0" anchor="ctr"/>
          <a:lstStyle/>
          <a:p>
            <a:pPr marL="0" indent="0" algn="ctr">
              <a:buNone/>
            </a:pPr>
            <a:endParaRPr lang="en-US" sz="3000" dirty="0">
              <a:latin typeface="Ubuntu" panose="020B0504030602030204" pitchFamily="34" charset="0"/>
            </a:endParaRPr>
          </a:p>
        </p:txBody>
      </p:sp>
      <p:sp>
        <p:nvSpPr>
          <p:cNvPr id="9" name="Text 7"/>
          <p:cNvSpPr/>
          <p:nvPr/>
        </p:nvSpPr>
        <p:spPr>
          <a:xfrm>
            <a:off x="182880" y="1371600"/>
            <a:ext cx="278892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Ubuntu" panose="020B0504030602030204" pitchFamily="34" charset="0"/>
                <a:ea typeface="Georgia" pitchFamily="34" charset="-122"/>
                <a:cs typeface="Georgia" pitchFamily="34" charset="-120"/>
              </a:rPr>
              <a:t>Home Page</a:t>
            </a:r>
            <a:endParaRPr lang="en-US" sz="1200" dirty="0">
              <a:latin typeface="Ubuntu" panose="020B0504030602030204" pitchFamily="34" charset="0"/>
            </a:endParaRPr>
          </a:p>
        </p:txBody>
      </p:sp>
      <p:sp>
        <p:nvSpPr>
          <p:cNvPr id="11" name="Shape 9"/>
          <p:cNvSpPr/>
          <p:nvPr/>
        </p:nvSpPr>
        <p:spPr>
          <a:xfrm>
            <a:off x="77372" y="868679"/>
            <a:ext cx="8968154" cy="4195689"/>
          </a:xfrm>
          <a:prstGeom prst="rect">
            <a:avLst/>
          </a:prstGeom>
          <a:solidFill>
            <a:srgbClr val="FFFFFF">
              <a:alpha val="7000"/>
            </a:srgbClr>
          </a:solidFill>
          <a:ln w="12700">
            <a:solidFill>
              <a:srgbClr val="D4A017"/>
            </a:solidFill>
            <a:prstDash val="solid"/>
          </a:ln>
          <a:effectLst>
            <a:outerShdw blurRad="101600" dist="38100" dir="8100000" algn="bl" rotWithShape="0">
              <a:srgbClr val="000000">
                <a:alpha val="15000"/>
              </a:srgbClr>
            </a:outerShdw>
          </a:effectLst>
        </p:spPr>
      </p:sp>
      <p:sp>
        <p:nvSpPr>
          <p:cNvPr id="12" name="Shape 10"/>
          <p:cNvSpPr/>
          <p:nvPr/>
        </p:nvSpPr>
        <p:spPr>
          <a:xfrm>
            <a:off x="77372" y="868680"/>
            <a:ext cx="8968154" cy="777240"/>
          </a:xfrm>
          <a:prstGeom prst="rect">
            <a:avLst/>
          </a:prstGeom>
          <a:solidFill>
            <a:srgbClr val="D4A017">
              <a:alpha val="65000"/>
            </a:srgbClr>
          </a:solidFill>
          <a:ln/>
        </p:spPr>
      </p:sp>
      <p:sp>
        <p:nvSpPr>
          <p:cNvPr id="13" name="Text 11"/>
          <p:cNvSpPr/>
          <p:nvPr/>
        </p:nvSpPr>
        <p:spPr>
          <a:xfrm>
            <a:off x="77372" y="896112"/>
            <a:ext cx="8968154" cy="502920"/>
          </a:xfrm>
          <a:prstGeom prst="rect">
            <a:avLst/>
          </a:prstGeom>
          <a:noFill/>
          <a:ln/>
        </p:spPr>
        <p:txBody>
          <a:bodyPr wrap="square" rtlCol="0" anchor="ctr"/>
          <a:lstStyle/>
          <a:p>
            <a:pPr marL="0" indent="0" algn="ctr">
              <a:buNone/>
            </a:pPr>
            <a:r>
              <a:rPr lang="en-US" sz="3000" dirty="0">
                <a:solidFill>
                  <a:srgbClr val="000000"/>
                </a:solidFill>
                <a:latin typeface="Ubuntu" panose="020B0504030602030204" pitchFamily="34" charset="0"/>
              </a:rPr>
              <a:t>🔍</a:t>
            </a:r>
            <a:endParaRPr lang="en-US" sz="3000" dirty="0">
              <a:latin typeface="Ubuntu" panose="020B0504030602030204" pitchFamily="34" charset="0"/>
            </a:endParaRPr>
          </a:p>
        </p:txBody>
      </p:sp>
      <p:sp>
        <p:nvSpPr>
          <p:cNvPr id="14" name="Text 12"/>
          <p:cNvSpPr/>
          <p:nvPr/>
        </p:nvSpPr>
        <p:spPr>
          <a:xfrm>
            <a:off x="77372" y="1371600"/>
            <a:ext cx="8968154"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Ubuntu" panose="020B0504030602030204" pitchFamily="34" charset="0"/>
                <a:ea typeface="Georgia" pitchFamily="34" charset="-122"/>
                <a:cs typeface="Georgia" pitchFamily="34" charset="-120"/>
              </a:rPr>
              <a:t>Search Results</a:t>
            </a:r>
            <a:endParaRPr lang="en-US" sz="1200" dirty="0">
              <a:latin typeface="Ubuntu" panose="020B0504030602030204" pitchFamily="34" charset="0"/>
            </a:endParaRPr>
          </a:p>
        </p:txBody>
      </p:sp>
      <p:pic>
        <p:nvPicPr>
          <p:cNvPr id="37" name="Image 36">
            <a:extLst>
              <a:ext uri="{FF2B5EF4-FFF2-40B4-BE49-F238E27FC236}">
                <a16:creationId xmlns:a16="http://schemas.microsoft.com/office/drawing/2014/main" id="{A6EAECEA-640D-A117-B5C1-5090EDDD5266}"/>
              </a:ext>
            </a:extLst>
          </p:cNvPr>
          <p:cNvPicPr>
            <a:picLocks noChangeAspect="1"/>
          </p:cNvPicPr>
          <p:nvPr/>
        </p:nvPicPr>
        <p:blipFill>
          <a:blip r:embed="rId3"/>
          <a:stretch>
            <a:fillRect/>
          </a:stretch>
        </p:blipFill>
        <p:spPr>
          <a:xfrm>
            <a:off x="77372" y="1636196"/>
            <a:ext cx="8968154" cy="342817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C0392B"/>
          </a:solidFill>
          <a:ln/>
        </p:spPr>
      </p:sp>
      <p:sp>
        <p:nvSpPr>
          <p:cNvPr id="3" name="Shape 1"/>
          <p:cNvSpPr/>
          <p:nvPr/>
        </p:nvSpPr>
        <p:spPr>
          <a:xfrm>
            <a:off x="0" y="0"/>
            <a:ext cx="457200" cy="777240"/>
          </a:xfrm>
          <a:prstGeom prst="rect">
            <a:avLst/>
          </a:prstGeom>
          <a:solidFill>
            <a:srgbClr val="C0392B"/>
          </a:solidFill>
          <a:ln/>
        </p:spPr>
      </p:sp>
      <p:sp>
        <p:nvSpPr>
          <p:cNvPr id="4" name="Text 2"/>
          <p:cNvSpPr/>
          <p:nvPr/>
        </p:nvSpPr>
        <p:spPr>
          <a:xfrm>
            <a:off x="548640" y="0"/>
            <a:ext cx="7315200" cy="777240"/>
          </a:xfrm>
          <a:prstGeom prst="rect">
            <a:avLst/>
          </a:prstGeom>
          <a:noFill/>
          <a:ln/>
        </p:spPr>
        <p:txBody>
          <a:bodyPr wrap="square" lIns="0" tIns="0" rIns="0" bIns="0" rtlCol="0" anchor="ctr"/>
          <a:lstStyle/>
          <a:p>
            <a:pPr marL="0" indent="0" algn="l">
              <a:buNone/>
            </a:pPr>
            <a:r>
              <a:rPr lang="en-US" sz="2200" b="1" dirty="0">
                <a:solidFill>
                  <a:srgbClr val="FFFFFF"/>
                </a:solidFill>
                <a:latin typeface="Ubuntu" panose="020B0504030602030204" pitchFamily="34" charset="0"/>
                <a:ea typeface="Georgia" pitchFamily="34" charset="-122"/>
                <a:cs typeface="Georgia" pitchFamily="34" charset="-120"/>
              </a:rPr>
              <a:t>Part 4 :Results &amp; Interpretation</a:t>
            </a:r>
            <a:endParaRPr lang="en-US" sz="2200" dirty="0">
              <a:latin typeface="Ubuntu" panose="020B0504030602030204" pitchFamily="34" charset="0"/>
            </a:endParaRPr>
          </a:p>
        </p:txBody>
      </p:sp>
      <p:sp>
        <p:nvSpPr>
          <p:cNvPr id="21" name="Shape 19"/>
          <p:cNvSpPr/>
          <p:nvPr/>
        </p:nvSpPr>
        <p:spPr>
          <a:xfrm>
            <a:off x="91440" y="829291"/>
            <a:ext cx="8961120" cy="4249146"/>
          </a:xfrm>
          <a:prstGeom prst="rect">
            <a:avLst/>
          </a:prstGeom>
          <a:solidFill>
            <a:srgbClr val="FFFFFF">
              <a:alpha val="7000"/>
            </a:srgbClr>
          </a:solidFill>
          <a:ln w="12700">
            <a:solidFill>
              <a:srgbClr val="7B2D8B"/>
            </a:solidFill>
            <a:prstDash val="solid"/>
          </a:ln>
          <a:effectLst>
            <a:outerShdw blurRad="101600" dist="38100" dir="8100000" algn="bl" rotWithShape="0">
              <a:srgbClr val="000000">
                <a:alpha val="15000"/>
              </a:srgbClr>
            </a:outerShdw>
          </a:effectLst>
        </p:spPr>
      </p:sp>
      <p:sp>
        <p:nvSpPr>
          <p:cNvPr id="22" name="Shape 20"/>
          <p:cNvSpPr/>
          <p:nvPr/>
        </p:nvSpPr>
        <p:spPr>
          <a:xfrm>
            <a:off x="91440" y="829291"/>
            <a:ext cx="8961120" cy="777240"/>
          </a:xfrm>
          <a:prstGeom prst="rect">
            <a:avLst/>
          </a:prstGeom>
          <a:solidFill>
            <a:srgbClr val="7B2D8B">
              <a:alpha val="65000"/>
            </a:srgbClr>
          </a:solidFill>
          <a:ln/>
        </p:spPr>
      </p:sp>
      <p:sp>
        <p:nvSpPr>
          <p:cNvPr id="23" name="Text 21"/>
          <p:cNvSpPr/>
          <p:nvPr/>
        </p:nvSpPr>
        <p:spPr>
          <a:xfrm>
            <a:off x="91440" y="856723"/>
            <a:ext cx="8961120" cy="502920"/>
          </a:xfrm>
          <a:prstGeom prst="rect">
            <a:avLst/>
          </a:prstGeom>
          <a:noFill/>
          <a:ln/>
        </p:spPr>
        <p:txBody>
          <a:bodyPr wrap="square" rtlCol="0" anchor="ctr"/>
          <a:lstStyle/>
          <a:p>
            <a:pPr marL="0" indent="0" algn="ctr">
              <a:buNone/>
            </a:pPr>
            <a:r>
              <a:rPr lang="en-US" sz="3000" dirty="0">
                <a:solidFill>
                  <a:srgbClr val="000000"/>
                </a:solidFill>
                <a:latin typeface="Ubuntu" panose="020B0504030602030204" pitchFamily="34" charset="0"/>
              </a:rPr>
              <a:t>🎛️</a:t>
            </a:r>
            <a:endParaRPr lang="en-US" sz="3000" dirty="0">
              <a:latin typeface="Ubuntu" panose="020B0504030602030204" pitchFamily="34" charset="0"/>
            </a:endParaRPr>
          </a:p>
        </p:txBody>
      </p:sp>
      <p:sp>
        <p:nvSpPr>
          <p:cNvPr id="24" name="Text 22"/>
          <p:cNvSpPr/>
          <p:nvPr/>
        </p:nvSpPr>
        <p:spPr>
          <a:xfrm>
            <a:off x="91440" y="1332211"/>
            <a:ext cx="896112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Ubuntu" panose="020B0504030602030204" pitchFamily="34" charset="0"/>
                <a:ea typeface="Georgia" pitchFamily="34" charset="-122"/>
                <a:cs typeface="Georgia" pitchFamily="34" charset="-120"/>
              </a:rPr>
              <a:t>Admin Dashboard</a:t>
            </a:r>
            <a:endParaRPr lang="en-US" sz="1200" dirty="0">
              <a:latin typeface="Ubuntu" panose="020B0504030602030204" pitchFamily="34" charset="0"/>
            </a:endParaRPr>
          </a:p>
        </p:txBody>
      </p:sp>
      <p:pic>
        <p:nvPicPr>
          <p:cNvPr id="37" name="Image 36">
            <a:extLst>
              <a:ext uri="{FF2B5EF4-FFF2-40B4-BE49-F238E27FC236}">
                <a16:creationId xmlns:a16="http://schemas.microsoft.com/office/drawing/2014/main" id="{DE6F1983-2199-9378-70FD-1F615D78C0CB}"/>
              </a:ext>
            </a:extLst>
          </p:cNvPr>
          <p:cNvPicPr>
            <a:picLocks noChangeAspect="1"/>
          </p:cNvPicPr>
          <p:nvPr/>
        </p:nvPicPr>
        <p:blipFill>
          <a:blip r:embed="rId3"/>
          <a:stretch>
            <a:fillRect/>
          </a:stretch>
        </p:blipFill>
        <p:spPr>
          <a:xfrm>
            <a:off x="91440" y="1606532"/>
            <a:ext cx="8961120" cy="347190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C0392B"/>
          </a:solidFill>
          <a:ln/>
        </p:spPr>
      </p:sp>
      <p:sp>
        <p:nvSpPr>
          <p:cNvPr id="3" name="Shape 1"/>
          <p:cNvSpPr/>
          <p:nvPr/>
        </p:nvSpPr>
        <p:spPr>
          <a:xfrm>
            <a:off x="0" y="0"/>
            <a:ext cx="457200" cy="777240"/>
          </a:xfrm>
          <a:prstGeom prst="rect">
            <a:avLst/>
          </a:prstGeom>
          <a:solidFill>
            <a:srgbClr val="C0392B"/>
          </a:solidFill>
          <a:ln/>
        </p:spPr>
      </p:sp>
      <p:sp>
        <p:nvSpPr>
          <p:cNvPr id="4" name="Text 2"/>
          <p:cNvSpPr/>
          <p:nvPr/>
        </p:nvSpPr>
        <p:spPr>
          <a:xfrm>
            <a:off x="548640" y="0"/>
            <a:ext cx="7315200" cy="777240"/>
          </a:xfrm>
          <a:prstGeom prst="rect">
            <a:avLst/>
          </a:prstGeom>
          <a:noFill/>
          <a:ln/>
        </p:spPr>
        <p:txBody>
          <a:bodyPr wrap="square" lIns="0" tIns="0" rIns="0" bIns="0" rtlCol="0" anchor="ctr"/>
          <a:lstStyle/>
          <a:p>
            <a:pPr marL="0" indent="0" algn="l">
              <a:buNone/>
            </a:pPr>
            <a:r>
              <a:rPr lang="en-US" sz="2200" b="1" dirty="0">
                <a:solidFill>
                  <a:srgbClr val="FFFFFF"/>
                </a:solidFill>
                <a:latin typeface="Ubuntu" panose="020B0504030602030204" pitchFamily="34" charset="0"/>
                <a:ea typeface="Georgia" pitchFamily="34" charset="-122"/>
                <a:cs typeface="Georgia" pitchFamily="34" charset="-120"/>
              </a:rPr>
              <a:t>Part 4 : Results &amp; Interpretation</a:t>
            </a:r>
            <a:endParaRPr lang="en-US" sz="2200" dirty="0">
              <a:latin typeface="Ubuntu" panose="020B0504030602030204" pitchFamily="34" charset="0"/>
            </a:endParaRPr>
          </a:p>
        </p:txBody>
      </p:sp>
      <p:sp>
        <p:nvSpPr>
          <p:cNvPr id="16" name="Shape 14"/>
          <p:cNvSpPr/>
          <p:nvPr/>
        </p:nvSpPr>
        <p:spPr>
          <a:xfrm>
            <a:off x="64712" y="836323"/>
            <a:ext cx="9001916" cy="4221011"/>
          </a:xfrm>
          <a:prstGeom prst="rect">
            <a:avLst/>
          </a:prstGeom>
          <a:solidFill>
            <a:srgbClr val="FFFFFF">
              <a:alpha val="7000"/>
            </a:srgbClr>
          </a:solidFill>
          <a:ln w="12700">
            <a:solidFill>
              <a:srgbClr val="1A6B3C"/>
            </a:solidFill>
            <a:prstDash val="solid"/>
          </a:ln>
          <a:effectLst>
            <a:outerShdw blurRad="101600" dist="38100" dir="8100000" algn="bl" rotWithShape="0">
              <a:srgbClr val="000000">
                <a:alpha val="15000"/>
              </a:srgbClr>
            </a:outerShdw>
          </a:effectLst>
        </p:spPr>
      </p:sp>
      <p:sp>
        <p:nvSpPr>
          <p:cNvPr id="17" name="Shape 15"/>
          <p:cNvSpPr/>
          <p:nvPr/>
        </p:nvSpPr>
        <p:spPr>
          <a:xfrm>
            <a:off x="64712" y="836324"/>
            <a:ext cx="9001916" cy="777240"/>
          </a:xfrm>
          <a:prstGeom prst="rect">
            <a:avLst/>
          </a:prstGeom>
          <a:solidFill>
            <a:srgbClr val="1A6B3C">
              <a:alpha val="65000"/>
            </a:srgbClr>
          </a:solidFill>
          <a:ln/>
        </p:spPr>
      </p:sp>
      <p:sp>
        <p:nvSpPr>
          <p:cNvPr id="18" name="Text 16"/>
          <p:cNvSpPr/>
          <p:nvPr/>
        </p:nvSpPr>
        <p:spPr>
          <a:xfrm>
            <a:off x="64712" y="863756"/>
            <a:ext cx="9001916" cy="502920"/>
          </a:xfrm>
          <a:prstGeom prst="rect">
            <a:avLst/>
          </a:prstGeom>
          <a:noFill/>
          <a:ln/>
        </p:spPr>
        <p:txBody>
          <a:bodyPr wrap="square" rtlCol="0" anchor="ctr"/>
          <a:lstStyle/>
          <a:p>
            <a:pPr marL="0" indent="0" algn="ctr">
              <a:buNone/>
            </a:pPr>
            <a:r>
              <a:rPr lang="en-US" sz="3000" dirty="0">
                <a:solidFill>
                  <a:srgbClr val="000000"/>
                </a:solidFill>
                <a:latin typeface="Ubuntu" panose="020B0504030602030204" pitchFamily="34" charset="0"/>
              </a:rPr>
              <a:t>📖</a:t>
            </a:r>
            <a:endParaRPr lang="en-US" sz="3000" dirty="0">
              <a:latin typeface="Ubuntu" panose="020B0504030602030204" pitchFamily="34" charset="0"/>
            </a:endParaRPr>
          </a:p>
        </p:txBody>
      </p:sp>
      <p:sp>
        <p:nvSpPr>
          <p:cNvPr id="19" name="Text 17"/>
          <p:cNvSpPr/>
          <p:nvPr/>
        </p:nvSpPr>
        <p:spPr>
          <a:xfrm>
            <a:off x="64712" y="1339244"/>
            <a:ext cx="9001916"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Ubuntu" panose="020B0504030602030204" pitchFamily="34" charset="0"/>
                <a:ea typeface="Georgia" pitchFamily="34" charset="-122"/>
                <a:cs typeface="Georgia" pitchFamily="34" charset="-120"/>
              </a:rPr>
              <a:t>Recipe Detail</a:t>
            </a:r>
            <a:endParaRPr lang="en-US" sz="1200" dirty="0">
              <a:latin typeface="Ubuntu" panose="020B0504030602030204" pitchFamily="34" charset="0"/>
            </a:endParaRPr>
          </a:p>
        </p:txBody>
      </p:sp>
      <p:pic>
        <p:nvPicPr>
          <p:cNvPr id="37" name="Image 36">
            <a:extLst>
              <a:ext uri="{FF2B5EF4-FFF2-40B4-BE49-F238E27FC236}">
                <a16:creationId xmlns:a16="http://schemas.microsoft.com/office/drawing/2014/main" id="{0C7B2F93-B3F4-5EA4-4217-6EACC8B77A9D}"/>
              </a:ext>
            </a:extLst>
          </p:cNvPr>
          <p:cNvPicPr>
            <a:picLocks noChangeAspect="1"/>
          </p:cNvPicPr>
          <p:nvPr/>
        </p:nvPicPr>
        <p:blipFill>
          <a:blip r:embed="rId3"/>
          <a:stretch>
            <a:fillRect/>
          </a:stretch>
        </p:blipFill>
        <p:spPr>
          <a:xfrm>
            <a:off x="77373" y="1620950"/>
            <a:ext cx="8989256" cy="346381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C0392B"/>
          </a:solidFill>
          <a:ln/>
        </p:spPr>
      </p:sp>
      <p:sp>
        <p:nvSpPr>
          <p:cNvPr id="3" name="Shape 1"/>
          <p:cNvSpPr/>
          <p:nvPr/>
        </p:nvSpPr>
        <p:spPr>
          <a:xfrm>
            <a:off x="0" y="0"/>
            <a:ext cx="457200" cy="777240"/>
          </a:xfrm>
          <a:prstGeom prst="rect">
            <a:avLst/>
          </a:prstGeom>
          <a:solidFill>
            <a:srgbClr val="C0392B"/>
          </a:solidFill>
          <a:ln/>
        </p:spPr>
      </p:sp>
      <p:sp>
        <p:nvSpPr>
          <p:cNvPr id="4" name="Text 2"/>
          <p:cNvSpPr/>
          <p:nvPr/>
        </p:nvSpPr>
        <p:spPr>
          <a:xfrm>
            <a:off x="548640" y="0"/>
            <a:ext cx="7315200" cy="777240"/>
          </a:xfrm>
          <a:prstGeom prst="rect">
            <a:avLst/>
          </a:prstGeom>
          <a:noFill/>
          <a:ln/>
        </p:spPr>
        <p:txBody>
          <a:bodyPr wrap="square" lIns="0" tIns="0" rIns="0" bIns="0" rtlCol="0" anchor="ctr"/>
          <a:lstStyle/>
          <a:p>
            <a:pPr marL="0" indent="0" algn="l">
              <a:buNone/>
            </a:pPr>
            <a:r>
              <a:rPr lang="en-US" sz="2200" b="1" dirty="0">
                <a:solidFill>
                  <a:srgbClr val="FFFFFF"/>
                </a:solidFill>
                <a:latin typeface="Ubuntu" panose="020B0504030602030204" pitchFamily="34" charset="0"/>
                <a:ea typeface="Georgia" pitchFamily="34" charset="-122"/>
                <a:cs typeface="Georgia" pitchFamily="34" charset="-120"/>
              </a:rPr>
              <a:t>Part 4 : Results &amp; Interpretation</a:t>
            </a:r>
            <a:endParaRPr lang="en-US" sz="2200" dirty="0">
              <a:latin typeface="Ubuntu" panose="020B0504030602030204" pitchFamily="34" charset="0"/>
            </a:endParaRPr>
          </a:p>
        </p:txBody>
      </p:sp>
      <p:sp>
        <p:nvSpPr>
          <p:cNvPr id="26" name="Shape 24"/>
          <p:cNvSpPr/>
          <p:nvPr/>
        </p:nvSpPr>
        <p:spPr>
          <a:xfrm>
            <a:off x="80888" y="832102"/>
            <a:ext cx="8985739" cy="4311397"/>
          </a:xfrm>
          <a:prstGeom prst="rect">
            <a:avLst/>
          </a:prstGeom>
          <a:solidFill>
            <a:srgbClr val="FFFFFF">
              <a:alpha val="7000"/>
            </a:srgbClr>
          </a:solidFill>
          <a:ln w="12700">
            <a:solidFill>
              <a:srgbClr val="15618A"/>
            </a:solidFill>
            <a:prstDash val="solid"/>
          </a:ln>
          <a:effectLst>
            <a:outerShdw blurRad="101600" dist="38100" dir="8100000" algn="bl" rotWithShape="0">
              <a:srgbClr val="000000">
                <a:alpha val="15000"/>
              </a:srgbClr>
            </a:outerShdw>
          </a:effectLst>
        </p:spPr>
      </p:sp>
      <p:sp>
        <p:nvSpPr>
          <p:cNvPr id="27" name="Shape 25"/>
          <p:cNvSpPr/>
          <p:nvPr/>
        </p:nvSpPr>
        <p:spPr>
          <a:xfrm>
            <a:off x="80888" y="832103"/>
            <a:ext cx="8985739" cy="777240"/>
          </a:xfrm>
          <a:prstGeom prst="rect">
            <a:avLst/>
          </a:prstGeom>
          <a:solidFill>
            <a:srgbClr val="15618A">
              <a:alpha val="65000"/>
            </a:srgbClr>
          </a:solidFill>
          <a:ln/>
        </p:spPr>
      </p:sp>
      <p:sp>
        <p:nvSpPr>
          <p:cNvPr id="28" name="Text 26"/>
          <p:cNvSpPr/>
          <p:nvPr/>
        </p:nvSpPr>
        <p:spPr>
          <a:xfrm>
            <a:off x="80888" y="859535"/>
            <a:ext cx="8985739" cy="502920"/>
          </a:xfrm>
          <a:prstGeom prst="rect">
            <a:avLst/>
          </a:prstGeom>
          <a:noFill/>
          <a:ln/>
        </p:spPr>
        <p:txBody>
          <a:bodyPr wrap="square" rtlCol="0" anchor="ctr"/>
          <a:lstStyle/>
          <a:p>
            <a:pPr marL="0" indent="0" algn="ctr">
              <a:buNone/>
            </a:pPr>
            <a:r>
              <a:rPr lang="en-US" sz="3000" dirty="0">
                <a:solidFill>
                  <a:srgbClr val="000000"/>
                </a:solidFill>
                <a:latin typeface="Ubuntu" panose="020B0504030602030204" pitchFamily="34" charset="0"/>
              </a:rPr>
              <a:t>🔐</a:t>
            </a:r>
            <a:endParaRPr lang="en-US" sz="3000" dirty="0">
              <a:latin typeface="Ubuntu" panose="020B0504030602030204" pitchFamily="34" charset="0"/>
            </a:endParaRPr>
          </a:p>
        </p:txBody>
      </p:sp>
      <p:sp>
        <p:nvSpPr>
          <p:cNvPr id="29" name="Text 27"/>
          <p:cNvSpPr/>
          <p:nvPr/>
        </p:nvSpPr>
        <p:spPr>
          <a:xfrm>
            <a:off x="80888" y="1335023"/>
            <a:ext cx="8985739"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Ubuntu" panose="020B0504030602030204" pitchFamily="34" charset="0"/>
                <a:ea typeface="Georgia" pitchFamily="34" charset="-122"/>
                <a:cs typeface="Georgia" pitchFamily="34" charset="-120"/>
              </a:rPr>
              <a:t>Login/Register</a:t>
            </a:r>
            <a:endParaRPr lang="en-US" sz="1200" dirty="0">
              <a:latin typeface="Ubuntu" panose="020B0504030602030204" pitchFamily="34" charset="0"/>
            </a:endParaRPr>
          </a:p>
        </p:txBody>
      </p:sp>
      <p:pic>
        <p:nvPicPr>
          <p:cNvPr id="37" name="Image 36">
            <a:extLst>
              <a:ext uri="{FF2B5EF4-FFF2-40B4-BE49-F238E27FC236}">
                <a16:creationId xmlns:a16="http://schemas.microsoft.com/office/drawing/2014/main" id="{D521F2AF-576A-5A31-5C0A-19258F2501DF}"/>
              </a:ext>
            </a:extLst>
          </p:cNvPr>
          <p:cNvPicPr>
            <a:picLocks noChangeAspect="1"/>
          </p:cNvPicPr>
          <p:nvPr/>
        </p:nvPicPr>
        <p:blipFill>
          <a:blip r:embed="rId3"/>
          <a:stretch>
            <a:fillRect/>
          </a:stretch>
        </p:blipFill>
        <p:spPr>
          <a:xfrm>
            <a:off x="77373" y="1609343"/>
            <a:ext cx="8985739" cy="353415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C0392B"/>
          </a:solidFill>
          <a:ln/>
        </p:spPr>
      </p:sp>
      <p:sp>
        <p:nvSpPr>
          <p:cNvPr id="3" name="Shape 1"/>
          <p:cNvSpPr/>
          <p:nvPr/>
        </p:nvSpPr>
        <p:spPr>
          <a:xfrm>
            <a:off x="0" y="0"/>
            <a:ext cx="457200" cy="777240"/>
          </a:xfrm>
          <a:prstGeom prst="rect">
            <a:avLst/>
          </a:prstGeom>
          <a:solidFill>
            <a:srgbClr val="C0392B"/>
          </a:solidFill>
          <a:ln/>
        </p:spPr>
      </p:sp>
      <p:sp>
        <p:nvSpPr>
          <p:cNvPr id="4" name="Text 2"/>
          <p:cNvSpPr/>
          <p:nvPr/>
        </p:nvSpPr>
        <p:spPr>
          <a:xfrm>
            <a:off x="548640" y="0"/>
            <a:ext cx="7315200" cy="777240"/>
          </a:xfrm>
          <a:prstGeom prst="rect">
            <a:avLst/>
          </a:prstGeom>
          <a:noFill/>
          <a:ln/>
        </p:spPr>
        <p:txBody>
          <a:bodyPr wrap="square" lIns="0" tIns="0" rIns="0" bIns="0" rtlCol="0" anchor="ctr"/>
          <a:lstStyle/>
          <a:p>
            <a:pPr marL="0" indent="0" algn="l">
              <a:buNone/>
            </a:pPr>
            <a:r>
              <a:rPr lang="en-US" sz="2200" b="1" dirty="0">
                <a:solidFill>
                  <a:srgbClr val="FFFFFF"/>
                </a:solidFill>
                <a:latin typeface="Ubuntu" panose="020B0504030602030204" pitchFamily="34" charset="0"/>
                <a:ea typeface="Georgia" pitchFamily="34" charset="-122"/>
                <a:cs typeface="Georgia" pitchFamily="34" charset="-120"/>
              </a:rPr>
              <a:t>Part 4 :Results &amp; Interpretation</a:t>
            </a:r>
            <a:endParaRPr lang="en-US" sz="2200" dirty="0">
              <a:latin typeface="Ubuntu" panose="020B0504030602030204" pitchFamily="34" charset="0"/>
            </a:endParaRPr>
          </a:p>
        </p:txBody>
      </p:sp>
      <p:sp>
        <p:nvSpPr>
          <p:cNvPr id="28" name="Text 26"/>
          <p:cNvSpPr/>
          <p:nvPr/>
        </p:nvSpPr>
        <p:spPr>
          <a:xfrm>
            <a:off x="3172968" y="5065776"/>
            <a:ext cx="2788920" cy="502920"/>
          </a:xfrm>
          <a:prstGeom prst="rect">
            <a:avLst/>
          </a:prstGeom>
          <a:noFill/>
          <a:ln/>
        </p:spPr>
        <p:txBody>
          <a:bodyPr wrap="square" rtlCol="0" anchor="ctr"/>
          <a:lstStyle/>
          <a:p>
            <a:pPr marL="0" indent="0" algn="ctr">
              <a:buNone/>
            </a:pPr>
            <a:endParaRPr lang="en-US" sz="3000" dirty="0">
              <a:latin typeface="Ubuntu" panose="020B0504030602030204" pitchFamily="34" charset="0"/>
            </a:endParaRPr>
          </a:p>
        </p:txBody>
      </p:sp>
      <p:sp>
        <p:nvSpPr>
          <p:cNvPr id="31" name="Shape 29"/>
          <p:cNvSpPr/>
          <p:nvPr/>
        </p:nvSpPr>
        <p:spPr>
          <a:xfrm>
            <a:off x="57677" y="829114"/>
            <a:ext cx="9037085" cy="4236662"/>
          </a:xfrm>
          <a:prstGeom prst="rect">
            <a:avLst/>
          </a:prstGeom>
          <a:solidFill>
            <a:srgbClr val="FFFFFF">
              <a:alpha val="7000"/>
            </a:srgbClr>
          </a:solidFill>
          <a:ln w="12700">
            <a:solidFill>
              <a:srgbClr val="E67E22"/>
            </a:solidFill>
            <a:prstDash val="solid"/>
          </a:ln>
          <a:effectLst>
            <a:outerShdw blurRad="101600" dist="38100" dir="8100000" algn="bl" rotWithShape="0">
              <a:srgbClr val="000000">
                <a:alpha val="15000"/>
              </a:srgbClr>
            </a:outerShdw>
          </a:effectLst>
        </p:spPr>
      </p:sp>
      <p:sp>
        <p:nvSpPr>
          <p:cNvPr id="32" name="Shape 30"/>
          <p:cNvSpPr/>
          <p:nvPr/>
        </p:nvSpPr>
        <p:spPr>
          <a:xfrm>
            <a:off x="57677" y="829114"/>
            <a:ext cx="9037085" cy="777240"/>
          </a:xfrm>
          <a:prstGeom prst="rect">
            <a:avLst/>
          </a:prstGeom>
          <a:solidFill>
            <a:srgbClr val="E67E22">
              <a:alpha val="65000"/>
            </a:srgbClr>
          </a:solidFill>
          <a:ln/>
        </p:spPr>
      </p:sp>
      <p:sp>
        <p:nvSpPr>
          <p:cNvPr id="33" name="Text 31"/>
          <p:cNvSpPr/>
          <p:nvPr/>
        </p:nvSpPr>
        <p:spPr>
          <a:xfrm>
            <a:off x="57677" y="856546"/>
            <a:ext cx="9037085" cy="502920"/>
          </a:xfrm>
          <a:prstGeom prst="rect">
            <a:avLst/>
          </a:prstGeom>
          <a:noFill/>
          <a:ln/>
        </p:spPr>
        <p:txBody>
          <a:bodyPr wrap="square" rtlCol="0" anchor="ctr"/>
          <a:lstStyle/>
          <a:p>
            <a:pPr marL="0" indent="0" algn="ctr">
              <a:buNone/>
            </a:pPr>
            <a:r>
              <a:rPr lang="en-US" sz="3000" dirty="0">
                <a:solidFill>
                  <a:srgbClr val="000000"/>
                </a:solidFill>
                <a:latin typeface="Ubuntu" panose="020B0504030602030204" pitchFamily="34" charset="0"/>
              </a:rPr>
              <a:t>📊</a:t>
            </a:r>
            <a:endParaRPr lang="en-US" sz="3000" dirty="0">
              <a:latin typeface="Ubuntu" panose="020B0504030602030204" pitchFamily="34" charset="0"/>
            </a:endParaRPr>
          </a:p>
        </p:txBody>
      </p:sp>
      <p:sp>
        <p:nvSpPr>
          <p:cNvPr id="34" name="Text 32"/>
          <p:cNvSpPr/>
          <p:nvPr/>
        </p:nvSpPr>
        <p:spPr>
          <a:xfrm>
            <a:off x="57677" y="1332034"/>
            <a:ext cx="9037085"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Ubuntu" panose="020B0504030602030204" pitchFamily="34" charset="0"/>
                <a:ea typeface="Georgia" pitchFamily="34" charset="-122"/>
                <a:cs typeface="Georgia" pitchFamily="34" charset="-120"/>
              </a:rPr>
              <a:t>Swagger API Docs</a:t>
            </a:r>
            <a:endParaRPr lang="en-US" sz="1200" dirty="0">
              <a:latin typeface="Ubuntu" panose="020B0504030602030204" pitchFamily="34" charset="0"/>
            </a:endParaRPr>
          </a:p>
        </p:txBody>
      </p:sp>
      <p:pic>
        <p:nvPicPr>
          <p:cNvPr id="37" name="Image 36">
            <a:extLst>
              <a:ext uri="{FF2B5EF4-FFF2-40B4-BE49-F238E27FC236}">
                <a16:creationId xmlns:a16="http://schemas.microsoft.com/office/drawing/2014/main" id="{F23CA3D6-753C-7DAA-8B92-8749258EE8D6}"/>
              </a:ext>
            </a:extLst>
          </p:cNvPr>
          <p:cNvPicPr>
            <a:picLocks noChangeAspect="1"/>
          </p:cNvPicPr>
          <p:nvPr/>
        </p:nvPicPr>
        <p:blipFill>
          <a:blip r:embed="rId3"/>
          <a:stretch>
            <a:fillRect/>
          </a:stretch>
        </p:blipFill>
        <p:spPr>
          <a:xfrm>
            <a:off x="57677" y="1606355"/>
            <a:ext cx="9028645" cy="341370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C0392B"/>
          </a:solidFill>
          <a:ln/>
        </p:spPr>
      </p:sp>
      <p:sp>
        <p:nvSpPr>
          <p:cNvPr id="3" name="Shape 1"/>
          <p:cNvSpPr/>
          <p:nvPr/>
        </p:nvSpPr>
        <p:spPr>
          <a:xfrm>
            <a:off x="0" y="0"/>
            <a:ext cx="457200" cy="777240"/>
          </a:xfrm>
          <a:prstGeom prst="rect">
            <a:avLst/>
          </a:prstGeom>
          <a:solidFill>
            <a:srgbClr val="C0392B"/>
          </a:solidFill>
          <a:ln/>
        </p:spPr>
      </p:sp>
      <p:sp>
        <p:nvSpPr>
          <p:cNvPr id="4" name="Text 2"/>
          <p:cNvSpPr/>
          <p:nvPr/>
        </p:nvSpPr>
        <p:spPr>
          <a:xfrm>
            <a:off x="548640" y="0"/>
            <a:ext cx="7315200" cy="777240"/>
          </a:xfrm>
          <a:prstGeom prst="rect">
            <a:avLst/>
          </a:prstGeom>
          <a:noFill/>
          <a:ln/>
        </p:spPr>
        <p:txBody>
          <a:bodyPr wrap="square" lIns="0" tIns="0" rIns="0" bIns="0" rtlCol="0" anchor="ctr"/>
          <a:lstStyle/>
          <a:p>
            <a:pPr marL="0" indent="0" algn="l">
              <a:buNone/>
            </a:pPr>
            <a:r>
              <a:rPr lang="en-US" sz="2200" b="1" dirty="0">
                <a:solidFill>
                  <a:srgbClr val="FFFFFF"/>
                </a:solidFill>
                <a:latin typeface="Ubuntu" panose="020B0504030602030204" pitchFamily="34" charset="0"/>
                <a:ea typeface="Georgia" pitchFamily="34" charset="-122"/>
                <a:cs typeface="Georgia" pitchFamily="34" charset="-120"/>
              </a:rPr>
              <a:t>Part 5 </a:t>
            </a:r>
            <a:r>
              <a:rPr lang="fr-FR" sz="2200" b="1" dirty="0">
                <a:solidFill>
                  <a:srgbClr val="FFFFFF"/>
                </a:solidFill>
                <a:latin typeface="Ubuntu" panose="020B0504030602030204" pitchFamily="34" charset="0"/>
                <a:ea typeface="Georgia" pitchFamily="34" charset="-122"/>
                <a:cs typeface="Georgia" pitchFamily="34" charset="-120"/>
              </a:rPr>
              <a:t>:</a:t>
            </a:r>
            <a:r>
              <a:rPr lang="en-US" sz="2200" b="1" dirty="0">
                <a:solidFill>
                  <a:srgbClr val="FFFFFF"/>
                </a:solidFill>
                <a:latin typeface="Ubuntu" panose="020B0504030602030204" pitchFamily="34" charset="0"/>
                <a:ea typeface="Georgia" pitchFamily="34" charset="-122"/>
                <a:cs typeface="Georgia" pitchFamily="34" charset="-120"/>
              </a:rPr>
              <a:t> Code Enhancement (pytest + flake8)</a:t>
            </a:r>
            <a:endParaRPr lang="en-US" sz="2200" dirty="0">
              <a:latin typeface="Ubuntu" panose="020B0504030602030204" pitchFamily="34" charset="0"/>
            </a:endParaRPr>
          </a:p>
        </p:txBody>
      </p:sp>
      <p:sp>
        <p:nvSpPr>
          <p:cNvPr id="6" name="Shape 4"/>
          <p:cNvSpPr/>
          <p:nvPr/>
        </p:nvSpPr>
        <p:spPr>
          <a:xfrm>
            <a:off x="228600" y="1283679"/>
            <a:ext cx="4206240" cy="3569677"/>
          </a:xfrm>
          <a:prstGeom prst="rect">
            <a:avLst/>
          </a:prstGeom>
          <a:solidFill>
            <a:srgbClr val="FFFFFF"/>
          </a:solidFill>
          <a:ln/>
          <a:effectLst>
            <a:outerShdw blurRad="101600" dist="38100" dir="8100000" algn="bl" rotWithShape="0">
              <a:srgbClr val="000000">
                <a:alpha val="15000"/>
              </a:srgbClr>
            </a:outerShdw>
          </a:effectLst>
        </p:spPr>
      </p:sp>
      <p:sp>
        <p:nvSpPr>
          <p:cNvPr id="7" name="Shape 5"/>
          <p:cNvSpPr/>
          <p:nvPr/>
        </p:nvSpPr>
        <p:spPr>
          <a:xfrm>
            <a:off x="228600" y="1283679"/>
            <a:ext cx="4206240" cy="457200"/>
          </a:xfrm>
          <a:prstGeom prst="rect">
            <a:avLst/>
          </a:prstGeom>
          <a:solidFill>
            <a:srgbClr val="1A6B3C"/>
          </a:solidFill>
          <a:ln/>
        </p:spPr>
      </p:sp>
      <p:sp>
        <p:nvSpPr>
          <p:cNvPr id="8" name="Text 6"/>
          <p:cNvSpPr/>
          <p:nvPr/>
        </p:nvSpPr>
        <p:spPr>
          <a:xfrm>
            <a:off x="228600" y="1283679"/>
            <a:ext cx="420624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Ubuntu" panose="020B0504030602030204" pitchFamily="34" charset="0"/>
                <a:ea typeface="Georgia" pitchFamily="34" charset="-122"/>
                <a:cs typeface="Georgia" pitchFamily="34" charset="-120"/>
              </a:rPr>
              <a:t> </a:t>
            </a:r>
            <a:r>
              <a:rPr lang="en-US" sz="1400" b="1" dirty="0" err="1">
                <a:solidFill>
                  <a:srgbClr val="FFFFFF"/>
                </a:solidFill>
                <a:latin typeface="Ubuntu" panose="020B0504030602030204" pitchFamily="34" charset="0"/>
                <a:ea typeface="Georgia" pitchFamily="34" charset="-122"/>
                <a:cs typeface="Georgia" pitchFamily="34" charset="-120"/>
              </a:rPr>
              <a:t>pytest</a:t>
            </a:r>
            <a:r>
              <a:rPr lang="en-US" sz="1400" b="1" dirty="0">
                <a:solidFill>
                  <a:srgbClr val="FFFFFF"/>
                </a:solidFill>
                <a:latin typeface="Ubuntu" panose="020B0504030602030204" pitchFamily="34" charset="0"/>
                <a:ea typeface="Georgia" pitchFamily="34" charset="-122"/>
                <a:cs typeface="Georgia" pitchFamily="34" charset="-120"/>
              </a:rPr>
              <a:t> : Unit Testing</a:t>
            </a:r>
            <a:endParaRPr lang="en-US" sz="1400" dirty="0">
              <a:latin typeface="Ubuntu" panose="020B0504030602030204" pitchFamily="34" charset="0"/>
            </a:endParaRPr>
          </a:p>
        </p:txBody>
      </p:sp>
      <p:sp>
        <p:nvSpPr>
          <p:cNvPr id="9" name="Text 7"/>
          <p:cNvSpPr/>
          <p:nvPr/>
        </p:nvSpPr>
        <p:spPr>
          <a:xfrm>
            <a:off x="320040" y="2631364"/>
            <a:ext cx="4023360" cy="2221992"/>
          </a:xfrm>
          <a:prstGeom prst="rect">
            <a:avLst/>
          </a:prstGeom>
          <a:noFill/>
          <a:ln/>
        </p:spPr>
        <p:txBody>
          <a:bodyPr wrap="square" lIns="0" tIns="0" rIns="0" bIns="0" rtlCol="0" anchor="ctr"/>
          <a:lstStyle/>
          <a:p>
            <a:pPr marL="0" indent="0">
              <a:buNone/>
            </a:pPr>
            <a:r>
              <a:rPr lang="en-US" sz="850" dirty="0">
                <a:solidFill>
                  <a:srgbClr val="5D4037"/>
                </a:solidFill>
                <a:latin typeface="Ubuntu" panose="020B0504030602030204" pitchFamily="34" charset="0"/>
                <a:ea typeface="Consolas" pitchFamily="34" charset="-122"/>
                <a:cs typeface="Consolas" pitchFamily="34" charset="-120"/>
              </a:rPr>
              <a:t># test_ai_engine.py</a:t>
            </a:r>
            <a:endParaRPr lang="en-US" sz="850" dirty="0">
              <a:latin typeface="Ubuntu" panose="020B0504030602030204" pitchFamily="34" charset="0"/>
            </a:endParaRPr>
          </a:p>
          <a:p>
            <a:pPr marL="0" indent="0">
              <a:buNone/>
            </a:pPr>
            <a:r>
              <a:rPr lang="en-US" sz="850" dirty="0">
                <a:solidFill>
                  <a:srgbClr val="5D4037"/>
                </a:solidFill>
                <a:latin typeface="Ubuntu" panose="020B0504030602030204" pitchFamily="34" charset="0"/>
                <a:ea typeface="Consolas" pitchFamily="34" charset="-122"/>
                <a:cs typeface="Consolas" pitchFamily="34" charset="-120"/>
              </a:rPr>
              <a:t>from app.services.ai_engine import (</a:t>
            </a:r>
            <a:endParaRPr lang="en-US" sz="850" dirty="0">
              <a:latin typeface="Ubuntu" panose="020B0504030602030204" pitchFamily="34" charset="0"/>
            </a:endParaRPr>
          </a:p>
          <a:p>
            <a:pPr marL="0" indent="0">
              <a:buNone/>
            </a:pPr>
            <a:r>
              <a:rPr lang="en-US" sz="850" dirty="0">
                <a:solidFill>
                  <a:srgbClr val="5D4037"/>
                </a:solidFill>
                <a:latin typeface="Ubuntu" panose="020B0504030602030204" pitchFamily="34" charset="0"/>
                <a:ea typeface="Consolas" pitchFamily="34" charset="-122"/>
                <a:cs typeface="Consolas" pitchFamily="34" charset="-120"/>
              </a:rPr>
              <a:t>    normalize, simple_match_score,</a:t>
            </a:r>
            <a:endParaRPr lang="en-US" sz="850" dirty="0">
              <a:latin typeface="Ubuntu" panose="020B0504030602030204" pitchFamily="34" charset="0"/>
            </a:endParaRPr>
          </a:p>
          <a:p>
            <a:pPr marL="0" indent="0">
              <a:buNone/>
            </a:pPr>
            <a:r>
              <a:rPr lang="en-US" sz="850" dirty="0">
                <a:solidFill>
                  <a:srgbClr val="5D4037"/>
                </a:solidFill>
                <a:latin typeface="Ubuntu" panose="020B0504030602030204" pitchFamily="34" charset="0"/>
                <a:ea typeface="Consolas" pitchFamily="34" charset="-122"/>
                <a:cs typeface="Consolas" pitchFamily="34" charset="-120"/>
              </a:rPr>
              <a:t>    tfidf_similarity</a:t>
            </a:r>
            <a:endParaRPr lang="en-US" sz="850" dirty="0">
              <a:latin typeface="Ubuntu" panose="020B0504030602030204" pitchFamily="34" charset="0"/>
            </a:endParaRPr>
          </a:p>
          <a:p>
            <a:pPr marL="0" indent="0">
              <a:buNone/>
            </a:pPr>
            <a:r>
              <a:rPr lang="en-US" sz="850" dirty="0">
                <a:solidFill>
                  <a:srgbClr val="5D4037"/>
                </a:solidFill>
                <a:latin typeface="Ubuntu" panose="020B0504030602030204" pitchFamily="34" charset="0"/>
                <a:ea typeface="Consolas" pitchFamily="34" charset="-122"/>
                <a:cs typeface="Consolas" pitchFamily="34" charset="-120"/>
              </a:rPr>
              <a:t>)</a:t>
            </a:r>
            <a:endParaRPr lang="en-US" sz="850" dirty="0">
              <a:latin typeface="Ubuntu" panose="020B0504030602030204" pitchFamily="34" charset="0"/>
            </a:endParaRPr>
          </a:p>
          <a:p>
            <a:pPr marL="0" indent="0">
              <a:buNone/>
            </a:pPr>
            <a:endParaRPr lang="en-US" sz="850" dirty="0">
              <a:latin typeface="Ubuntu" panose="020B0504030602030204" pitchFamily="34" charset="0"/>
            </a:endParaRPr>
          </a:p>
          <a:p>
            <a:pPr marL="0" indent="0">
              <a:buNone/>
            </a:pPr>
            <a:r>
              <a:rPr lang="en-US" sz="850" dirty="0">
                <a:solidFill>
                  <a:srgbClr val="5D4037"/>
                </a:solidFill>
                <a:latin typeface="Ubuntu" panose="020B0504030602030204" pitchFamily="34" charset="0"/>
                <a:ea typeface="Consolas" pitchFamily="34" charset="-122"/>
                <a:cs typeface="Consolas" pitchFamily="34" charset="-120"/>
              </a:rPr>
              <a:t>def test_normalize_arabic():</a:t>
            </a:r>
            <a:endParaRPr lang="en-US" sz="850" dirty="0">
              <a:latin typeface="Ubuntu" panose="020B0504030602030204" pitchFamily="34" charset="0"/>
            </a:endParaRPr>
          </a:p>
          <a:p>
            <a:pPr marL="0" indent="0">
              <a:buNone/>
            </a:pPr>
            <a:r>
              <a:rPr lang="en-US" sz="850" dirty="0">
                <a:solidFill>
                  <a:srgbClr val="5D4037"/>
                </a:solidFill>
                <a:latin typeface="Ubuntu" panose="020B0504030602030204" pitchFamily="34" charset="0"/>
                <a:ea typeface="Consolas" pitchFamily="34" charset="-122"/>
                <a:cs typeface="Consolas" pitchFamily="34" charset="-120"/>
              </a:rPr>
              <a:t>    assert normalize("أحمد") == "احمد"</a:t>
            </a:r>
            <a:endParaRPr lang="en-US" sz="850" dirty="0">
              <a:latin typeface="Ubuntu" panose="020B0504030602030204" pitchFamily="34" charset="0"/>
            </a:endParaRPr>
          </a:p>
          <a:p>
            <a:pPr marL="0" indent="0">
              <a:buNone/>
            </a:pPr>
            <a:r>
              <a:rPr lang="en-US" sz="850" dirty="0">
                <a:solidFill>
                  <a:srgbClr val="5D4037"/>
                </a:solidFill>
                <a:latin typeface="Ubuntu" panose="020B0504030602030204" pitchFamily="34" charset="0"/>
                <a:ea typeface="Consolas" pitchFamily="34" charset="-122"/>
                <a:cs typeface="Consolas" pitchFamily="34" charset="-120"/>
              </a:rPr>
              <a:t>    assert normalize("تمرة") == "تمره"</a:t>
            </a:r>
            <a:endParaRPr lang="en-US" sz="850" dirty="0">
              <a:latin typeface="Ubuntu" panose="020B0504030602030204" pitchFamily="34" charset="0"/>
            </a:endParaRPr>
          </a:p>
          <a:p>
            <a:pPr marL="0" indent="0">
              <a:buNone/>
            </a:pPr>
            <a:endParaRPr lang="en-US" sz="850" dirty="0">
              <a:latin typeface="Ubuntu" panose="020B0504030602030204" pitchFamily="34" charset="0"/>
            </a:endParaRPr>
          </a:p>
          <a:p>
            <a:pPr marL="0" indent="0">
              <a:buNone/>
            </a:pPr>
            <a:r>
              <a:rPr lang="en-US" sz="850" dirty="0">
                <a:solidFill>
                  <a:srgbClr val="5D4037"/>
                </a:solidFill>
                <a:latin typeface="Ubuntu" panose="020B0504030602030204" pitchFamily="34" charset="0"/>
                <a:ea typeface="Consolas" pitchFamily="34" charset="-122"/>
                <a:cs typeface="Consolas" pitchFamily="34" charset="-120"/>
              </a:rPr>
              <a:t>def test_simple_match():</a:t>
            </a:r>
            <a:endParaRPr lang="en-US" sz="850" dirty="0">
              <a:latin typeface="Ubuntu" panose="020B0504030602030204" pitchFamily="34" charset="0"/>
            </a:endParaRPr>
          </a:p>
          <a:p>
            <a:pPr marL="0" indent="0">
              <a:buNone/>
            </a:pPr>
            <a:r>
              <a:rPr lang="en-US" sz="850" dirty="0">
                <a:solidFill>
                  <a:srgbClr val="5D4037"/>
                </a:solidFill>
                <a:latin typeface="Ubuntu" panose="020B0504030602030204" pitchFamily="34" charset="0"/>
                <a:ea typeface="Consolas" pitchFamily="34" charset="-122"/>
                <a:cs typeface="Consolas" pitchFamily="34" charset="-120"/>
              </a:rPr>
              <a:t>    user = ["جزر", "بطاطس"]</a:t>
            </a:r>
            <a:endParaRPr lang="en-US" sz="850" dirty="0">
              <a:latin typeface="Ubuntu" panose="020B0504030602030204" pitchFamily="34" charset="0"/>
            </a:endParaRPr>
          </a:p>
          <a:p>
            <a:pPr marL="0" indent="0">
              <a:buNone/>
            </a:pPr>
            <a:r>
              <a:rPr lang="en-US" sz="850" dirty="0">
                <a:solidFill>
                  <a:srgbClr val="5D4037"/>
                </a:solidFill>
                <a:latin typeface="Ubuntu" panose="020B0504030602030204" pitchFamily="34" charset="0"/>
                <a:ea typeface="Consolas" pitchFamily="34" charset="-122"/>
                <a:cs typeface="Consolas" pitchFamily="34" charset="-120"/>
              </a:rPr>
              <a:t>    recipe = ["جزر", "بطاطس", "لحم"]</a:t>
            </a:r>
            <a:endParaRPr lang="en-US" sz="850" dirty="0">
              <a:latin typeface="Ubuntu" panose="020B0504030602030204" pitchFamily="34" charset="0"/>
            </a:endParaRPr>
          </a:p>
          <a:p>
            <a:pPr marL="0" indent="0">
              <a:buNone/>
            </a:pPr>
            <a:r>
              <a:rPr lang="en-US" sz="850" dirty="0">
                <a:solidFill>
                  <a:srgbClr val="5D4037"/>
                </a:solidFill>
                <a:latin typeface="Ubuntu" panose="020B0504030602030204" pitchFamily="34" charset="0"/>
                <a:ea typeface="Consolas" pitchFamily="34" charset="-122"/>
                <a:cs typeface="Consolas" pitchFamily="34" charset="-120"/>
              </a:rPr>
              <a:t>    result = simple_match_score(user, recipe)</a:t>
            </a:r>
            <a:endParaRPr lang="en-US" sz="850" dirty="0">
              <a:latin typeface="Ubuntu" panose="020B0504030602030204" pitchFamily="34" charset="0"/>
            </a:endParaRPr>
          </a:p>
          <a:p>
            <a:pPr marL="0" indent="0">
              <a:buNone/>
            </a:pPr>
            <a:r>
              <a:rPr lang="en-US" sz="850" dirty="0">
                <a:solidFill>
                  <a:srgbClr val="5D4037"/>
                </a:solidFill>
                <a:latin typeface="Ubuntu" panose="020B0504030602030204" pitchFamily="34" charset="0"/>
                <a:ea typeface="Consolas" pitchFamily="34" charset="-122"/>
                <a:cs typeface="Consolas" pitchFamily="34" charset="-120"/>
              </a:rPr>
              <a:t>    assert result["match_count"] == 2</a:t>
            </a:r>
            <a:endParaRPr lang="en-US" sz="850" dirty="0">
              <a:latin typeface="Ubuntu" panose="020B0504030602030204" pitchFamily="34" charset="0"/>
            </a:endParaRPr>
          </a:p>
          <a:p>
            <a:pPr marL="0" indent="0">
              <a:buNone/>
            </a:pPr>
            <a:r>
              <a:rPr lang="en-US" sz="850" dirty="0">
                <a:solidFill>
                  <a:srgbClr val="5D4037"/>
                </a:solidFill>
                <a:latin typeface="Ubuntu" panose="020B0504030602030204" pitchFamily="34" charset="0"/>
                <a:ea typeface="Consolas" pitchFamily="34" charset="-122"/>
                <a:cs typeface="Consolas" pitchFamily="34" charset="-120"/>
              </a:rPr>
              <a:t>    assert result["match_percent"] == 67</a:t>
            </a:r>
            <a:endParaRPr lang="en-US" sz="850" dirty="0">
              <a:latin typeface="Ubuntu" panose="020B0504030602030204" pitchFamily="34" charset="0"/>
            </a:endParaRPr>
          </a:p>
        </p:txBody>
      </p:sp>
      <p:sp>
        <p:nvSpPr>
          <p:cNvPr id="10" name="Shape 8"/>
          <p:cNvSpPr/>
          <p:nvPr/>
        </p:nvSpPr>
        <p:spPr>
          <a:xfrm>
            <a:off x="4709160" y="1283678"/>
            <a:ext cx="4206240" cy="3640013"/>
          </a:xfrm>
          <a:prstGeom prst="rect">
            <a:avLst/>
          </a:prstGeom>
          <a:solidFill>
            <a:srgbClr val="FFFFFF"/>
          </a:solidFill>
          <a:ln/>
          <a:effectLst>
            <a:outerShdw blurRad="101600" dist="38100" dir="8100000" algn="bl" rotWithShape="0">
              <a:srgbClr val="000000">
                <a:alpha val="15000"/>
              </a:srgbClr>
            </a:outerShdw>
          </a:effectLst>
        </p:spPr>
      </p:sp>
      <p:sp>
        <p:nvSpPr>
          <p:cNvPr id="11" name="Shape 9"/>
          <p:cNvSpPr/>
          <p:nvPr/>
        </p:nvSpPr>
        <p:spPr>
          <a:xfrm>
            <a:off x="4709160" y="1283679"/>
            <a:ext cx="4206240" cy="457200"/>
          </a:xfrm>
          <a:prstGeom prst="rect">
            <a:avLst/>
          </a:prstGeom>
          <a:solidFill>
            <a:srgbClr val="15618A"/>
          </a:solidFill>
          <a:ln/>
        </p:spPr>
      </p:sp>
      <p:sp>
        <p:nvSpPr>
          <p:cNvPr id="12" name="Text 10"/>
          <p:cNvSpPr/>
          <p:nvPr/>
        </p:nvSpPr>
        <p:spPr>
          <a:xfrm>
            <a:off x="4709160" y="1283679"/>
            <a:ext cx="420624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Ubuntu" panose="020B0504030602030204" pitchFamily="34" charset="0"/>
                <a:ea typeface="Georgia" pitchFamily="34" charset="-122"/>
                <a:cs typeface="Georgia" pitchFamily="34" charset="-120"/>
              </a:rPr>
              <a:t>flake8 : Code Quality</a:t>
            </a:r>
            <a:endParaRPr lang="en-US" sz="1400" dirty="0">
              <a:latin typeface="Ubuntu" panose="020B0504030602030204" pitchFamily="34" charset="0"/>
            </a:endParaRPr>
          </a:p>
        </p:txBody>
      </p:sp>
      <p:sp>
        <p:nvSpPr>
          <p:cNvPr id="13" name="Text 11"/>
          <p:cNvSpPr/>
          <p:nvPr/>
        </p:nvSpPr>
        <p:spPr>
          <a:xfrm>
            <a:off x="4846320" y="2551883"/>
            <a:ext cx="3931920" cy="228600"/>
          </a:xfrm>
          <a:prstGeom prst="rect">
            <a:avLst/>
          </a:prstGeom>
          <a:noFill/>
          <a:ln/>
        </p:spPr>
        <p:txBody>
          <a:bodyPr wrap="square" lIns="0" tIns="0" rIns="0" bIns="0" rtlCol="0" anchor="ctr"/>
          <a:lstStyle/>
          <a:p>
            <a:pPr marL="0" indent="0">
              <a:buNone/>
            </a:pPr>
            <a:r>
              <a:rPr lang="en-US" sz="1100" dirty="0">
                <a:solidFill>
                  <a:srgbClr val="5D4037"/>
                </a:solidFill>
                <a:latin typeface="Ubuntu" panose="020B0504030602030204" pitchFamily="34" charset="0"/>
                <a:ea typeface="Calibri" pitchFamily="34" charset="-122"/>
                <a:cs typeface="Calibri" pitchFamily="34" charset="-120"/>
              </a:rPr>
              <a:t>PEP8 compliance check</a:t>
            </a:r>
            <a:endParaRPr lang="en-US" sz="1100" dirty="0">
              <a:latin typeface="Ubuntu" panose="020B0504030602030204" pitchFamily="34" charset="0"/>
            </a:endParaRPr>
          </a:p>
        </p:txBody>
      </p:sp>
      <p:sp>
        <p:nvSpPr>
          <p:cNvPr id="14" name="Text 12"/>
          <p:cNvSpPr/>
          <p:nvPr/>
        </p:nvSpPr>
        <p:spPr>
          <a:xfrm>
            <a:off x="4846320" y="2807915"/>
            <a:ext cx="3931920" cy="228600"/>
          </a:xfrm>
          <a:prstGeom prst="rect">
            <a:avLst/>
          </a:prstGeom>
          <a:noFill/>
          <a:ln/>
        </p:spPr>
        <p:txBody>
          <a:bodyPr wrap="square" lIns="0" tIns="0" rIns="0" bIns="0" rtlCol="0" anchor="ctr"/>
          <a:lstStyle/>
          <a:p>
            <a:pPr marL="0" indent="0">
              <a:buNone/>
            </a:pPr>
            <a:r>
              <a:rPr lang="en-US" sz="1100" dirty="0">
                <a:solidFill>
                  <a:srgbClr val="5D4037"/>
                </a:solidFill>
                <a:latin typeface="Ubuntu" panose="020B0504030602030204" pitchFamily="34" charset="0"/>
                <a:ea typeface="Calibri" pitchFamily="34" charset="-122"/>
                <a:cs typeface="Calibri" pitchFamily="34" charset="-120"/>
              </a:rPr>
              <a:t>Max line length: 100 chars</a:t>
            </a:r>
            <a:endParaRPr lang="en-US" sz="1100" dirty="0">
              <a:latin typeface="Ubuntu" panose="020B0504030602030204" pitchFamily="34" charset="0"/>
            </a:endParaRPr>
          </a:p>
        </p:txBody>
      </p:sp>
      <p:sp>
        <p:nvSpPr>
          <p:cNvPr id="15" name="Text 13"/>
          <p:cNvSpPr/>
          <p:nvPr/>
        </p:nvSpPr>
        <p:spPr>
          <a:xfrm>
            <a:off x="4846320" y="3063947"/>
            <a:ext cx="3931920" cy="228600"/>
          </a:xfrm>
          <a:prstGeom prst="rect">
            <a:avLst/>
          </a:prstGeom>
          <a:noFill/>
          <a:ln/>
        </p:spPr>
        <p:txBody>
          <a:bodyPr wrap="square" lIns="0" tIns="0" rIns="0" bIns="0" rtlCol="0" anchor="ctr"/>
          <a:lstStyle/>
          <a:p>
            <a:pPr marL="0" indent="0">
              <a:buNone/>
            </a:pPr>
            <a:r>
              <a:rPr lang="en-US" sz="1100" dirty="0">
                <a:solidFill>
                  <a:srgbClr val="5D4037"/>
                </a:solidFill>
                <a:latin typeface="Ubuntu" panose="020B0504030602030204" pitchFamily="34" charset="0"/>
                <a:ea typeface="Calibri" pitchFamily="34" charset="-122"/>
                <a:cs typeface="Calibri" pitchFamily="34" charset="-120"/>
              </a:rPr>
              <a:t>No unused imports</a:t>
            </a:r>
            <a:endParaRPr lang="en-US" sz="1100" dirty="0">
              <a:latin typeface="Ubuntu" panose="020B0504030602030204" pitchFamily="34" charset="0"/>
            </a:endParaRPr>
          </a:p>
        </p:txBody>
      </p:sp>
      <p:sp>
        <p:nvSpPr>
          <p:cNvPr id="16" name="Text 14"/>
          <p:cNvSpPr/>
          <p:nvPr/>
        </p:nvSpPr>
        <p:spPr>
          <a:xfrm>
            <a:off x="4846320" y="3319979"/>
            <a:ext cx="3931920" cy="228600"/>
          </a:xfrm>
          <a:prstGeom prst="rect">
            <a:avLst/>
          </a:prstGeom>
          <a:noFill/>
          <a:ln/>
        </p:spPr>
        <p:txBody>
          <a:bodyPr wrap="square" lIns="0" tIns="0" rIns="0" bIns="0" rtlCol="0" anchor="ctr"/>
          <a:lstStyle/>
          <a:p>
            <a:pPr marL="0" indent="0">
              <a:buNone/>
            </a:pPr>
            <a:r>
              <a:rPr lang="en-US" sz="1100" dirty="0">
                <a:solidFill>
                  <a:srgbClr val="5D4037"/>
                </a:solidFill>
                <a:latin typeface="Ubuntu" panose="020B0504030602030204" pitchFamily="34" charset="0"/>
                <a:ea typeface="Calibri" pitchFamily="34" charset="-122"/>
                <a:cs typeface="Calibri" pitchFamily="34" charset="-120"/>
              </a:rPr>
              <a:t>Proper indentation</a:t>
            </a:r>
            <a:endParaRPr lang="en-US" sz="1100" dirty="0">
              <a:latin typeface="Ubuntu" panose="020B0504030602030204" pitchFamily="34" charset="0"/>
            </a:endParaRPr>
          </a:p>
        </p:txBody>
      </p:sp>
      <p:sp>
        <p:nvSpPr>
          <p:cNvPr id="17" name="Text 15"/>
          <p:cNvSpPr/>
          <p:nvPr/>
        </p:nvSpPr>
        <p:spPr>
          <a:xfrm>
            <a:off x="4846320" y="3576011"/>
            <a:ext cx="3931920" cy="228600"/>
          </a:xfrm>
          <a:prstGeom prst="rect">
            <a:avLst/>
          </a:prstGeom>
          <a:noFill/>
          <a:ln/>
        </p:spPr>
        <p:txBody>
          <a:bodyPr wrap="square" lIns="0" tIns="0" rIns="0" bIns="0" rtlCol="0" anchor="ctr"/>
          <a:lstStyle/>
          <a:p>
            <a:pPr marL="0" indent="0">
              <a:buNone/>
            </a:pPr>
            <a:r>
              <a:rPr lang="en-US" sz="1100" dirty="0">
                <a:solidFill>
                  <a:srgbClr val="5D4037"/>
                </a:solidFill>
                <a:latin typeface="Ubuntu" panose="020B0504030602030204" pitchFamily="34" charset="0"/>
                <a:ea typeface="Calibri" pitchFamily="34" charset="-122"/>
                <a:cs typeface="Calibri" pitchFamily="34" charset="-120"/>
              </a:rPr>
              <a:t>No undefined variables</a:t>
            </a:r>
            <a:endParaRPr lang="en-US" sz="1100" dirty="0">
              <a:latin typeface="Ubuntu" panose="020B0504030602030204" pitchFamily="34" charset="0"/>
            </a:endParaRPr>
          </a:p>
        </p:txBody>
      </p:sp>
      <p:sp>
        <p:nvSpPr>
          <p:cNvPr id="29" name="ZoneTexte 28">
            <a:extLst>
              <a:ext uri="{FF2B5EF4-FFF2-40B4-BE49-F238E27FC236}">
                <a16:creationId xmlns:a16="http://schemas.microsoft.com/office/drawing/2014/main" id="{3E2CD871-DCF4-4C46-4A67-8925D84350C9}"/>
              </a:ext>
            </a:extLst>
          </p:cNvPr>
          <p:cNvSpPr txBox="1"/>
          <p:nvPr/>
        </p:nvSpPr>
        <p:spPr>
          <a:xfrm>
            <a:off x="320040" y="1906174"/>
            <a:ext cx="4023360" cy="600164"/>
          </a:xfrm>
          <a:prstGeom prst="rect">
            <a:avLst/>
          </a:prstGeom>
          <a:noFill/>
          <a:ln/>
        </p:spPr>
        <p:txBody>
          <a:bodyPr wrap="square" lIns="0" tIns="0" rIns="0" bIns="0" rtlCol="0" anchor="ctr"/>
          <a:lstStyle>
            <a:lvl1pPr indent="0">
              <a:buNone/>
              <a:defRPr sz="1100">
                <a:solidFill>
                  <a:srgbClr val="5D4037"/>
                </a:solidFill>
                <a:latin typeface="Ubuntu" panose="020B0504030602030204" pitchFamily="34" charset="0"/>
                <a:ea typeface="Calibri" pitchFamily="34" charset="-122"/>
                <a:cs typeface="Calibri" pitchFamily="34" charset="-120"/>
              </a:defRPr>
            </a:lvl1pPr>
          </a:lstStyle>
          <a:p>
            <a:r>
              <a:rPr lang="en-US" dirty="0" err="1"/>
              <a:t>pytest</a:t>
            </a:r>
            <a:r>
              <a:rPr lang="en-US" dirty="0"/>
              <a:t> is a Python testing framework that automatically verifies that functions produce the correct output</a:t>
            </a:r>
          </a:p>
          <a:p>
            <a:endParaRPr lang="en-US" dirty="0"/>
          </a:p>
        </p:txBody>
      </p:sp>
      <p:sp>
        <p:nvSpPr>
          <p:cNvPr id="30" name="ZoneTexte 29">
            <a:extLst>
              <a:ext uri="{FF2B5EF4-FFF2-40B4-BE49-F238E27FC236}">
                <a16:creationId xmlns:a16="http://schemas.microsoft.com/office/drawing/2014/main" id="{CA8C5362-D27F-8FF2-F3D6-7162B961E681}"/>
              </a:ext>
            </a:extLst>
          </p:cNvPr>
          <p:cNvSpPr txBox="1"/>
          <p:nvPr/>
        </p:nvSpPr>
        <p:spPr>
          <a:xfrm>
            <a:off x="320040" y="914400"/>
            <a:ext cx="8219049" cy="738664"/>
          </a:xfrm>
          <a:prstGeom prst="rect">
            <a:avLst/>
          </a:prstGeom>
          <a:noFill/>
          <a:ln/>
        </p:spPr>
        <p:txBody>
          <a:bodyPr wrap="square" lIns="0" tIns="0" rIns="0" bIns="0" rtlCol="0" anchor="ctr"/>
          <a:lstStyle>
            <a:lvl1pPr indent="0">
              <a:buNone/>
              <a:defRPr sz="1100">
                <a:solidFill>
                  <a:srgbClr val="5D4037"/>
                </a:solidFill>
                <a:latin typeface="Ubuntu" panose="020B0504030602030204" pitchFamily="34" charset="0"/>
                <a:ea typeface="Calibri" pitchFamily="34" charset="-122"/>
                <a:cs typeface="Calibri" pitchFamily="34" charset="-120"/>
              </a:defRPr>
            </a:lvl1pPr>
          </a:lstStyle>
          <a:p>
            <a:r>
              <a:rPr lang="en-US" dirty="0"/>
              <a:t>We used </a:t>
            </a:r>
            <a:r>
              <a:rPr lang="en-US" dirty="0" err="1"/>
              <a:t>pytest</a:t>
            </a:r>
            <a:r>
              <a:rPr lang="en-US" dirty="0"/>
              <a:t> to test the correctness of our AI functions, and flake8 to ensure our code follows Python best practices (PEP8)</a:t>
            </a:r>
          </a:p>
          <a:p>
            <a:endParaRPr lang="en-US" dirty="0"/>
          </a:p>
        </p:txBody>
      </p:sp>
      <p:sp>
        <p:nvSpPr>
          <p:cNvPr id="31" name="Text 11">
            <a:extLst>
              <a:ext uri="{FF2B5EF4-FFF2-40B4-BE49-F238E27FC236}">
                <a16:creationId xmlns:a16="http://schemas.microsoft.com/office/drawing/2014/main" id="{241990FB-8F8A-05BB-A3F0-C023645F9D9B}"/>
              </a:ext>
            </a:extLst>
          </p:cNvPr>
          <p:cNvSpPr/>
          <p:nvPr/>
        </p:nvSpPr>
        <p:spPr>
          <a:xfrm>
            <a:off x="4846320" y="1927691"/>
            <a:ext cx="3931920" cy="228600"/>
          </a:xfrm>
          <a:prstGeom prst="rect">
            <a:avLst/>
          </a:prstGeom>
          <a:noFill/>
          <a:ln/>
        </p:spPr>
        <p:txBody>
          <a:bodyPr wrap="square" lIns="0" tIns="0" rIns="0" bIns="0" rtlCol="0" anchor="ctr"/>
          <a:lstStyle/>
          <a:p>
            <a:r>
              <a:rPr lang="en-US" sz="1100" dirty="0">
                <a:solidFill>
                  <a:srgbClr val="5D4037"/>
                </a:solidFill>
                <a:latin typeface="Ubuntu" panose="020B0504030602030204" pitchFamily="34" charset="0"/>
                <a:ea typeface="Calibri" pitchFamily="34" charset="-122"/>
                <a:cs typeface="Calibri" pitchFamily="34" charset="-120"/>
              </a:rPr>
              <a:t>flake8 is a code quality checker that enforces Python coding standards (PEP8) — detects unused imports, missing spaces, and long lines</a:t>
            </a:r>
          </a:p>
        </p:txBody>
      </p:sp>
      <p:sp>
        <p:nvSpPr>
          <p:cNvPr id="32" name="Text 15">
            <a:extLst>
              <a:ext uri="{FF2B5EF4-FFF2-40B4-BE49-F238E27FC236}">
                <a16:creationId xmlns:a16="http://schemas.microsoft.com/office/drawing/2014/main" id="{7259DFD5-D176-73F0-6F75-15241C7FEC6F}"/>
              </a:ext>
            </a:extLst>
          </p:cNvPr>
          <p:cNvSpPr/>
          <p:nvPr/>
        </p:nvSpPr>
        <p:spPr>
          <a:xfrm>
            <a:off x="4846320" y="4135551"/>
            <a:ext cx="3931920" cy="228600"/>
          </a:xfrm>
          <a:prstGeom prst="rect">
            <a:avLst/>
          </a:prstGeom>
          <a:noFill/>
          <a:ln/>
        </p:spPr>
        <p:txBody>
          <a:bodyPr wrap="square" lIns="0" tIns="0" rIns="0" bIns="0" rtlCol="0" anchor="ctr"/>
          <a:lstStyle/>
          <a:p>
            <a:r>
              <a:rPr lang="en-US" sz="1600" b="1" dirty="0">
                <a:solidFill>
                  <a:srgbClr val="00B050"/>
                </a:solidFill>
                <a:latin typeface="Ubuntu" panose="020B0504030602030204" pitchFamily="34" charset="0"/>
                <a:ea typeface="Calibri" pitchFamily="34" charset="-122"/>
                <a:cs typeface="Calibri" pitchFamily="34" charset="-120"/>
              </a:rPr>
              <a:t>pip install autopep8</a:t>
            </a:r>
          </a:p>
          <a:p>
            <a:r>
              <a:rPr lang="en-US" sz="1600" b="1" dirty="0">
                <a:solidFill>
                  <a:srgbClr val="00B050"/>
                </a:solidFill>
                <a:latin typeface="Ubuntu" panose="020B0504030602030204" pitchFamily="34" charset="0"/>
                <a:ea typeface="Calibri" pitchFamily="34" charset="-122"/>
                <a:cs typeface="Calibri" pitchFamily="34" charset="-120"/>
              </a:rPr>
              <a:t>autopep8 --in-place --recursive app/</a:t>
            </a:r>
            <a:endParaRPr lang="en-US" sz="1600" b="1" dirty="0">
              <a:solidFill>
                <a:srgbClr val="00B050"/>
              </a:solidFill>
              <a:latin typeface="Ubuntu" panose="020B050403060203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C0392B"/>
          </a:solidFill>
          <a:ln/>
        </p:spPr>
      </p:sp>
      <p:sp>
        <p:nvSpPr>
          <p:cNvPr id="3" name="Shape 1"/>
          <p:cNvSpPr/>
          <p:nvPr/>
        </p:nvSpPr>
        <p:spPr>
          <a:xfrm>
            <a:off x="0" y="0"/>
            <a:ext cx="457200" cy="777240"/>
          </a:xfrm>
          <a:prstGeom prst="rect">
            <a:avLst/>
          </a:prstGeom>
          <a:solidFill>
            <a:srgbClr val="C0392B"/>
          </a:solidFill>
          <a:ln/>
        </p:spPr>
      </p:sp>
      <p:sp>
        <p:nvSpPr>
          <p:cNvPr id="4" name="Text 2"/>
          <p:cNvSpPr/>
          <p:nvPr/>
        </p:nvSpPr>
        <p:spPr>
          <a:xfrm>
            <a:off x="548640" y="0"/>
            <a:ext cx="7315200" cy="777240"/>
          </a:xfrm>
          <a:prstGeom prst="rect">
            <a:avLst/>
          </a:prstGeom>
          <a:noFill/>
          <a:ln/>
        </p:spPr>
        <p:txBody>
          <a:bodyPr wrap="square" lIns="0" tIns="0" rIns="0" bIns="0" rtlCol="0" anchor="ctr"/>
          <a:lstStyle/>
          <a:p>
            <a:pPr marL="0" indent="0" algn="l">
              <a:buNone/>
            </a:pPr>
            <a:r>
              <a:rPr lang="en-US" sz="2200" b="1" dirty="0">
                <a:solidFill>
                  <a:srgbClr val="FFFFFF"/>
                </a:solidFill>
                <a:latin typeface="Ubuntu" panose="020B0504030602030204" pitchFamily="34" charset="0"/>
                <a:ea typeface="Georgia" pitchFamily="34" charset="-122"/>
                <a:cs typeface="Georgia" pitchFamily="34" charset="-120"/>
              </a:rPr>
              <a:t>Part 6 : Conclusion</a:t>
            </a:r>
            <a:endParaRPr lang="en-US" sz="2200" dirty="0">
              <a:latin typeface="Ubuntu" panose="020B0504030602030204" pitchFamily="34" charset="0"/>
            </a:endParaRPr>
          </a:p>
        </p:txBody>
      </p:sp>
      <p:sp>
        <p:nvSpPr>
          <p:cNvPr id="6" name="Shape 4"/>
          <p:cNvSpPr/>
          <p:nvPr/>
        </p:nvSpPr>
        <p:spPr>
          <a:xfrm>
            <a:off x="182880" y="868680"/>
            <a:ext cx="2834640" cy="4160520"/>
          </a:xfrm>
          <a:prstGeom prst="rect">
            <a:avLst/>
          </a:prstGeom>
          <a:solidFill>
            <a:srgbClr val="FFFFFF">
              <a:alpha val="7000"/>
            </a:srgbClr>
          </a:solidFill>
          <a:ln w="19050">
            <a:solidFill>
              <a:srgbClr val="C0392B"/>
            </a:solidFill>
            <a:prstDash val="solid"/>
          </a:ln>
        </p:spPr>
      </p:sp>
      <p:sp>
        <p:nvSpPr>
          <p:cNvPr id="7" name="Shape 5"/>
          <p:cNvSpPr/>
          <p:nvPr/>
        </p:nvSpPr>
        <p:spPr>
          <a:xfrm>
            <a:off x="182880" y="868680"/>
            <a:ext cx="2834640" cy="502920"/>
          </a:xfrm>
          <a:prstGeom prst="rect">
            <a:avLst/>
          </a:prstGeom>
          <a:solidFill>
            <a:srgbClr val="C0392B"/>
          </a:solidFill>
          <a:ln/>
        </p:spPr>
      </p:sp>
      <p:sp>
        <p:nvSpPr>
          <p:cNvPr id="8" name="Text 6"/>
          <p:cNvSpPr/>
          <p:nvPr/>
        </p:nvSpPr>
        <p:spPr>
          <a:xfrm>
            <a:off x="182880" y="868680"/>
            <a:ext cx="283464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Ubuntu" panose="020B0504030602030204" pitchFamily="34" charset="0"/>
                <a:ea typeface="Georgia" pitchFamily="34" charset="-122"/>
                <a:cs typeface="Georgia" pitchFamily="34" charset="-120"/>
              </a:rPr>
              <a:t>📋 Summary of Work</a:t>
            </a:r>
            <a:endParaRPr lang="en-US" sz="1200" dirty="0">
              <a:latin typeface="Ubuntu" panose="020B0504030602030204" pitchFamily="34" charset="0"/>
            </a:endParaRPr>
          </a:p>
        </p:txBody>
      </p:sp>
      <p:sp>
        <p:nvSpPr>
          <p:cNvPr id="9" name="Shape 7"/>
          <p:cNvSpPr/>
          <p:nvPr/>
        </p:nvSpPr>
        <p:spPr>
          <a:xfrm>
            <a:off x="292608" y="1508760"/>
            <a:ext cx="164592" cy="164592"/>
          </a:xfrm>
          <a:prstGeom prst="ellipse">
            <a:avLst/>
          </a:prstGeom>
          <a:solidFill>
            <a:srgbClr val="C0392B"/>
          </a:solidFill>
          <a:ln/>
        </p:spPr>
      </p:sp>
      <p:sp>
        <p:nvSpPr>
          <p:cNvPr id="10" name="Text 8"/>
          <p:cNvSpPr/>
          <p:nvPr/>
        </p:nvSpPr>
        <p:spPr>
          <a:xfrm>
            <a:off x="530352" y="1481328"/>
            <a:ext cx="2377440" cy="411480"/>
          </a:xfrm>
          <a:prstGeom prst="rect">
            <a:avLst/>
          </a:prstGeom>
          <a:noFill/>
          <a:ln/>
        </p:spPr>
        <p:txBody>
          <a:bodyPr wrap="square" lIns="0" tIns="0" rIns="0" bIns="0" rtlCol="0" anchor="ctr"/>
          <a:lstStyle/>
          <a:p>
            <a:pPr marL="0" indent="0">
              <a:buNone/>
            </a:pPr>
            <a:r>
              <a:rPr lang="en-US" sz="1000" dirty="0">
                <a:latin typeface="Ubuntu" panose="020B0504030602030204" pitchFamily="34" charset="0"/>
                <a:ea typeface="Calibri" pitchFamily="34" charset="-122"/>
                <a:cs typeface="Calibri" pitchFamily="34" charset="-120"/>
              </a:rPr>
              <a:t>Built a full-stack web app for Algerian recipe recommendations</a:t>
            </a:r>
            <a:endParaRPr lang="en-US" sz="1000" dirty="0">
              <a:latin typeface="Ubuntu" panose="020B0504030602030204" pitchFamily="34" charset="0"/>
            </a:endParaRPr>
          </a:p>
        </p:txBody>
      </p:sp>
      <p:sp>
        <p:nvSpPr>
          <p:cNvPr id="11" name="Shape 9"/>
          <p:cNvSpPr/>
          <p:nvPr/>
        </p:nvSpPr>
        <p:spPr>
          <a:xfrm>
            <a:off x="292608" y="2167128"/>
            <a:ext cx="164592" cy="164592"/>
          </a:xfrm>
          <a:prstGeom prst="ellipse">
            <a:avLst/>
          </a:prstGeom>
          <a:solidFill>
            <a:srgbClr val="C0392B"/>
          </a:solidFill>
          <a:ln/>
        </p:spPr>
      </p:sp>
      <p:sp>
        <p:nvSpPr>
          <p:cNvPr id="12" name="Text 10"/>
          <p:cNvSpPr/>
          <p:nvPr/>
        </p:nvSpPr>
        <p:spPr>
          <a:xfrm>
            <a:off x="530352" y="2139696"/>
            <a:ext cx="2377440" cy="411480"/>
          </a:xfrm>
          <a:prstGeom prst="rect">
            <a:avLst/>
          </a:prstGeom>
          <a:noFill/>
          <a:ln/>
        </p:spPr>
        <p:txBody>
          <a:bodyPr wrap="square" lIns="0" tIns="0" rIns="0" bIns="0" rtlCol="0" anchor="ctr"/>
          <a:lstStyle/>
          <a:p>
            <a:r>
              <a:rPr lang="en-US" sz="1000" dirty="0">
                <a:latin typeface="Ubuntu" panose="020B0504030602030204" pitchFamily="34" charset="0"/>
                <a:ea typeface="Calibri" pitchFamily="34" charset="-122"/>
                <a:cs typeface="Calibri" pitchFamily="34" charset="-120"/>
              </a:rPr>
              <a:t>Implemented 3-level AI engine: Simple Match + TF-IDF + Transformers</a:t>
            </a:r>
          </a:p>
        </p:txBody>
      </p:sp>
      <p:sp>
        <p:nvSpPr>
          <p:cNvPr id="13" name="Shape 11"/>
          <p:cNvSpPr/>
          <p:nvPr/>
        </p:nvSpPr>
        <p:spPr>
          <a:xfrm>
            <a:off x="292608" y="2825496"/>
            <a:ext cx="164592" cy="164592"/>
          </a:xfrm>
          <a:prstGeom prst="ellipse">
            <a:avLst/>
          </a:prstGeom>
          <a:solidFill>
            <a:srgbClr val="C0392B"/>
          </a:solidFill>
          <a:ln/>
        </p:spPr>
      </p:sp>
      <p:sp>
        <p:nvSpPr>
          <p:cNvPr id="14" name="Text 12"/>
          <p:cNvSpPr/>
          <p:nvPr/>
        </p:nvSpPr>
        <p:spPr>
          <a:xfrm>
            <a:off x="530352" y="2798064"/>
            <a:ext cx="2377440" cy="411480"/>
          </a:xfrm>
          <a:prstGeom prst="rect">
            <a:avLst/>
          </a:prstGeom>
          <a:noFill/>
          <a:ln/>
        </p:spPr>
        <p:txBody>
          <a:bodyPr wrap="square" lIns="0" tIns="0" rIns="0" bIns="0" rtlCol="0" anchor="ctr"/>
          <a:lstStyle/>
          <a:p>
            <a:r>
              <a:rPr lang="en-US" sz="1000" dirty="0">
                <a:latin typeface="Ubuntu" panose="020B0504030602030204" pitchFamily="34" charset="0"/>
                <a:ea typeface="Calibri" pitchFamily="34" charset="-122"/>
                <a:cs typeface="Calibri" pitchFamily="34" charset="-120"/>
              </a:rPr>
              <a:t>Created Admin Dashboard with CSV import functionality</a:t>
            </a:r>
          </a:p>
        </p:txBody>
      </p:sp>
      <p:sp>
        <p:nvSpPr>
          <p:cNvPr id="15" name="Shape 13"/>
          <p:cNvSpPr/>
          <p:nvPr/>
        </p:nvSpPr>
        <p:spPr>
          <a:xfrm>
            <a:off x="292608" y="3483864"/>
            <a:ext cx="164592" cy="164592"/>
          </a:xfrm>
          <a:prstGeom prst="ellipse">
            <a:avLst/>
          </a:prstGeom>
          <a:solidFill>
            <a:srgbClr val="C0392B"/>
          </a:solidFill>
          <a:ln/>
        </p:spPr>
      </p:sp>
      <p:sp>
        <p:nvSpPr>
          <p:cNvPr id="16" name="Text 14"/>
          <p:cNvSpPr/>
          <p:nvPr/>
        </p:nvSpPr>
        <p:spPr>
          <a:xfrm>
            <a:off x="530352" y="3456432"/>
            <a:ext cx="2377440" cy="411480"/>
          </a:xfrm>
          <a:prstGeom prst="rect">
            <a:avLst/>
          </a:prstGeom>
          <a:noFill/>
          <a:ln/>
        </p:spPr>
        <p:txBody>
          <a:bodyPr wrap="square" lIns="0" tIns="0" rIns="0" bIns="0" rtlCol="0" anchor="ctr"/>
          <a:lstStyle/>
          <a:p>
            <a:r>
              <a:rPr lang="en-US" sz="1000" dirty="0">
                <a:latin typeface="Ubuntu" panose="020B0504030602030204" pitchFamily="34" charset="0"/>
                <a:ea typeface="Calibri" pitchFamily="34" charset="-122"/>
                <a:cs typeface="Calibri" pitchFamily="34" charset="-120"/>
              </a:rPr>
              <a:t>Developed bilingual support (Arabic RTL + English LTR)</a:t>
            </a:r>
          </a:p>
        </p:txBody>
      </p:sp>
      <p:sp>
        <p:nvSpPr>
          <p:cNvPr id="17" name="Shape 15"/>
          <p:cNvSpPr/>
          <p:nvPr/>
        </p:nvSpPr>
        <p:spPr>
          <a:xfrm>
            <a:off x="292608" y="4142232"/>
            <a:ext cx="164592" cy="164592"/>
          </a:xfrm>
          <a:prstGeom prst="ellipse">
            <a:avLst/>
          </a:prstGeom>
          <a:solidFill>
            <a:srgbClr val="C0392B"/>
          </a:solidFill>
          <a:ln/>
        </p:spPr>
      </p:sp>
      <p:sp>
        <p:nvSpPr>
          <p:cNvPr id="18" name="Text 16"/>
          <p:cNvSpPr/>
          <p:nvPr/>
        </p:nvSpPr>
        <p:spPr>
          <a:xfrm>
            <a:off x="530352" y="4114800"/>
            <a:ext cx="2377440" cy="411480"/>
          </a:xfrm>
          <a:prstGeom prst="rect">
            <a:avLst/>
          </a:prstGeom>
          <a:noFill/>
          <a:ln/>
        </p:spPr>
        <p:txBody>
          <a:bodyPr wrap="square" lIns="0" tIns="0" rIns="0" bIns="0" rtlCol="0" anchor="ctr"/>
          <a:lstStyle/>
          <a:p>
            <a:r>
              <a:rPr lang="en-US" sz="1000" dirty="0">
                <a:latin typeface="Ubuntu" panose="020B0504030602030204" pitchFamily="34" charset="0"/>
                <a:ea typeface="Calibri" pitchFamily="34" charset="-122"/>
                <a:cs typeface="Calibri" pitchFamily="34" charset="-120"/>
              </a:rPr>
              <a:t>Secured with JWT authentication and bcrypt password hashing</a:t>
            </a:r>
          </a:p>
        </p:txBody>
      </p:sp>
      <p:sp>
        <p:nvSpPr>
          <p:cNvPr id="19" name="Shape 17"/>
          <p:cNvSpPr/>
          <p:nvPr/>
        </p:nvSpPr>
        <p:spPr>
          <a:xfrm>
            <a:off x="3172968" y="868680"/>
            <a:ext cx="2834640" cy="4160520"/>
          </a:xfrm>
          <a:prstGeom prst="rect">
            <a:avLst/>
          </a:prstGeom>
          <a:solidFill>
            <a:srgbClr val="FFFFFF">
              <a:alpha val="7000"/>
            </a:srgbClr>
          </a:solidFill>
          <a:ln w="19050">
            <a:solidFill>
              <a:srgbClr val="D4A017"/>
            </a:solidFill>
            <a:prstDash val="solid"/>
          </a:ln>
        </p:spPr>
      </p:sp>
      <p:sp>
        <p:nvSpPr>
          <p:cNvPr id="20" name="Shape 18"/>
          <p:cNvSpPr/>
          <p:nvPr/>
        </p:nvSpPr>
        <p:spPr>
          <a:xfrm>
            <a:off x="3172968" y="868680"/>
            <a:ext cx="2834640" cy="502920"/>
          </a:xfrm>
          <a:prstGeom prst="rect">
            <a:avLst/>
          </a:prstGeom>
          <a:solidFill>
            <a:srgbClr val="D4A017"/>
          </a:solidFill>
          <a:ln/>
        </p:spPr>
      </p:sp>
      <p:sp>
        <p:nvSpPr>
          <p:cNvPr id="21" name="Text 19"/>
          <p:cNvSpPr/>
          <p:nvPr/>
        </p:nvSpPr>
        <p:spPr>
          <a:xfrm>
            <a:off x="3172968" y="868680"/>
            <a:ext cx="283464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Ubuntu" panose="020B0504030602030204" pitchFamily="34" charset="0"/>
                <a:ea typeface="Georgia" pitchFamily="34" charset="-122"/>
                <a:cs typeface="Georgia" pitchFamily="34" charset="-120"/>
              </a:rPr>
              <a:t>⚠️ Difficulties Encountered</a:t>
            </a:r>
            <a:endParaRPr lang="en-US" sz="1200" dirty="0">
              <a:latin typeface="Ubuntu" panose="020B0504030602030204" pitchFamily="34" charset="0"/>
            </a:endParaRPr>
          </a:p>
        </p:txBody>
      </p:sp>
      <p:sp>
        <p:nvSpPr>
          <p:cNvPr id="22" name="Shape 20"/>
          <p:cNvSpPr/>
          <p:nvPr/>
        </p:nvSpPr>
        <p:spPr>
          <a:xfrm>
            <a:off x="3282696" y="1508760"/>
            <a:ext cx="164592" cy="164592"/>
          </a:xfrm>
          <a:prstGeom prst="ellipse">
            <a:avLst/>
          </a:prstGeom>
          <a:solidFill>
            <a:srgbClr val="D4A017"/>
          </a:solidFill>
          <a:ln/>
        </p:spPr>
      </p:sp>
      <p:sp>
        <p:nvSpPr>
          <p:cNvPr id="23" name="Text 21"/>
          <p:cNvSpPr/>
          <p:nvPr/>
        </p:nvSpPr>
        <p:spPr>
          <a:xfrm>
            <a:off x="3520440" y="1481328"/>
            <a:ext cx="2377440" cy="411480"/>
          </a:xfrm>
          <a:prstGeom prst="rect">
            <a:avLst/>
          </a:prstGeom>
          <a:noFill/>
          <a:ln/>
        </p:spPr>
        <p:txBody>
          <a:bodyPr wrap="square" lIns="0" tIns="0" rIns="0" bIns="0" rtlCol="0" anchor="ctr"/>
          <a:lstStyle/>
          <a:p>
            <a:r>
              <a:rPr lang="en-US" sz="1000" dirty="0">
                <a:latin typeface="Ubuntu" panose="020B0504030602030204" pitchFamily="34" charset="0"/>
                <a:ea typeface="Calibri" pitchFamily="34" charset="-122"/>
                <a:cs typeface="Calibri" pitchFamily="34" charset="-120"/>
              </a:rPr>
              <a:t>bcrypt version conflict with </a:t>
            </a:r>
            <a:r>
              <a:rPr lang="en-US" sz="1000" dirty="0" err="1">
                <a:latin typeface="Ubuntu" panose="020B0504030602030204" pitchFamily="34" charset="0"/>
                <a:ea typeface="Calibri" pitchFamily="34" charset="-122"/>
                <a:cs typeface="Calibri" pitchFamily="34" charset="-120"/>
              </a:rPr>
              <a:t>passlib</a:t>
            </a:r>
            <a:r>
              <a:rPr lang="en-US" sz="1000" dirty="0">
                <a:latin typeface="Ubuntu" panose="020B0504030602030204" pitchFamily="34" charset="0"/>
                <a:ea typeface="Calibri" pitchFamily="34" charset="-122"/>
                <a:cs typeface="Calibri" pitchFamily="34" charset="-120"/>
              </a:rPr>
              <a:t> library</a:t>
            </a:r>
          </a:p>
        </p:txBody>
      </p:sp>
      <p:sp>
        <p:nvSpPr>
          <p:cNvPr id="24" name="Shape 22"/>
          <p:cNvSpPr/>
          <p:nvPr/>
        </p:nvSpPr>
        <p:spPr>
          <a:xfrm>
            <a:off x="3282696" y="2167128"/>
            <a:ext cx="164592" cy="164592"/>
          </a:xfrm>
          <a:prstGeom prst="ellipse">
            <a:avLst/>
          </a:prstGeom>
          <a:solidFill>
            <a:srgbClr val="D4A017"/>
          </a:solidFill>
          <a:ln/>
        </p:spPr>
      </p:sp>
      <p:sp>
        <p:nvSpPr>
          <p:cNvPr id="25" name="Text 23"/>
          <p:cNvSpPr/>
          <p:nvPr/>
        </p:nvSpPr>
        <p:spPr>
          <a:xfrm>
            <a:off x="3520440" y="2139696"/>
            <a:ext cx="2377440" cy="411480"/>
          </a:xfrm>
          <a:prstGeom prst="rect">
            <a:avLst/>
          </a:prstGeom>
          <a:noFill/>
          <a:ln/>
        </p:spPr>
        <p:txBody>
          <a:bodyPr wrap="square" lIns="0" tIns="0" rIns="0" bIns="0" rtlCol="0" anchor="ctr"/>
          <a:lstStyle/>
          <a:p>
            <a:r>
              <a:rPr lang="en-US" sz="1000" dirty="0">
                <a:latin typeface="Ubuntu" panose="020B0504030602030204" pitchFamily="34" charset="0"/>
                <a:ea typeface="Calibri" pitchFamily="34" charset="-122"/>
                <a:cs typeface="Calibri" pitchFamily="34" charset="-120"/>
              </a:rPr>
              <a:t>CSV encoding issues with Arabic text (BOM, UTF-8-sig)</a:t>
            </a:r>
          </a:p>
        </p:txBody>
      </p:sp>
      <p:sp>
        <p:nvSpPr>
          <p:cNvPr id="26" name="Shape 24"/>
          <p:cNvSpPr/>
          <p:nvPr/>
        </p:nvSpPr>
        <p:spPr>
          <a:xfrm>
            <a:off x="3282696" y="2825496"/>
            <a:ext cx="164592" cy="164592"/>
          </a:xfrm>
          <a:prstGeom prst="ellipse">
            <a:avLst/>
          </a:prstGeom>
          <a:solidFill>
            <a:srgbClr val="D4A017"/>
          </a:solidFill>
          <a:ln/>
        </p:spPr>
      </p:sp>
      <p:sp>
        <p:nvSpPr>
          <p:cNvPr id="27" name="Text 25"/>
          <p:cNvSpPr/>
          <p:nvPr/>
        </p:nvSpPr>
        <p:spPr>
          <a:xfrm>
            <a:off x="3520440" y="2798064"/>
            <a:ext cx="2377440" cy="411480"/>
          </a:xfrm>
          <a:prstGeom prst="rect">
            <a:avLst/>
          </a:prstGeom>
          <a:noFill/>
          <a:ln/>
        </p:spPr>
        <p:txBody>
          <a:bodyPr wrap="square" lIns="0" tIns="0" rIns="0" bIns="0" rtlCol="0" anchor="ctr"/>
          <a:lstStyle/>
          <a:p>
            <a:r>
              <a:rPr lang="en-US" sz="1000" dirty="0">
                <a:latin typeface="Ubuntu" panose="020B0504030602030204" pitchFamily="34" charset="0"/>
                <a:ea typeface="Calibri" pitchFamily="34" charset="-122"/>
                <a:cs typeface="Calibri" pitchFamily="34" charset="-120"/>
              </a:rPr>
              <a:t>MySQL foreign key constraints during data deletion</a:t>
            </a:r>
          </a:p>
        </p:txBody>
      </p:sp>
      <p:sp>
        <p:nvSpPr>
          <p:cNvPr id="28" name="Shape 26"/>
          <p:cNvSpPr/>
          <p:nvPr/>
        </p:nvSpPr>
        <p:spPr>
          <a:xfrm>
            <a:off x="3282696" y="3483864"/>
            <a:ext cx="164592" cy="164592"/>
          </a:xfrm>
          <a:prstGeom prst="ellipse">
            <a:avLst/>
          </a:prstGeom>
          <a:solidFill>
            <a:srgbClr val="D4A017"/>
          </a:solidFill>
          <a:ln/>
        </p:spPr>
      </p:sp>
      <p:sp>
        <p:nvSpPr>
          <p:cNvPr id="29" name="Text 27"/>
          <p:cNvSpPr/>
          <p:nvPr/>
        </p:nvSpPr>
        <p:spPr>
          <a:xfrm>
            <a:off x="3520440" y="3456432"/>
            <a:ext cx="2377440" cy="411480"/>
          </a:xfrm>
          <a:prstGeom prst="rect">
            <a:avLst/>
          </a:prstGeom>
          <a:noFill/>
          <a:ln/>
        </p:spPr>
        <p:txBody>
          <a:bodyPr wrap="square" lIns="0" tIns="0" rIns="0" bIns="0" rtlCol="0" anchor="ctr"/>
          <a:lstStyle/>
          <a:p>
            <a:r>
              <a:rPr lang="en-US" sz="1000" dirty="0">
                <a:latin typeface="Ubuntu" panose="020B0504030602030204" pitchFamily="34" charset="0"/>
                <a:ea typeface="Calibri" pitchFamily="34" charset="-122"/>
                <a:cs typeface="Calibri" pitchFamily="34" charset="-120"/>
              </a:rPr>
              <a:t>CORS configuration between FastAPI and Vue.js</a:t>
            </a:r>
          </a:p>
        </p:txBody>
      </p:sp>
      <p:sp>
        <p:nvSpPr>
          <p:cNvPr id="30" name="Shape 28"/>
          <p:cNvSpPr/>
          <p:nvPr/>
        </p:nvSpPr>
        <p:spPr>
          <a:xfrm>
            <a:off x="3282696" y="4142232"/>
            <a:ext cx="164592" cy="164592"/>
          </a:xfrm>
          <a:prstGeom prst="ellipse">
            <a:avLst/>
          </a:prstGeom>
          <a:solidFill>
            <a:srgbClr val="D4A017"/>
          </a:solidFill>
          <a:ln/>
        </p:spPr>
      </p:sp>
      <p:sp>
        <p:nvSpPr>
          <p:cNvPr id="31" name="Text 29"/>
          <p:cNvSpPr/>
          <p:nvPr/>
        </p:nvSpPr>
        <p:spPr>
          <a:xfrm>
            <a:off x="3520440" y="4114800"/>
            <a:ext cx="2377440" cy="411480"/>
          </a:xfrm>
          <a:prstGeom prst="rect">
            <a:avLst/>
          </a:prstGeom>
          <a:noFill/>
          <a:ln/>
        </p:spPr>
        <p:txBody>
          <a:bodyPr wrap="square" lIns="0" tIns="0" rIns="0" bIns="0" rtlCol="0" anchor="ctr"/>
          <a:lstStyle/>
          <a:p>
            <a:r>
              <a:rPr lang="en-US" sz="1000" dirty="0">
                <a:latin typeface="Ubuntu" panose="020B0504030602030204" pitchFamily="34" charset="0"/>
                <a:ea typeface="Calibri" pitchFamily="34" charset="-122"/>
                <a:cs typeface="Calibri" pitchFamily="34" charset="-120"/>
              </a:rPr>
              <a:t>Arabic text normalization for AI matching accuracy</a:t>
            </a:r>
          </a:p>
        </p:txBody>
      </p:sp>
      <p:sp>
        <p:nvSpPr>
          <p:cNvPr id="32" name="Shape 30"/>
          <p:cNvSpPr/>
          <p:nvPr/>
        </p:nvSpPr>
        <p:spPr>
          <a:xfrm>
            <a:off x="6163056" y="868680"/>
            <a:ext cx="2834640" cy="4160520"/>
          </a:xfrm>
          <a:prstGeom prst="rect">
            <a:avLst/>
          </a:prstGeom>
          <a:solidFill>
            <a:srgbClr val="FFFFFF">
              <a:alpha val="7000"/>
            </a:srgbClr>
          </a:solidFill>
          <a:ln w="19050">
            <a:solidFill>
              <a:srgbClr val="1A6B3C"/>
            </a:solidFill>
            <a:prstDash val="solid"/>
          </a:ln>
        </p:spPr>
      </p:sp>
      <p:sp>
        <p:nvSpPr>
          <p:cNvPr id="33" name="Shape 31"/>
          <p:cNvSpPr/>
          <p:nvPr/>
        </p:nvSpPr>
        <p:spPr>
          <a:xfrm>
            <a:off x="6163056" y="868680"/>
            <a:ext cx="2834640" cy="502920"/>
          </a:xfrm>
          <a:prstGeom prst="rect">
            <a:avLst/>
          </a:prstGeom>
          <a:solidFill>
            <a:srgbClr val="1A6B3C"/>
          </a:solidFill>
          <a:ln/>
        </p:spPr>
      </p:sp>
      <p:sp>
        <p:nvSpPr>
          <p:cNvPr id="34" name="Text 32"/>
          <p:cNvSpPr/>
          <p:nvPr/>
        </p:nvSpPr>
        <p:spPr>
          <a:xfrm>
            <a:off x="6163056" y="868680"/>
            <a:ext cx="283464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Ubuntu" panose="020B0504030602030204" pitchFamily="34" charset="0"/>
                <a:ea typeface="Georgia" pitchFamily="34" charset="-122"/>
                <a:cs typeface="Georgia" pitchFamily="34" charset="-120"/>
              </a:rPr>
              <a:t>🚀 Areas for Improvement</a:t>
            </a:r>
            <a:endParaRPr lang="en-US" sz="1200" dirty="0">
              <a:latin typeface="Ubuntu" panose="020B0504030602030204" pitchFamily="34" charset="0"/>
            </a:endParaRPr>
          </a:p>
        </p:txBody>
      </p:sp>
      <p:sp>
        <p:nvSpPr>
          <p:cNvPr id="35" name="Shape 33"/>
          <p:cNvSpPr/>
          <p:nvPr/>
        </p:nvSpPr>
        <p:spPr>
          <a:xfrm>
            <a:off x="6272784" y="1508760"/>
            <a:ext cx="164592" cy="164592"/>
          </a:xfrm>
          <a:prstGeom prst="ellipse">
            <a:avLst/>
          </a:prstGeom>
          <a:solidFill>
            <a:srgbClr val="1A6B3C"/>
          </a:solidFill>
          <a:ln/>
        </p:spPr>
      </p:sp>
      <p:sp>
        <p:nvSpPr>
          <p:cNvPr id="36" name="Text 34"/>
          <p:cNvSpPr/>
          <p:nvPr/>
        </p:nvSpPr>
        <p:spPr>
          <a:xfrm>
            <a:off x="6510528" y="1481328"/>
            <a:ext cx="2377440" cy="411480"/>
          </a:xfrm>
          <a:prstGeom prst="rect">
            <a:avLst/>
          </a:prstGeom>
          <a:noFill/>
          <a:ln/>
        </p:spPr>
        <p:txBody>
          <a:bodyPr wrap="square" lIns="0" tIns="0" rIns="0" bIns="0" rtlCol="0" anchor="ctr"/>
          <a:lstStyle/>
          <a:p>
            <a:r>
              <a:rPr lang="en-US" sz="1000" dirty="0">
                <a:latin typeface="Ubuntu" panose="020B0504030602030204" pitchFamily="34" charset="0"/>
                <a:ea typeface="Calibri" pitchFamily="34" charset="-122"/>
                <a:cs typeface="Calibri" pitchFamily="34" charset="-120"/>
              </a:rPr>
              <a:t>Add Flutter mobile application for iOS/Android</a:t>
            </a:r>
          </a:p>
        </p:txBody>
      </p:sp>
      <p:sp>
        <p:nvSpPr>
          <p:cNvPr id="37" name="Shape 35"/>
          <p:cNvSpPr/>
          <p:nvPr/>
        </p:nvSpPr>
        <p:spPr>
          <a:xfrm>
            <a:off x="6272784" y="2167128"/>
            <a:ext cx="164592" cy="164592"/>
          </a:xfrm>
          <a:prstGeom prst="ellipse">
            <a:avLst/>
          </a:prstGeom>
          <a:solidFill>
            <a:srgbClr val="1A6B3C"/>
          </a:solidFill>
          <a:ln/>
        </p:spPr>
      </p:sp>
      <p:sp>
        <p:nvSpPr>
          <p:cNvPr id="38" name="Text 36"/>
          <p:cNvSpPr/>
          <p:nvPr/>
        </p:nvSpPr>
        <p:spPr>
          <a:xfrm>
            <a:off x="6510528" y="2139696"/>
            <a:ext cx="2377440" cy="411480"/>
          </a:xfrm>
          <a:prstGeom prst="rect">
            <a:avLst/>
          </a:prstGeom>
          <a:noFill/>
          <a:ln/>
        </p:spPr>
        <p:txBody>
          <a:bodyPr wrap="square" lIns="0" tIns="0" rIns="0" bIns="0" rtlCol="0" anchor="ctr"/>
          <a:lstStyle/>
          <a:p>
            <a:r>
              <a:rPr lang="en-US" sz="1000" dirty="0">
                <a:latin typeface="Ubuntu" panose="020B0504030602030204" pitchFamily="34" charset="0"/>
                <a:ea typeface="Calibri" pitchFamily="34" charset="-122"/>
                <a:cs typeface="Calibri" pitchFamily="34" charset="-120"/>
              </a:rPr>
              <a:t>Integrate GPT API for recipe explanation in Arabic</a:t>
            </a:r>
          </a:p>
        </p:txBody>
      </p:sp>
      <p:sp>
        <p:nvSpPr>
          <p:cNvPr id="39" name="Shape 37"/>
          <p:cNvSpPr/>
          <p:nvPr/>
        </p:nvSpPr>
        <p:spPr>
          <a:xfrm>
            <a:off x="6272784" y="2825496"/>
            <a:ext cx="164592" cy="164592"/>
          </a:xfrm>
          <a:prstGeom prst="ellipse">
            <a:avLst/>
          </a:prstGeom>
          <a:solidFill>
            <a:srgbClr val="1A6B3C"/>
          </a:solidFill>
          <a:ln/>
        </p:spPr>
      </p:sp>
      <p:sp>
        <p:nvSpPr>
          <p:cNvPr id="40" name="Text 38"/>
          <p:cNvSpPr/>
          <p:nvPr/>
        </p:nvSpPr>
        <p:spPr>
          <a:xfrm>
            <a:off x="6510528" y="2798064"/>
            <a:ext cx="2377440" cy="411480"/>
          </a:xfrm>
          <a:prstGeom prst="rect">
            <a:avLst/>
          </a:prstGeom>
          <a:noFill/>
          <a:ln/>
        </p:spPr>
        <p:txBody>
          <a:bodyPr wrap="square" lIns="0" tIns="0" rIns="0" bIns="0" rtlCol="0" anchor="ctr"/>
          <a:lstStyle/>
          <a:p>
            <a:r>
              <a:rPr lang="en-US" sz="1000" dirty="0">
                <a:latin typeface="Ubuntu" panose="020B0504030602030204" pitchFamily="34" charset="0"/>
                <a:ea typeface="Calibri" pitchFamily="34" charset="-122"/>
                <a:cs typeface="Calibri" pitchFamily="34" charset="-120"/>
              </a:rPr>
              <a:t>Calculate nutritional values and calories per recipe</a:t>
            </a:r>
          </a:p>
        </p:txBody>
      </p:sp>
      <p:sp>
        <p:nvSpPr>
          <p:cNvPr id="41" name="Shape 39"/>
          <p:cNvSpPr/>
          <p:nvPr/>
        </p:nvSpPr>
        <p:spPr>
          <a:xfrm>
            <a:off x="6272784" y="3483864"/>
            <a:ext cx="164592" cy="164592"/>
          </a:xfrm>
          <a:prstGeom prst="ellipse">
            <a:avLst/>
          </a:prstGeom>
          <a:solidFill>
            <a:srgbClr val="1A6B3C"/>
          </a:solidFill>
          <a:ln/>
        </p:spPr>
      </p:sp>
      <p:sp>
        <p:nvSpPr>
          <p:cNvPr id="42" name="Text 40"/>
          <p:cNvSpPr/>
          <p:nvPr/>
        </p:nvSpPr>
        <p:spPr>
          <a:xfrm>
            <a:off x="6510528" y="3456432"/>
            <a:ext cx="2377440" cy="411480"/>
          </a:xfrm>
          <a:prstGeom prst="rect">
            <a:avLst/>
          </a:prstGeom>
          <a:noFill/>
          <a:ln/>
        </p:spPr>
        <p:txBody>
          <a:bodyPr wrap="square" lIns="0" tIns="0" rIns="0" bIns="0" rtlCol="0" anchor="ctr"/>
          <a:lstStyle/>
          <a:p>
            <a:r>
              <a:rPr lang="en-US" sz="1000" dirty="0">
                <a:latin typeface="Ubuntu" panose="020B0504030602030204" pitchFamily="34" charset="0"/>
                <a:ea typeface="Calibri" pitchFamily="34" charset="-122"/>
                <a:cs typeface="Calibri" pitchFamily="34" charset="-120"/>
              </a:rPr>
              <a:t>Add voice search in Arabic using Speech Recognition</a:t>
            </a:r>
          </a:p>
        </p:txBody>
      </p:sp>
      <p:sp>
        <p:nvSpPr>
          <p:cNvPr id="43" name="Shape 41"/>
          <p:cNvSpPr/>
          <p:nvPr/>
        </p:nvSpPr>
        <p:spPr>
          <a:xfrm>
            <a:off x="6272784" y="4142232"/>
            <a:ext cx="164592" cy="164592"/>
          </a:xfrm>
          <a:prstGeom prst="ellipse">
            <a:avLst/>
          </a:prstGeom>
          <a:solidFill>
            <a:srgbClr val="1A6B3C"/>
          </a:solidFill>
          <a:ln/>
        </p:spPr>
      </p:sp>
      <p:sp>
        <p:nvSpPr>
          <p:cNvPr id="44" name="Text 42"/>
          <p:cNvSpPr/>
          <p:nvPr/>
        </p:nvSpPr>
        <p:spPr>
          <a:xfrm>
            <a:off x="6510528" y="4114800"/>
            <a:ext cx="2377440" cy="411480"/>
          </a:xfrm>
          <a:prstGeom prst="rect">
            <a:avLst/>
          </a:prstGeom>
          <a:noFill/>
          <a:ln/>
        </p:spPr>
        <p:txBody>
          <a:bodyPr wrap="square" lIns="0" tIns="0" rIns="0" bIns="0" rtlCol="0" anchor="ctr"/>
          <a:lstStyle/>
          <a:p>
            <a:r>
              <a:rPr lang="en-US" sz="1000" dirty="0">
                <a:latin typeface="Ubuntu" panose="020B0504030602030204" pitchFamily="34" charset="0"/>
                <a:ea typeface="Calibri" pitchFamily="34" charset="-122"/>
                <a:cs typeface="Calibri" pitchFamily="34" charset="-120"/>
              </a:rPr>
              <a:t>Build community features for users to share recipes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bg>
      <p:bgPr>
        <a:solidFill>
          <a:srgbClr val="1A0A05"/>
        </a:solidFill>
        <a:effectLst/>
      </p:bgPr>
    </p:bg>
    <p:spTree>
      <p:nvGrpSpPr>
        <p:cNvPr id="1" name=""/>
        <p:cNvGrpSpPr/>
        <p:nvPr/>
      </p:nvGrpSpPr>
      <p:grpSpPr>
        <a:xfrm>
          <a:off x="0" y="0"/>
          <a:ext cx="0" cy="0"/>
          <a:chOff x="0" y="0"/>
          <a:chExt cx="0" cy="0"/>
        </a:xfrm>
      </p:grpSpPr>
      <p:sp>
        <p:nvSpPr>
          <p:cNvPr id="2" name="Shape 0"/>
          <p:cNvSpPr/>
          <p:nvPr/>
        </p:nvSpPr>
        <p:spPr>
          <a:xfrm>
            <a:off x="-1371600" y="-914400"/>
            <a:ext cx="4572000" cy="4572000"/>
          </a:xfrm>
          <a:prstGeom prst="ellipse">
            <a:avLst/>
          </a:prstGeom>
          <a:solidFill>
            <a:srgbClr val="C0392B">
              <a:alpha val="20000"/>
            </a:srgbClr>
          </a:solidFill>
          <a:ln/>
        </p:spPr>
      </p:sp>
      <p:sp>
        <p:nvSpPr>
          <p:cNvPr id="3" name="Shape 1"/>
          <p:cNvSpPr/>
          <p:nvPr/>
        </p:nvSpPr>
        <p:spPr>
          <a:xfrm>
            <a:off x="5486400" y="1828800"/>
            <a:ext cx="5486400" cy="5486400"/>
          </a:xfrm>
          <a:prstGeom prst="ellipse">
            <a:avLst/>
          </a:prstGeom>
          <a:solidFill>
            <a:srgbClr val="D4A017">
              <a:alpha val="15000"/>
            </a:srgbClr>
          </a:solidFill>
          <a:ln/>
        </p:spPr>
      </p:sp>
      <p:sp>
        <p:nvSpPr>
          <p:cNvPr id="4" name="Shape 2"/>
          <p:cNvSpPr/>
          <p:nvPr/>
        </p:nvSpPr>
        <p:spPr>
          <a:xfrm>
            <a:off x="0" y="0"/>
            <a:ext cx="109728" cy="5143500"/>
          </a:xfrm>
          <a:prstGeom prst="rect">
            <a:avLst/>
          </a:prstGeom>
          <a:solidFill>
            <a:srgbClr val="C0392B"/>
          </a:solidFill>
          <a:ln/>
        </p:spPr>
      </p:sp>
      <p:sp>
        <p:nvSpPr>
          <p:cNvPr id="5" name="Text 3"/>
          <p:cNvSpPr/>
          <p:nvPr/>
        </p:nvSpPr>
        <p:spPr>
          <a:xfrm>
            <a:off x="3200400" y="274320"/>
            <a:ext cx="2743200" cy="1371600"/>
          </a:xfrm>
          <a:prstGeom prst="rect">
            <a:avLst/>
          </a:prstGeom>
          <a:noFill/>
          <a:ln/>
        </p:spPr>
        <p:txBody>
          <a:bodyPr wrap="square" rtlCol="0" anchor="ctr"/>
          <a:lstStyle/>
          <a:p>
            <a:pPr marL="0" indent="0" algn="ctr">
              <a:buNone/>
            </a:pPr>
            <a:r>
              <a:rPr lang="en-US" sz="6400" dirty="0">
                <a:solidFill>
                  <a:srgbClr val="000000"/>
                </a:solidFill>
              </a:rPr>
              <a:t>🍲</a:t>
            </a:r>
            <a:endParaRPr lang="en-US" sz="6400" dirty="0"/>
          </a:p>
        </p:txBody>
      </p:sp>
      <p:sp>
        <p:nvSpPr>
          <p:cNvPr id="6" name="Text 4"/>
          <p:cNvSpPr/>
          <p:nvPr/>
        </p:nvSpPr>
        <p:spPr>
          <a:xfrm>
            <a:off x="457200" y="3497581"/>
            <a:ext cx="8229600" cy="914400"/>
          </a:xfrm>
          <a:prstGeom prst="rect">
            <a:avLst/>
          </a:prstGeom>
          <a:noFill/>
          <a:ln/>
        </p:spPr>
        <p:txBody>
          <a:bodyPr wrap="square" lIns="0" tIns="0" rIns="0" bIns="0" rtlCol="0" anchor="ctr"/>
          <a:lstStyle/>
          <a:p>
            <a:pPr algn="ctr"/>
            <a:r>
              <a:rPr lang="en-US" sz="4400" b="1" dirty="0">
                <a:solidFill>
                  <a:srgbClr val="FFFFFF"/>
                </a:solidFill>
                <a:latin typeface="Ubuntu" panose="020B0504030602030204" pitchFamily="34" charset="0"/>
                <a:ea typeface="Georgia" pitchFamily="34" charset="-122"/>
                <a:cs typeface="Georgia" pitchFamily="34" charset="-120"/>
              </a:rPr>
              <a:t>Thank you for your attention</a:t>
            </a:r>
            <a:endParaRPr lang="en-US" sz="4400" dirty="0">
              <a:latin typeface="Ubuntu" panose="020B0504030602030204" pitchFamily="34" charset="0"/>
            </a:endParaRPr>
          </a:p>
        </p:txBody>
      </p:sp>
      <p:sp>
        <p:nvSpPr>
          <p:cNvPr id="8" name="Text 9">
            <a:extLst>
              <a:ext uri="{FF2B5EF4-FFF2-40B4-BE49-F238E27FC236}">
                <a16:creationId xmlns:a16="http://schemas.microsoft.com/office/drawing/2014/main" id="{B05C4838-9D85-7F65-205F-741B4D9BE463}"/>
              </a:ext>
            </a:extLst>
          </p:cNvPr>
          <p:cNvSpPr/>
          <p:nvPr/>
        </p:nvSpPr>
        <p:spPr>
          <a:xfrm>
            <a:off x="457200" y="1266588"/>
            <a:ext cx="8229600" cy="960120"/>
          </a:xfrm>
          <a:prstGeom prst="rect">
            <a:avLst/>
          </a:prstGeom>
          <a:noFill/>
          <a:ln/>
        </p:spPr>
        <p:txBody>
          <a:bodyPr wrap="square" lIns="0" tIns="0" rIns="0" bIns="0" rtlCol="0" anchor="ctr"/>
          <a:lstStyle/>
          <a:p>
            <a:pPr marL="0" indent="0" algn="ctr">
              <a:buNone/>
            </a:pPr>
            <a:r>
              <a:rPr lang="en-US" sz="5800" b="1" dirty="0">
                <a:solidFill>
                  <a:srgbClr val="FFFFFF"/>
                </a:solidFill>
                <a:latin typeface="El Messiri" pitchFamily="2" charset="-78"/>
                <a:ea typeface="Georgia" pitchFamily="34" charset="-122"/>
                <a:cs typeface="El Messiri" pitchFamily="2" charset="-78"/>
              </a:rPr>
              <a:t>شـا نـطـيـب</a:t>
            </a:r>
            <a:endParaRPr lang="en-US" sz="5800" dirty="0">
              <a:latin typeface="El Messiri" pitchFamily="2" charset="-78"/>
              <a:cs typeface="El Messiri" pitchFamily="2" charset="-78"/>
            </a:endParaRPr>
          </a:p>
        </p:txBody>
      </p:sp>
      <p:sp>
        <p:nvSpPr>
          <p:cNvPr id="9" name="Text 10">
            <a:extLst>
              <a:ext uri="{FF2B5EF4-FFF2-40B4-BE49-F238E27FC236}">
                <a16:creationId xmlns:a16="http://schemas.microsoft.com/office/drawing/2014/main" id="{7EE2AECC-D161-C66B-0919-F28CC7C13B0C}"/>
              </a:ext>
            </a:extLst>
          </p:cNvPr>
          <p:cNvSpPr/>
          <p:nvPr/>
        </p:nvSpPr>
        <p:spPr>
          <a:xfrm>
            <a:off x="457200" y="2069280"/>
            <a:ext cx="8229600" cy="457200"/>
          </a:xfrm>
          <a:prstGeom prst="rect">
            <a:avLst/>
          </a:prstGeom>
          <a:noFill/>
          <a:ln/>
        </p:spPr>
        <p:txBody>
          <a:bodyPr wrap="square" lIns="0" tIns="0" rIns="0" bIns="0" rtlCol="0" anchor="ctr"/>
          <a:lstStyle/>
          <a:p>
            <a:pPr marL="0" indent="0" algn="ctr">
              <a:buNone/>
            </a:pPr>
            <a:r>
              <a:rPr lang="en-US" sz="1600" i="1" dirty="0">
                <a:solidFill>
                  <a:srgbClr val="D4A017"/>
                </a:solidFill>
                <a:latin typeface="El Messiri" pitchFamily="2" charset="-78"/>
                <a:ea typeface="Georgia" pitchFamily="34" charset="-122"/>
                <a:cs typeface="El Messiri" pitchFamily="2" charset="-78"/>
              </a:rPr>
              <a:t>"أدخل مكوناتك... واكتشف المطبخ الجزائري الأصيل"</a:t>
            </a:r>
            <a:endParaRPr lang="en-US" sz="1600" dirty="0">
              <a:latin typeface="El Messiri" pitchFamily="2" charset="-78"/>
              <a:cs typeface="El Messiri" pitchFamily="2" charset="-78"/>
            </a:endParaRPr>
          </a:p>
        </p:txBody>
      </p:sp>
      <p:sp>
        <p:nvSpPr>
          <p:cNvPr id="10" name="Shape 11">
            <a:extLst>
              <a:ext uri="{FF2B5EF4-FFF2-40B4-BE49-F238E27FC236}">
                <a16:creationId xmlns:a16="http://schemas.microsoft.com/office/drawing/2014/main" id="{0D453E41-02B9-9492-6A27-4CEC230AC97C}"/>
              </a:ext>
            </a:extLst>
          </p:cNvPr>
          <p:cNvSpPr/>
          <p:nvPr/>
        </p:nvSpPr>
        <p:spPr>
          <a:xfrm>
            <a:off x="1371600" y="2636208"/>
            <a:ext cx="6400800" cy="0"/>
          </a:xfrm>
          <a:prstGeom prst="line">
            <a:avLst/>
          </a:prstGeom>
          <a:noFill/>
          <a:ln w="12700">
            <a:solidFill>
              <a:srgbClr val="D4A017"/>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768</TotalTime>
  <Words>1394</Words>
  <Application>Microsoft Office PowerPoint</Application>
  <PresentationFormat>Affichage à l'écran (16:9)</PresentationFormat>
  <Paragraphs>238</Paragraphs>
  <Slides>16</Slides>
  <Notes>16</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16</vt:i4>
      </vt:variant>
    </vt:vector>
  </HeadingPairs>
  <TitlesOfParts>
    <vt:vector size="22" baseType="lpstr">
      <vt:lpstr>Arial</vt:lpstr>
      <vt:lpstr>Calibri</vt:lpstr>
      <vt:lpstr>El Messiri</vt:lpstr>
      <vt:lpstr>Georgia</vt:lpstr>
      <vt:lpstr>Ubuntu</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شا نطيب — Sha Ntieb</dc:title>
  <dc:subject>PptxGenJS Presentation</dc:subject>
  <dc:creator>PptxGenJS</dc:creator>
  <cp:lastModifiedBy>hp</cp:lastModifiedBy>
  <cp:revision>60</cp:revision>
  <dcterms:created xsi:type="dcterms:W3CDTF">2026-03-21T11:12:34Z</dcterms:created>
  <dcterms:modified xsi:type="dcterms:W3CDTF">2026-04-03T23:53:25Z</dcterms:modified>
</cp:coreProperties>
</file>