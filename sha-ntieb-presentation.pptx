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6" r:id="rId5"/>
    <p:sldId id="259" r:id="rId6"/>
    <p:sldId id="267" r:id="rId7"/>
    <p:sldId id="260" r:id="rId8"/>
    <p:sldId id="262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869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589B2-F918-29E3-E385-5EBB5E600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BDD8BC-36E1-2A9E-4BC8-E1DF7CEBC8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971C81-E968-AE34-AF9C-1D02F43D34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43CAB2-BE3A-2FC8-DB8E-A1964C2C24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0904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2EEB3-68DF-A2E9-98D7-24CDA60C9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8FA0BA-3BB3-F3F5-E7B4-2EC33DCC7C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0FCC3D-DA67-D055-6BF8-70571E2AEC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39E943-5B57-C6E0-7CF8-CB1ABA4856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4069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Relationship Id="rId9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A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C0392B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0"/>
            <a:ext cx="4572000" cy="4572000"/>
          </a:xfrm>
          <a:prstGeom prst="ellipse">
            <a:avLst/>
          </a:prstGeom>
          <a:solidFill>
            <a:srgbClr val="D4A017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0" y="4464000"/>
            <a:ext cx="2743200" cy="1936800"/>
          </a:xfrm>
          <a:prstGeom prst="ellipse">
            <a:avLst/>
          </a:prstGeom>
          <a:solidFill>
            <a:srgbClr val="C0392B">
              <a:alpha val="10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537120" y="107820"/>
            <a:ext cx="1303200" cy="907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🍲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226440" y="988920"/>
            <a:ext cx="2154600" cy="762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en-US" sz="4000" b="1" dirty="0">
                <a:solidFill>
                  <a:srgbClr val="FFFFFF"/>
                </a:solidFill>
                <a:latin typeface="El Messiri" pitchFamily="2" charset="-78"/>
                <a:ea typeface="Georgia" pitchFamily="34" charset="-122"/>
                <a:cs typeface="El Messiri" pitchFamily="2" charset="-78"/>
              </a:rPr>
              <a:t>شا نطيب</a:t>
            </a:r>
            <a:endParaRPr lang="en-US" sz="4000" dirty="0">
              <a:latin typeface="El Messiri" pitchFamily="2" charset="-78"/>
              <a:cs typeface="El Messiri" pitchFamily="2" charset="-78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6996" y="15557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i="1" dirty="0">
                <a:solidFill>
                  <a:srgbClr val="D4A017"/>
                </a:solidFill>
                <a:latin typeface="Ubuntu" panose="020B0504030602030204" pitchFamily="34" charset="0"/>
                <a:ea typeface="Georgia" pitchFamily="34" charset="-122"/>
                <a:cs typeface="Georgia" pitchFamily="34" charset="-120"/>
              </a:rPr>
              <a:t>Sha Ntieb</a:t>
            </a:r>
            <a:endParaRPr lang="en-US" sz="2400" b="1" dirty="0">
              <a:latin typeface="Ubuntu" panose="020B050403060203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450592" y="1881900"/>
            <a:ext cx="3512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CCBBAA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An application that provides recipe recommendations based on available ingredients using a web API</a:t>
            </a:r>
            <a:endParaRPr lang="en-US" sz="1600" b="1" dirty="0">
              <a:latin typeface="Ubuntu" panose="020B050403060203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067200" y="4709160"/>
            <a:ext cx="215999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i="1" dirty="0">
                <a:solidFill>
                  <a:srgbClr val="FFFFF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University year : 2025-2026</a:t>
            </a:r>
            <a:r>
              <a:rPr lang="ar-DZ" sz="1200" b="1" i="1" dirty="0">
                <a:solidFill>
                  <a:srgbClr val="FFFFF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i="1" dirty="0">
              <a:latin typeface="Ubuntu" panose="020B050403060203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900117" y="1015740"/>
            <a:ext cx="2035898" cy="2245230"/>
          </a:xfrm>
          <a:prstGeom prst="ellipse">
            <a:avLst/>
          </a:prstGeom>
          <a:solidFill>
            <a:srgbClr val="C0392B">
              <a:alpha val="30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664703" y="1345140"/>
            <a:ext cx="2542465" cy="1667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🥕🧅🍅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🫙🥩🌿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🫒🧄🌶️</a:t>
            </a:r>
            <a:endParaRPr lang="en-US" sz="3600" dirty="0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4531221D-472C-B73F-6FAE-506D12F54B32}"/>
              </a:ext>
            </a:extLst>
          </p:cNvPr>
          <p:cNvSpPr/>
          <p:nvPr/>
        </p:nvSpPr>
        <p:spPr>
          <a:xfrm>
            <a:off x="-23796" y="-31320"/>
            <a:ext cx="8688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chemeClr val="bg1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People's Democratic Republic of Algeria</a:t>
            </a:r>
          </a:p>
          <a:p>
            <a:pPr algn="ctr"/>
            <a:r>
              <a:rPr lang="en-US" sz="1300" b="1" dirty="0">
                <a:solidFill>
                  <a:schemeClr val="bg1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Ministry of Higher Education and Scientific Research</a:t>
            </a:r>
          </a:p>
          <a:p>
            <a:pPr algn="ctr"/>
            <a:r>
              <a:rPr lang="en-US" sz="1300" b="1" dirty="0">
                <a:solidFill>
                  <a:schemeClr val="bg1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Tahri Mohamed University of </a:t>
            </a:r>
            <a:r>
              <a:rPr lang="en-US" sz="1300" b="1" dirty="0" err="1">
                <a:solidFill>
                  <a:schemeClr val="bg1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Bechar</a:t>
            </a:r>
            <a:endParaRPr lang="en-US" sz="1300" b="1" dirty="0">
              <a:solidFill>
                <a:schemeClr val="bg1"/>
              </a:solidFill>
              <a:latin typeface="Ubuntu" panose="020B0504030602030204" pitchFamily="34" charset="0"/>
            </a:endParaRPr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18F0140D-8962-B60E-D6AF-6E65A6BAA6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8345" y="86220"/>
            <a:ext cx="1092403" cy="1097280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DBA5FC09-DDE0-0983-EBBC-39F54AF5CB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8069" y="3218580"/>
            <a:ext cx="623610" cy="9360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5" name="Text 15">
            <a:extLst>
              <a:ext uri="{FF2B5EF4-FFF2-40B4-BE49-F238E27FC236}">
                <a16:creationId xmlns:a16="http://schemas.microsoft.com/office/drawing/2014/main" id="{666E15E7-1190-FCD5-B69F-C7816518F873}"/>
              </a:ext>
            </a:extLst>
          </p:cNvPr>
          <p:cNvSpPr/>
          <p:nvPr/>
        </p:nvSpPr>
        <p:spPr>
          <a:xfrm>
            <a:off x="959373" y="4154580"/>
            <a:ext cx="96169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fr-FR" sz="1050" b="1" dirty="0" err="1">
                <a:solidFill>
                  <a:srgbClr val="FFFFF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F.Younes</a:t>
            </a:r>
            <a:br>
              <a:rPr lang="fr-FR" sz="1200" b="1" dirty="0">
                <a:solidFill>
                  <a:srgbClr val="FFFFF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00" b="1" dirty="0">
                <a:solidFill>
                  <a:schemeClr val="accent2"/>
                </a:solidFill>
                <a:latin typeface="Ubuntu" panose="020B0504030602030204" pitchFamily="34" charset="0"/>
              </a:rPr>
              <a:t>Informatique</a:t>
            </a:r>
            <a:endParaRPr lang="en-US" sz="1200" b="1" dirty="0">
              <a:solidFill>
                <a:schemeClr val="accent2"/>
              </a:solidFill>
              <a:latin typeface="Ubuntu" panose="020B0504030602030204" pitchFamily="34" charset="0"/>
            </a:endParaRPr>
          </a:p>
        </p:txBody>
      </p:sp>
      <p:pic>
        <p:nvPicPr>
          <p:cNvPr id="27" name="Image 26">
            <a:extLst>
              <a:ext uri="{FF2B5EF4-FFF2-40B4-BE49-F238E27FC236}">
                <a16:creationId xmlns:a16="http://schemas.microsoft.com/office/drawing/2014/main" id="{BCB1D506-1ACC-0D52-8FDA-DECA8CF2C8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1585" y="3191895"/>
            <a:ext cx="698529" cy="9360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8" name="Text 15">
            <a:extLst>
              <a:ext uri="{FF2B5EF4-FFF2-40B4-BE49-F238E27FC236}">
                <a16:creationId xmlns:a16="http://schemas.microsoft.com/office/drawing/2014/main" id="{130557BB-93F3-911F-9FF9-1BF0B11E0316}"/>
              </a:ext>
            </a:extLst>
          </p:cNvPr>
          <p:cNvSpPr/>
          <p:nvPr/>
        </p:nvSpPr>
        <p:spPr>
          <a:xfrm>
            <a:off x="4773562" y="4156830"/>
            <a:ext cx="129968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fr-FR" sz="1050" b="1" dirty="0">
                <a:solidFill>
                  <a:srgbClr val="FFFFF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fr-FR" sz="1050" b="1" dirty="0" err="1">
                <a:solidFill>
                  <a:srgbClr val="FFFFF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G.Fatma</a:t>
            </a:r>
            <a:r>
              <a:rPr lang="fr-FR" sz="1050" b="1" dirty="0">
                <a:solidFill>
                  <a:srgbClr val="FFFFF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 Zahra</a:t>
            </a:r>
            <a:br>
              <a:rPr lang="fr-FR" sz="1200" b="1" dirty="0">
                <a:solidFill>
                  <a:srgbClr val="FFFFF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00" b="1" dirty="0">
                <a:solidFill>
                  <a:schemeClr val="accent2"/>
                </a:solidFill>
                <a:latin typeface="Ubuntu" panose="020B0504030602030204" pitchFamily="34" charset="0"/>
              </a:rPr>
              <a:t>Etudes </a:t>
            </a:r>
            <a:r>
              <a:rPr lang="en-US" sz="1000" b="1" dirty="0" err="1">
                <a:solidFill>
                  <a:schemeClr val="accent2"/>
                </a:solidFill>
                <a:latin typeface="Ubuntu" panose="020B0504030602030204" pitchFamily="34" charset="0"/>
              </a:rPr>
              <a:t>linguistiques</a:t>
            </a:r>
            <a:endParaRPr lang="en-US" sz="1200" b="1" dirty="0">
              <a:solidFill>
                <a:schemeClr val="accent2"/>
              </a:solidFill>
              <a:latin typeface="Ubuntu" panose="020B0504030602030204" pitchFamily="34" charset="0"/>
            </a:endParaRPr>
          </a:p>
        </p:txBody>
      </p:sp>
      <p:pic>
        <p:nvPicPr>
          <p:cNvPr id="32" name="Image 31">
            <a:extLst>
              <a:ext uri="{FF2B5EF4-FFF2-40B4-BE49-F238E27FC236}">
                <a16:creationId xmlns:a16="http://schemas.microsoft.com/office/drawing/2014/main" id="{AE16EAA7-A6E4-038D-1EFC-6F603EFA3C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34253" y="3220830"/>
            <a:ext cx="635733" cy="9360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3" name="Text 15">
            <a:extLst>
              <a:ext uri="{FF2B5EF4-FFF2-40B4-BE49-F238E27FC236}">
                <a16:creationId xmlns:a16="http://schemas.microsoft.com/office/drawing/2014/main" id="{DF007C86-EEB8-0F5A-B417-42ECE661A884}"/>
              </a:ext>
            </a:extLst>
          </p:cNvPr>
          <p:cNvSpPr/>
          <p:nvPr/>
        </p:nvSpPr>
        <p:spPr>
          <a:xfrm>
            <a:off x="2102279" y="4154580"/>
            <a:ext cx="129968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fr-FR" sz="1050" b="1" dirty="0" err="1">
                <a:solidFill>
                  <a:srgbClr val="FFFFF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A.Abderrahmen</a:t>
            </a:r>
            <a:br>
              <a:rPr lang="fr-FR" sz="1200" b="1" dirty="0">
                <a:solidFill>
                  <a:srgbClr val="FFFFF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00" b="1" dirty="0">
                <a:solidFill>
                  <a:schemeClr val="accent2"/>
                </a:solidFill>
                <a:latin typeface="Ubuntu" panose="020B0504030602030204" pitchFamily="34" charset="0"/>
              </a:rPr>
              <a:t>Etudes </a:t>
            </a:r>
            <a:r>
              <a:rPr lang="en-US" sz="1000" b="1" dirty="0" err="1">
                <a:solidFill>
                  <a:schemeClr val="accent2"/>
                </a:solidFill>
                <a:latin typeface="Ubuntu" panose="020B0504030602030204" pitchFamily="34" charset="0"/>
              </a:rPr>
              <a:t>linguistiques</a:t>
            </a:r>
            <a:endParaRPr lang="en-US" sz="1200" b="1" dirty="0">
              <a:solidFill>
                <a:schemeClr val="accent2"/>
              </a:solidFill>
              <a:latin typeface="Ubuntu" panose="020B0504030602030204" pitchFamily="34" charset="0"/>
            </a:endParaRPr>
          </a:p>
        </p:txBody>
      </p:sp>
      <p:pic>
        <p:nvPicPr>
          <p:cNvPr id="35" name="Image 34">
            <a:extLst>
              <a:ext uri="{FF2B5EF4-FFF2-40B4-BE49-F238E27FC236}">
                <a16:creationId xmlns:a16="http://schemas.microsoft.com/office/drawing/2014/main" id="{EDF678D5-55F6-A80A-1BA2-B1AEFD27A28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610" t="5414" r="4248"/>
          <a:stretch>
            <a:fillRect/>
          </a:stretch>
        </p:blipFill>
        <p:spPr>
          <a:xfrm>
            <a:off x="6356148" y="3218580"/>
            <a:ext cx="758071" cy="9360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6" name="Text 15">
            <a:extLst>
              <a:ext uri="{FF2B5EF4-FFF2-40B4-BE49-F238E27FC236}">
                <a16:creationId xmlns:a16="http://schemas.microsoft.com/office/drawing/2014/main" id="{D7CB0789-EBA6-4AA6-2928-08DAF559391B}"/>
              </a:ext>
            </a:extLst>
          </p:cNvPr>
          <p:cNvSpPr/>
          <p:nvPr/>
        </p:nvSpPr>
        <p:spPr>
          <a:xfrm>
            <a:off x="6081812" y="4159920"/>
            <a:ext cx="129968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fr-FR" sz="1050" b="1" dirty="0" err="1">
                <a:solidFill>
                  <a:srgbClr val="FFFFF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D.Aicha</a:t>
            </a:r>
            <a:br>
              <a:rPr lang="fr-FR" sz="1200" b="1" dirty="0">
                <a:solidFill>
                  <a:srgbClr val="FFFFF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00" b="1" dirty="0">
                <a:solidFill>
                  <a:schemeClr val="accent2"/>
                </a:solidFill>
                <a:latin typeface="Ubuntu" panose="020B0504030602030204" pitchFamily="34" charset="0"/>
              </a:rPr>
              <a:t>Etudes </a:t>
            </a:r>
            <a:r>
              <a:rPr lang="en-US" sz="1000" b="1" dirty="0" err="1">
                <a:solidFill>
                  <a:schemeClr val="accent2"/>
                </a:solidFill>
                <a:latin typeface="Ubuntu" panose="020B0504030602030204" pitchFamily="34" charset="0"/>
              </a:rPr>
              <a:t>linguistiques</a:t>
            </a:r>
            <a:endParaRPr lang="en-US" sz="1200" b="1" dirty="0">
              <a:solidFill>
                <a:schemeClr val="accent2"/>
              </a:solidFill>
              <a:latin typeface="Ubuntu" panose="020B0504030602030204" pitchFamily="34" charset="0"/>
            </a:endParaRPr>
          </a:p>
        </p:txBody>
      </p:sp>
      <p:pic>
        <p:nvPicPr>
          <p:cNvPr id="38" name="Image 37">
            <a:extLst>
              <a:ext uri="{FF2B5EF4-FFF2-40B4-BE49-F238E27FC236}">
                <a16:creationId xmlns:a16="http://schemas.microsoft.com/office/drawing/2014/main" id="{4607414B-02B4-C146-3716-74B4CC73C3F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40977" y="3218580"/>
            <a:ext cx="734071" cy="9360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9" name="Text 15">
            <a:extLst>
              <a:ext uri="{FF2B5EF4-FFF2-40B4-BE49-F238E27FC236}">
                <a16:creationId xmlns:a16="http://schemas.microsoft.com/office/drawing/2014/main" id="{E241441A-2958-7E16-CA2C-37E5EE7EC738}"/>
              </a:ext>
            </a:extLst>
          </p:cNvPr>
          <p:cNvSpPr/>
          <p:nvPr/>
        </p:nvSpPr>
        <p:spPr>
          <a:xfrm>
            <a:off x="3458172" y="4156830"/>
            <a:ext cx="129968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fr-FR" sz="1200" b="1" dirty="0">
                <a:solidFill>
                  <a:srgbClr val="FFFFF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F. Mohammed</a:t>
            </a:r>
            <a:br>
              <a:rPr lang="fr-FR" sz="1200" b="1" dirty="0">
                <a:solidFill>
                  <a:srgbClr val="FFFFF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00" b="1" dirty="0">
                <a:solidFill>
                  <a:schemeClr val="accent2"/>
                </a:solidFill>
                <a:latin typeface="Ubuntu" panose="020B0504030602030204" pitchFamily="34" charset="0"/>
              </a:rPr>
              <a:t>Etudes </a:t>
            </a:r>
            <a:r>
              <a:rPr lang="en-US" sz="1000" b="1" dirty="0" err="1">
                <a:solidFill>
                  <a:schemeClr val="accent2"/>
                </a:solidFill>
                <a:latin typeface="Ubuntu" panose="020B0504030602030204" pitchFamily="34" charset="0"/>
              </a:rPr>
              <a:t>linguistiques</a:t>
            </a:r>
            <a:endParaRPr lang="en-US" sz="1200" b="1" dirty="0">
              <a:solidFill>
                <a:schemeClr val="accent2"/>
              </a:solidFill>
              <a:latin typeface="Ubuntu" panose="020B0504030602030204" pitchFamily="34" charset="0"/>
            </a:endParaRPr>
          </a:p>
        </p:txBody>
      </p:sp>
      <p:pic>
        <p:nvPicPr>
          <p:cNvPr id="41" name="Image 40">
            <a:extLst>
              <a:ext uri="{FF2B5EF4-FFF2-40B4-BE49-F238E27FC236}">
                <a16:creationId xmlns:a16="http://schemas.microsoft.com/office/drawing/2014/main" id="{EE045E89-8B17-B5B4-C516-A60099831CA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35043" y="3254490"/>
            <a:ext cx="624000" cy="9360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42" name="Text 15">
            <a:extLst>
              <a:ext uri="{FF2B5EF4-FFF2-40B4-BE49-F238E27FC236}">
                <a16:creationId xmlns:a16="http://schemas.microsoft.com/office/drawing/2014/main" id="{40893DFF-0936-BA36-AF1C-E60B034BB50E}"/>
              </a:ext>
            </a:extLst>
          </p:cNvPr>
          <p:cNvSpPr/>
          <p:nvPr/>
        </p:nvSpPr>
        <p:spPr>
          <a:xfrm>
            <a:off x="7397202" y="4197675"/>
            <a:ext cx="129968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fr-FR" sz="1050" b="1" dirty="0" err="1">
                <a:solidFill>
                  <a:srgbClr val="FFFFF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M.Faiza</a:t>
            </a:r>
            <a:br>
              <a:rPr lang="fr-FR" sz="1200" b="1" dirty="0">
                <a:solidFill>
                  <a:srgbClr val="FFFFF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00" b="1" dirty="0">
                <a:solidFill>
                  <a:schemeClr val="accent2"/>
                </a:solidFill>
                <a:latin typeface="Ubuntu" panose="020B0504030602030204" pitchFamily="34" charset="0"/>
              </a:rPr>
              <a:t>Langue anglaise </a:t>
            </a:r>
          </a:p>
        </p:txBody>
      </p:sp>
      <p:sp>
        <p:nvSpPr>
          <p:cNvPr id="43" name="Text 15">
            <a:extLst>
              <a:ext uri="{FF2B5EF4-FFF2-40B4-BE49-F238E27FC236}">
                <a16:creationId xmlns:a16="http://schemas.microsoft.com/office/drawing/2014/main" id="{B7C6D255-3E4B-CE2A-E8EE-9ADC82D7E0EB}"/>
              </a:ext>
            </a:extLst>
          </p:cNvPr>
          <p:cNvSpPr/>
          <p:nvPr/>
        </p:nvSpPr>
        <p:spPr>
          <a:xfrm>
            <a:off x="1128069" y="2723115"/>
            <a:ext cx="12583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200" b="1" dirty="0">
                <a:solidFill>
                  <a:srgbClr val="FFFFFF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Our Team :</a:t>
            </a:r>
            <a:endParaRPr lang="en-US" sz="1200" dirty="0">
              <a:latin typeface="Ubuntu" panose="020B0504030602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Ubuntu" panose="020B0504030602030204" pitchFamily="34" charset="0"/>
                <a:ea typeface="Georgia" pitchFamily="34" charset="-122"/>
                <a:cs typeface="Georgia" pitchFamily="34" charset="-120"/>
              </a:rPr>
              <a:t>💡 Project Idea</a:t>
            </a:r>
            <a:endParaRPr lang="en-US" sz="2200" dirty="0">
              <a:latin typeface="Ubuntu" panose="020B050403060203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73152" cy="34747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515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392B"/>
                </a:solidFill>
                <a:latin typeface="Ubuntu" panose="020B0504030602030204" pitchFamily="34" charset="0"/>
                <a:ea typeface="Georgia" pitchFamily="34" charset="-122"/>
                <a:cs typeface="Georgia" pitchFamily="34" charset="-120"/>
              </a:rPr>
              <a:t>❌ Problem</a:t>
            </a:r>
            <a:endParaRPr lang="en-US" sz="1600" dirty="0">
              <a:latin typeface="Ubuntu" panose="020B050403060203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34747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just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5D4037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You have ingredients in your kitchen but don't know what to cook.</a:t>
            </a:r>
          </a:p>
          <a:p>
            <a:pPr marL="342900" indent="-342900" algn="just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5D4037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Wasting time searching for suitable recipes.</a:t>
            </a:r>
          </a:p>
          <a:p>
            <a:pPr marL="342900" indent="-342900" algn="just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5D4037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Lack of knowledge about traditional Algerian recipes.</a:t>
            </a:r>
          </a:p>
          <a:p>
            <a:pPr marL="342900" indent="-342900" algn="just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5D4037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There is no application dedicated to Algerian cuisine.</a:t>
            </a:r>
          </a:p>
        </p:txBody>
      </p:sp>
      <p:sp>
        <p:nvSpPr>
          <p:cNvPr id="8" name="Shape 6"/>
          <p:cNvSpPr/>
          <p:nvPr/>
        </p:nvSpPr>
        <p:spPr>
          <a:xfrm>
            <a:off x="4937760" y="91440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37760" y="914400"/>
            <a:ext cx="73152" cy="34747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0" name="Text 8"/>
          <p:cNvSpPr/>
          <p:nvPr/>
        </p:nvSpPr>
        <p:spPr>
          <a:xfrm>
            <a:off x="5120640" y="10515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D4A017"/>
                </a:solidFill>
                <a:latin typeface="Ubuntu" panose="020B0504030602030204" pitchFamily="34" charset="0"/>
                <a:ea typeface="Georgia" pitchFamily="34" charset="-122"/>
                <a:cs typeface="Georgia" pitchFamily="34" charset="-120"/>
              </a:rPr>
              <a:t>✅ Solution</a:t>
            </a:r>
            <a:endParaRPr lang="en-US" sz="1600" dirty="0">
              <a:latin typeface="Ubuntu" panose="020B050403060203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120640" y="1554480"/>
            <a:ext cx="34747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just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5D4037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An application that suggests recipes based on your available ingredients.</a:t>
            </a:r>
          </a:p>
          <a:p>
            <a:pPr marL="342900" indent="-342900" algn="just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5D4037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An engine for ingredient matching.</a:t>
            </a:r>
          </a:p>
          <a:p>
            <a:pPr marL="342900" indent="-342900" algn="just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5D4037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A database of traditional Algerian recipes.</a:t>
            </a:r>
          </a:p>
          <a:p>
            <a:pPr marL="342900" indent="-342900" algn="just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5D4037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An attractive and user-friendly Arabic/English interface.</a:t>
            </a: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0A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922B2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✨ Features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560320" cy="16459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058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5544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017"/>
                </a:solidFill>
                <a:latin typeface="Ubuntu" panose="020B0504030602030204" pitchFamily="34" charset="0"/>
                <a:ea typeface="Georgia" pitchFamily="34" charset="-122"/>
                <a:cs typeface="Georgia" pitchFamily="34" charset="-120"/>
              </a:rPr>
              <a:t>Search</a:t>
            </a:r>
            <a:endParaRPr lang="en-US" sz="1300" dirty="0">
              <a:latin typeface="Ubuntu" panose="020B050403060203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CCBBAA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It suggests recipes using available ingredients</a:t>
            </a:r>
            <a:r>
              <a:rPr lang="en-US" sz="1000" dirty="0">
                <a:latin typeface="Ubuntu" panose="020B0504030602030204" pitchFamily="34" charset="0"/>
              </a:rPr>
              <a:t>.</a:t>
            </a:r>
          </a:p>
        </p:txBody>
      </p:sp>
      <p:sp>
        <p:nvSpPr>
          <p:cNvPr id="8" name="Shape 6"/>
          <p:cNvSpPr/>
          <p:nvPr/>
        </p:nvSpPr>
        <p:spPr>
          <a:xfrm>
            <a:off x="3200400" y="914400"/>
            <a:ext cx="2560320" cy="16459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200400" y="10058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🏺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200400" y="15544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D4A017"/>
                </a:solidFill>
                <a:latin typeface="Ubuntu" panose="020B0504030602030204" pitchFamily="34" charset="0"/>
                <a:ea typeface="Georgia" pitchFamily="34" charset="-122"/>
                <a:cs typeface="Georgia" pitchFamily="34" charset="-120"/>
              </a:rPr>
              <a:t> traditional recipes</a:t>
            </a:r>
            <a:endParaRPr lang="en-US" sz="1300" dirty="0">
              <a:latin typeface="Ubuntu" panose="020B050403060203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200400" y="18288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CCBBAA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A database of authentic Algerian recipes</a:t>
            </a:r>
            <a:endParaRPr lang="en-US" sz="1000" dirty="0">
              <a:latin typeface="Ubuntu" panose="020B050403060203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035040" y="891540"/>
            <a:ext cx="2560320" cy="16459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0" y="10058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035040" y="15544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D4A017"/>
                </a:solidFill>
                <a:latin typeface="Ubuntu" panose="020B0504030602030204" pitchFamily="34" charset="0"/>
                <a:ea typeface="Georgia" pitchFamily="34" charset="-122"/>
                <a:cs typeface="Georgia" pitchFamily="34" charset="-120"/>
              </a:rPr>
              <a:t>Bilingual</a:t>
            </a:r>
            <a:endParaRPr lang="en-US" sz="1300" dirty="0">
              <a:latin typeface="Ubuntu" panose="020B050403060203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035040" y="18288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CCBBAA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Full support for Arabic and English</a:t>
            </a:r>
            <a:br>
              <a:rPr lang="en-US" sz="1000" dirty="0">
                <a:solidFill>
                  <a:srgbClr val="CCBBAA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</a:br>
            <a:endParaRPr lang="en-US" sz="1000" dirty="0">
              <a:latin typeface="Ubuntu" panose="020B050403060203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65760" y="2834640"/>
            <a:ext cx="2560320" cy="16459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29260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❤️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65760" y="3474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D4A017"/>
                </a:solidFill>
                <a:latin typeface="Ubuntu" panose="020B0504030602030204" pitchFamily="34" charset="0"/>
                <a:ea typeface="Georgia" pitchFamily="34" charset="-122"/>
                <a:cs typeface="Georgia" pitchFamily="34" charset="-120"/>
              </a:rPr>
              <a:t>Favorites</a:t>
            </a:r>
            <a:endParaRPr lang="en-US" sz="1300" dirty="0">
              <a:latin typeface="Ubuntu" panose="020B050403060203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65760" y="37490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CCBBAA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Save favorite recipes</a:t>
            </a:r>
            <a:endParaRPr lang="en-US" sz="1000" dirty="0">
              <a:latin typeface="Ubuntu" panose="020B050403060203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200400" y="2829365"/>
            <a:ext cx="2560320" cy="16459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00400" y="29260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⭐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3200400" y="3474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017"/>
                </a:solidFill>
                <a:latin typeface="Ubuntu" panose="020B0504030602030204" pitchFamily="34" charset="0"/>
                <a:ea typeface="Georgia" pitchFamily="34" charset="-122"/>
                <a:cs typeface="Georgia" pitchFamily="34" charset="-120"/>
              </a:rPr>
              <a:t>Rating</a:t>
            </a:r>
            <a:endParaRPr lang="en-US" sz="1300" dirty="0">
              <a:latin typeface="Ubuntu" panose="020B050403060203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200400" y="37490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CCBBAA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Rate recipes from 1 to 5</a:t>
            </a:r>
            <a:endParaRPr lang="en-US" sz="1000" dirty="0">
              <a:latin typeface="Ubuntu" panose="020B050403060203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035040" y="2834640"/>
            <a:ext cx="2560320" cy="16459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035040" y="29260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🎛️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035040" y="3474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017"/>
                </a:solidFill>
                <a:latin typeface="Ubuntu" panose="020B0504030602030204" pitchFamily="34" charset="0"/>
                <a:ea typeface="Georgia" pitchFamily="34" charset="-122"/>
                <a:cs typeface="Georgia" pitchFamily="34" charset="-120"/>
              </a:rPr>
              <a:t>Admin Dashboard</a:t>
            </a:r>
            <a:endParaRPr lang="en-US" sz="1300" dirty="0">
              <a:latin typeface="Ubuntu" panose="020B050403060203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035040" y="3749040"/>
            <a:ext cx="244074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CCBBAA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Full management of recipes and ingredients</a:t>
            </a:r>
            <a:endParaRPr lang="en-US" sz="1000" dirty="0">
              <a:latin typeface="Ubuntu" panose="020B0504030602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C39F6-4BA8-AD34-1BB4-827800BA4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1F82502-DA56-13A7-4B2F-77EF8126E6E6}"/>
              </a:ext>
            </a:extLst>
          </p:cNvPr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BF0DAF9-4CBA-EB60-375C-500FC52168FD}"/>
              </a:ext>
            </a:extLst>
          </p:cNvPr>
          <p:cNvSpPr/>
          <p:nvPr/>
        </p:nvSpPr>
        <p:spPr>
          <a:xfrm>
            <a:off x="274320" y="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Ubuntu" panose="020B0504030602030204" pitchFamily="34" charset="0"/>
                <a:ea typeface="Georgia" pitchFamily="34" charset="-122"/>
                <a:cs typeface="Georgia" pitchFamily="34" charset="-120"/>
              </a:rPr>
              <a:t>🛠️ Tech Stack</a:t>
            </a:r>
            <a:endParaRPr lang="en-US" sz="2200" dirty="0">
              <a:latin typeface="Ubuntu" panose="020B0504030602030204" pitchFamily="34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BBB3BEB-476C-B6C3-69DA-5239F0C444E4}"/>
              </a:ext>
            </a:extLst>
          </p:cNvPr>
          <p:cNvSpPr/>
          <p:nvPr/>
        </p:nvSpPr>
        <p:spPr>
          <a:xfrm>
            <a:off x="1667026" y="868680"/>
            <a:ext cx="196596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733390F-4EEE-1A42-5F4A-6BDF3CF8DC2C}"/>
              </a:ext>
            </a:extLst>
          </p:cNvPr>
          <p:cNvSpPr/>
          <p:nvPr/>
        </p:nvSpPr>
        <p:spPr>
          <a:xfrm>
            <a:off x="1667026" y="868680"/>
            <a:ext cx="1965960" cy="5029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63A11F7-3EC0-FE3E-38CD-220928C6088A}"/>
              </a:ext>
            </a:extLst>
          </p:cNvPr>
          <p:cNvSpPr/>
          <p:nvPr/>
        </p:nvSpPr>
        <p:spPr>
          <a:xfrm>
            <a:off x="1667026" y="8686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Ubuntu" panose="020B0504030602030204" pitchFamily="34" charset="0"/>
                <a:ea typeface="Georgia" pitchFamily="34" charset="-122"/>
                <a:cs typeface="Georgia" pitchFamily="34" charset="-120"/>
              </a:rPr>
              <a:t>Frontend</a:t>
            </a:r>
            <a:endParaRPr lang="en-US" sz="1400" dirty="0">
              <a:latin typeface="Ubuntu" panose="020B0504030602030204" pitchFamily="34" charset="0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E61F183-930F-7F84-B6F8-F4479FE21D46}"/>
              </a:ext>
            </a:extLst>
          </p:cNvPr>
          <p:cNvSpPr/>
          <p:nvPr/>
        </p:nvSpPr>
        <p:spPr>
          <a:xfrm>
            <a:off x="1804186" y="1508760"/>
            <a:ext cx="73152" cy="2743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DF3F522-4E28-E6E6-F8C7-9E4644E13FF5}"/>
              </a:ext>
            </a:extLst>
          </p:cNvPr>
          <p:cNvSpPr/>
          <p:nvPr/>
        </p:nvSpPr>
        <p:spPr>
          <a:xfrm>
            <a:off x="1941346" y="15087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Vue.js 2</a:t>
            </a:r>
            <a:endParaRPr lang="en-US" sz="11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80ED1BD3-4430-2318-8A8E-520C02D2D716}"/>
              </a:ext>
            </a:extLst>
          </p:cNvPr>
          <p:cNvSpPr/>
          <p:nvPr/>
        </p:nvSpPr>
        <p:spPr>
          <a:xfrm>
            <a:off x="1804186" y="2057400"/>
            <a:ext cx="73152" cy="2743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3A62866-E884-63D9-D65D-5FC6E73FD308}"/>
              </a:ext>
            </a:extLst>
          </p:cNvPr>
          <p:cNvSpPr/>
          <p:nvPr/>
        </p:nvSpPr>
        <p:spPr>
          <a:xfrm>
            <a:off x="1941346" y="20574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Vuetify</a:t>
            </a:r>
            <a:endParaRPr lang="en-US" sz="11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D62A8ADC-F890-B3F3-C01E-51C14C861D20}"/>
              </a:ext>
            </a:extLst>
          </p:cNvPr>
          <p:cNvSpPr/>
          <p:nvPr/>
        </p:nvSpPr>
        <p:spPr>
          <a:xfrm>
            <a:off x="1804186" y="2606040"/>
            <a:ext cx="73152" cy="2743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9B20662-B96D-A4B6-4977-DB6DC305B613}"/>
              </a:ext>
            </a:extLst>
          </p:cNvPr>
          <p:cNvSpPr/>
          <p:nvPr/>
        </p:nvSpPr>
        <p:spPr>
          <a:xfrm>
            <a:off x="1941346" y="26060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Vuex</a:t>
            </a:r>
            <a:endParaRPr lang="en-US" sz="11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891221B2-072E-3671-4E7C-643AFDDBC191}"/>
              </a:ext>
            </a:extLst>
          </p:cNvPr>
          <p:cNvSpPr/>
          <p:nvPr/>
        </p:nvSpPr>
        <p:spPr>
          <a:xfrm>
            <a:off x="1804186" y="3154680"/>
            <a:ext cx="73152" cy="2743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72379D9-BC8C-2500-8F2A-E5E5D0C393A6}"/>
              </a:ext>
            </a:extLst>
          </p:cNvPr>
          <p:cNvSpPr/>
          <p:nvPr/>
        </p:nvSpPr>
        <p:spPr>
          <a:xfrm>
            <a:off x="1941346" y="31546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Router</a:t>
            </a:r>
            <a:endParaRPr lang="en-US" sz="11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FE8C6AB8-A503-ED70-894C-9241E1BF8C32}"/>
              </a:ext>
            </a:extLst>
          </p:cNvPr>
          <p:cNvSpPr/>
          <p:nvPr/>
        </p:nvSpPr>
        <p:spPr>
          <a:xfrm>
            <a:off x="1804186" y="3703320"/>
            <a:ext cx="73152" cy="2743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66B072C-EC91-B856-46F6-52AD362685C5}"/>
              </a:ext>
            </a:extLst>
          </p:cNvPr>
          <p:cNvSpPr/>
          <p:nvPr/>
        </p:nvSpPr>
        <p:spPr>
          <a:xfrm>
            <a:off x="1941346" y="37033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i18n</a:t>
            </a:r>
            <a:endParaRPr lang="en-US" sz="11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C01E1370-C351-4C83-28EB-D6A728EC9B6B}"/>
              </a:ext>
            </a:extLst>
          </p:cNvPr>
          <p:cNvSpPr/>
          <p:nvPr/>
        </p:nvSpPr>
        <p:spPr>
          <a:xfrm>
            <a:off x="3843298" y="868680"/>
            <a:ext cx="196596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81DE9DC2-D02D-3835-19A2-08DB739DE7F2}"/>
              </a:ext>
            </a:extLst>
          </p:cNvPr>
          <p:cNvSpPr/>
          <p:nvPr/>
        </p:nvSpPr>
        <p:spPr>
          <a:xfrm>
            <a:off x="3843298" y="868680"/>
            <a:ext cx="1965960" cy="50292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46CDE1CE-7DA1-6F02-1F86-4C8A7A512392}"/>
              </a:ext>
            </a:extLst>
          </p:cNvPr>
          <p:cNvSpPr/>
          <p:nvPr/>
        </p:nvSpPr>
        <p:spPr>
          <a:xfrm>
            <a:off x="3843298" y="8686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</a:t>
            </a:r>
            <a:endParaRPr lang="en-US" sz="14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1B39F344-4AC6-47B5-1510-4B3E4BF9E9E8}"/>
              </a:ext>
            </a:extLst>
          </p:cNvPr>
          <p:cNvSpPr/>
          <p:nvPr/>
        </p:nvSpPr>
        <p:spPr>
          <a:xfrm>
            <a:off x="3980458" y="1508760"/>
            <a:ext cx="73152" cy="27432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AB77B235-1AD9-B2CD-CE73-4D38B4E970CD}"/>
              </a:ext>
            </a:extLst>
          </p:cNvPr>
          <p:cNvSpPr/>
          <p:nvPr/>
        </p:nvSpPr>
        <p:spPr>
          <a:xfrm>
            <a:off x="4117618" y="15087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</a:t>
            </a:r>
            <a:endParaRPr lang="en-US" sz="11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A65BC189-D0CA-B770-38C1-EDA7D9932848}"/>
              </a:ext>
            </a:extLst>
          </p:cNvPr>
          <p:cNvSpPr/>
          <p:nvPr/>
        </p:nvSpPr>
        <p:spPr>
          <a:xfrm>
            <a:off x="3980458" y="2057400"/>
            <a:ext cx="73152" cy="27432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B3BF6E1F-BA13-A3EA-518B-17656ECA6E40}"/>
              </a:ext>
            </a:extLst>
          </p:cNvPr>
          <p:cNvSpPr/>
          <p:nvPr/>
        </p:nvSpPr>
        <p:spPr>
          <a:xfrm>
            <a:off x="4117618" y="20574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A0E15FC4-19FA-2E54-DC36-72452BE3BD92}"/>
              </a:ext>
            </a:extLst>
          </p:cNvPr>
          <p:cNvSpPr/>
          <p:nvPr/>
        </p:nvSpPr>
        <p:spPr>
          <a:xfrm>
            <a:off x="3980458" y="2606040"/>
            <a:ext cx="73152" cy="27432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1690A6DC-F2A7-9548-13BE-18619D58DDD5}"/>
              </a:ext>
            </a:extLst>
          </p:cNvPr>
          <p:cNvSpPr/>
          <p:nvPr/>
        </p:nvSpPr>
        <p:spPr>
          <a:xfrm>
            <a:off x="4117618" y="26060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</a:t>
            </a:r>
            <a:endParaRPr lang="en-US" sz="110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E982D35A-69E3-0A5C-7962-214AC94A8E6A}"/>
              </a:ext>
            </a:extLst>
          </p:cNvPr>
          <p:cNvSpPr/>
          <p:nvPr/>
        </p:nvSpPr>
        <p:spPr>
          <a:xfrm>
            <a:off x="3980458" y="3154680"/>
            <a:ext cx="73152" cy="27432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2CE1DE43-64F6-0406-DF0F-2B56ABBC13F5}"/>
              </a:ext>
            </a:extLst>
          </p:cNvPr>
          <p:cNvSpPr/>
          <p:nvPr/>
        </p:nvSpPr>
        <p:spPr>
          <a:xfrm>
            <a:off x="4117618" y="31546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</a:t>
            </a:r>
            <a:endParaRPr lang="en-US" sz="11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935B4B1B-B739-2CE1-70DF-7DB24DC20380}"/>
              </a:ext>
            </a:extLst>
          </p:cNvPr>
          <p:cNvSpPr/>
          <p:nvPr/>
        </p:nvSpPr>
        <p:spPr>
          <a:xfrm>
            <a:off x="3980458" y="3703320"/>
            <a:ext cx="73152" cy="27432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5A4D3D82-0F65-C779-9D83-03EE8DD3F6EB}"/>
              </a:ext>
            </a:extLst>
          </p:cNvPr>
          <p:cNvSpPr/>
          <p:nvPr/>
        </p:nvSpPr>
        <p:spPr>
          <a:xfrm>
            <a:off x="4117618" y="37033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1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A1AED2D6-292B-432D-73C5-CA77019EB7DC}"/>
              </a:ext>
            </a:extLst>
          </p:cNvPr>
          <p:cNvSpPr/>
          <p:nvPr/>
        </p:nvSpPr>
        <p:spPr>
          <a:xfrm>
            <a:off x="6019570" y="868680"/>
            <a:ext cx="196596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AD938F40-FEE2-E612-F2A3-168BAFFBA57F}"/>
              </a:ext>
            </a:extLst>
          </p:cNvPr>
          <p:cNvSpPr/>
          <p:nvPr/>
        </p:nvSpPr>
        <p:spPr>
          <a:xfrm>
            <a:off x="6019570" y="868680"/>
            <a:ext cx="1965960" cy="502920"/>
          </a:xfrm>
          <a:prstGeom prst="rect">
            <a:avLst/>
          </a:prstGeom>
          <a:solidFill>
            <a:srgbClr val="15618A"/>
          </a:solidFill>
          <a:ln/>
        </p:spPr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C37D7551-1471-8C7A-9F02-CFC8DF364A2E}"/>
              </a:ext>
            </a:extLst>
          </p:cNvPr>
          <p:cNvSpPr/>
          <p:nvPr/>
        </p:nvSpPr>
        <p:spPr>
          <a:xfrm>
            <a:off x="6019570" y="8686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</a:t>
            </a:r>
            <a:endParaRPr lang="en-US" sz="140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0D1774DF-5DC1-E593-E31B-8EDA336563CC}"/>
              </a:ext>
            </a:extLst>
          </p:cNvPr>
          <p:cNvSpPr/>
          <p:nvPr/>
        </p:nvSpPr>
        <p:spPr>
          <a:xfrm>
            <a:off x="6156730" y="1508760"/>
            <a:ext cx="73152" cy="274320"/>
          </a:xfrm>
          <a:prstGeom prst="rect">
            <a:avLst/>
          </a:prstGeom>
          <a:solidFill>
            <a:srgbClr val="15618A"/>
          </a:solidFill>
          <a:ln/>
        </p:spPr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CC3D3FF8-F61C-33B8-4CB7-4BDA4A053A76}"/>
              </a:ext>
            </a:extLst>
          </p:cNvPr>
          <p:cNvSpPr/>
          <p:nvPr/>
        </p:nvSpPr>
        <p:spPr>
          <a:xfrm>
            <a:off x="6293890" y="15087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</a:t>
            </a:r>
            <a:endParaRPr lang="en-US" sz="1100" dirty="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D0631DDB-CE5F-F06E-1CEF-BF4E26D3F92D}"/>
              </a:ext>
            </a:extLst>
          </p:cNvPr>
          <p:cNvSpPr/>
          <p:nvPr/>
        </p:nvSpPr>
        <p:spPr>
          <a:xfrm>
            <a:off x="6156730" y="2057400"/>
            <a:ext cx="73152" cy="274320"/>
          </a:xfrm>
          <a:prstGeom prst="rect">
            <a:avLst/>
          </a:prstGeom>
          <a:solidFill>
            <a:srgbClr val="15618A"/>
          </a:solidFill>
          <a:ln/>
        </p:spPr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AC93A6A7-3495-B33E-5A12-29190893943C}"/>
              </a:ext>
            </a:extLst>
          </p:cNvPr>
          <p:cNvSpPr/>
          <p:nvPr/>
        </p:nvSpPr>
        <p:spPr>
          <a:xfrm>
            <a:off x="6293890" y="20574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utf8mb4</a:t>
            </a:r>
            <a:endParaRPr lang="en-US" sz="1100" dirty="0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253149F0-3209-1BB8-E825-9F616A9E782E}"/>
              </a:ext>
            </a:extLst>
          </p:cNvPr>
          <p:cNvSpPr/>
          <p:nvPr/>
        </p:nvSpPr>
        <p:spPr>
          <a:xfrm>
            <a:off x="6156730" y="2606040"/>
            <a:ext cx="73152" cy="274320"/>
          </a:xfrm>
          <a:prstGeom prst="rect">
            <a:avLst/>
          </a:prstGeom>
          <a:solidFill>
            <a:srgbClr val="15618A"/>
          </a:solidFill>
          <a:ln/>
        </p:spPr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1A1F7FA8-09D0-1043-1286-69DF6C3760CF}"/>
              </a:ext>
            </a:extLst>
          </p:cNvPr>
          <p:cNvSpPr/>
          <p:nvPr/>
        </p:nvSpPr>
        <p:spPr>
          <a:xfrm>
            <a:off x="6293890" y="26060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InnoDB</a:t>
            </a:r>
            <a:endParaRPr lang="en-US" sz="1100" dirty="0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A8EDA027-8C47-D4B7-CA2B-61189C0926F8}"/>
              </a:ext>
            </a:extLst>
          </p:cNvPr>
          <p:cNvSpPr/>
          <p:nvPr/>
        </p:nvSpPr>
        <p:spPr>
          <a:xfrm>
            <a:off x="6156730" y="3154680"/>
            <a:ext cx="73152" cy="274320"/>
          </a:xfrm>
          <a:prstGeom prst="rect">
            <a:avLst/>
          </a:prstGeom>
          <a:solidFill>
            <a:srgbClr val="15618A"/>
          </a:solidFill>
          <a:ln/>
        </p:spPr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3401F0BD-F9AD-3D11-C44C-788EBE813B19}"/>
              </a:ext>
            </a:extLst>
          </p:cNvPr>
          <p:cNvSpPr/>
          <p:nvPr/>
        </p:nvSpPr>
        <p:spPr>
          <a:xfrm>
            <a:off x="6293890" y="31546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</a:t>
            </a:r>
            <a:endParaRPr lang="en-US" sz="1100" dirty="0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E9DFBFA1-CEE3-E670-68A0-220CBBBDA180}"/>
              </a:ext>
            </a:extLst>
          </p:cNvPr>
          <p:cNvSpPr/>
          <p:nvPr/>
        </p:nvSpPr>
        <p:spPr>
          <a:xfrm>
            <a:off x="6156730" y="3703320"/>
            <a:ext cx="73152" cy="274320"/>
          </a:xfrm>
          <a:prstGeom prst="rect">
            <a:avLst/>
          </a:prstGeom>
          <a:solidFill>
            <a:srgbClr val="15618A"/>
          </a:solidFill>
          <a:ln/>
        </p:spPr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3A7B8733-4992-24CC-85A3-C766AA16E09F}"/>
              </a:ext>
            </a:extLst>
          </p:cNvPr>
          <p:cNvSpPr/>
          <p:nvPr/>
        </p:nvSpPr>
        <p:spPr>
          <a:xfrm>
            <a:off x="6293890" y="37033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40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2758204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Ubuntu" panose="020B0504030602030204" pitchFamily="34" charset="0"/>
                <a:ea typeface="Georgia" pitchFamily="34" charset="-122"/>
                <a:cs typeface="Georgia" pitchFamily="34" charset="-120"/>
              </a:rPr>
              <a:t>🛠️ Tech Stack </a:t>
            </a:r>
            <a:r>
              <a:rPr lang="en-US" sz="2200" b="1" dirty="0">
                <a:solidFill>
                  <a:srgbClr val="FFFFFF"/>
                </a:solidFill>
                <a:latin typeface="Ubuntu" panose="020B0504030602030204" pitchFamily="34" charset="0"/>
                <a:ea typeface="Georgia" pitchFamily="34" charset="-122"/>
                <a:cs typeface="Georgia" pitchFamily="34" charset="-120"/>
                <a:sym typeface="Wingdings" panose="05000000000000000000" pitchFamily="2" charset="2"/>
              </a:rPr>
              <a:t> Frontend</a:t>
            </a:r>
            <a:endParaRPr lang="en-US" sz="2200" dirty="0">
              <a:latin typeface="Ubuntu" panose="020B050403060203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086022" y="868681"/>
            <a:ext cx="3218688" cy="2141805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086022" y="868680"/>
            <a:ext cx="3218688" cy="50292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19" name="Text 17"/>
          <p:cNvSpPr/>
          <p:nvPr/>
        </p:nvSpPr>
        <p:spPr>
          <a:xfrm>
            <a:off x="1086022" y="868680"/>
            <a:ext cx="3218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Ubuntu" panose="020B0504030602030204" pitchFamily="34" charset="0"/>
                <a:ea typeface="Georgia" pitchFamily="34" charset="-122"/>
                <a:cs typeface="Georgia" pitchFamily="34" charset="-120"/>
              </a:rPr>
              <a:t>Vue.js</a:t>
            </a:r>
            <a:endParaRPr lang="en-US" sz="1400" dirty="0">
              <a:latin typeface="Ubuntu" panose="020B0504030602030204" pitchFamily="34" charset="0"/>
            </a:endParaRPr>
          </a:p>
        </p:txBody>
      </p:sp>
      <p:sp>
        <p:nvSpPr>
          <p:cNvPr id="54" name="Text 6">
            <a:extLst>
              <a:ext uri="{FF2B5EF4-FFF2-40B4-BE49-F238E27FC236}">
                <a16:creationId xmlns:a16="http://schemas.microsoft.com/office/drawing/2014/main" id="{D3DBD6F3-9FC3-B956-830A-7D6C3F23D8EB}"/>
              </a:ext>
            </a:extLst>
          </p:cNvPr>
          <p:cNvSpPr/>
          <p:nvPr/>
        </p:nvSpPr>
        <p:spPr>
          <a:xfrm>
            <a:off x="1160581" y="1463040"/>
            <a:ext cx="30948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ct val="150000"/>
              </a:lnSpc>
            </a:pPr>
            <a:r>
              <a:rPr lang="en-US" sz="1100" dirty="0"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       Vue  is a JavaScript framework for building user interfaces. It builds on top of standard HTML, CSS, and JavaScript and provides a declarative, component-based programming model that helps you efficiently develop user interfaces of any complexity.</a:t>
            </a:r>
          </a:p>
        </p:txBody>
      </p:sp>
      <p:sp>
        <p:nvSpPr>
          <p:cNvPr id="55" name="Shape 15">
            <a:extLst>
              <a:ext uri="{FF2B5EF4-FFF2-40B4-BE49-F238E27FC236}">
                <a16:creationId xmlns:a16="http://schemas.microsoft.com/office/drawing/2014/main" id="{8C64F50C-6D7D-5437-2526-9F46E65094D5}"/>
              </a:ext>
            </a:extLst>
          </p:cNvPr>
          <p:cNvSpPr/>
          <p:nvPr/>
        </p:nvSpPr>
        <p:spPr>
          <a:xfrm>
            <a:off x="4379269" y="863405"/>
            <a:ext cx="3218688" cy="214180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7" name="Text 17">
            <a:extLst>
              <a:ext uri="{FF2B5EF4-FFF2-40B4-BE49-F238E27FC236}">
                <a16:creationId xmlns:a16="http://schemas.microsoft.com/office/drawing/2014/main" id="{7D9BF964-B3CD-AB56-CF0A-D2E0A5D54F13}"/>
              </a:ext>
            </a:extLst>
          </p:cNvPr>
          <p:cNvSpPr/>
          <p:nvPr/>
        </p:nvSpPr>
        <p:spPr>
          <a:xfrm>
            <a:off x="4379269" y="868680"/>
            <a:ext cx="3218688" cy="502920"/>
          </a:xfrm>
          <a:prstGeom prst="rect">
            <a:avLst/>
          </a:prstGeom>
          <a:solidFill>
            <a:srgbClr val="0070C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FFFFFF"/>
                </a:solidFill>
                <a:latin typeface="Ubuntu" panose="020B0504030602030204" pitchFamily="34" charset="0"/>
                <a:ea typeface="Georgia" pitchFamily="34" charset="-122"/>
                <a:cs typeface="Georgia" pitchFamily="34" charset="-120"/>
              </a:rPr>
              <a:t>Vuetify</a:t>
            </a:r>
            <a:endParaRPr lang="en-US" sz="1400" dirty="0">
              <a:latin typeface="Ubuntu" panose="020B0504030602030204" pitchFamily="34" charset="0"/>
            </a:endParaRPr>
          </a:p>
        </p:txBody>
      </p:sp>
      <p:sp>
        <p:nvSpPr>
          <p:cNvPr id="58" name="Text 6">
            <a:extLst>
              <a:ext uri="{FF2B5EF4-FFF2-40B4-BE49-F238E27FC236}">
                <a16:creationId xmlns:a16="http://schemas.microsoft.com/office/drawing/2014/main" id="{FCE852BE-F3AF-7AA9-3F2A-3E9501BB5001}"/>
              </a:ext>
            </a:extLst>
          </p:cNvPr>
          <p:cNvSpPr/>
          <p:nvPr/>
        </p:nvSpPr>
        <p:spPr>
          <a:xfrm>
            <a:off x="4446794" y="1393874"/>
            <a:ext cx="3094892" cy="15697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ct val="150000"/>
              </a:lnSpc>
            </a:pPr>
            <a:r>
              <a:rPr lang="en-US" sz="1100" dirty="0"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       </a:t>
            </a:r>
            <a:r>
              <a:rPr lang="en-US" sz="1100" dirty="0" err="1"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Vuetify</a:t>
            </a:r>
            <a:r>
              <a:rPr lang="en-US" sz="1100" dirty="0"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 is an Open-Source UI Library that is developed exactly according to Material Design spec. Every component is handcrafted to bring you the best possible UI tools to your next great app.</a:t>
            </a:r>
          </a:p>
          <a:p>
            <a:pPr algn="just">
              <a:lnSpc>
                <a:spcPct val="150000"/>
              </a:lnSpc>
            </a:pPr>
            <a:endParaRPr lang="en-US" sz="1100" dirty="0">
              <a:latin typeface="Ubuntu" panose="020B0504030602030204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9" name="Shape 15">
            <a:extLst>
              <a:ext uri="{FF2B5EF4-FFF2-40B4-BE49-F238E27FC236}">
                <a16:creationId xmlns:a16="http://schemas.microsoft.com/office/drawing/2014/main" id="{3728C91A-291B-645D-2097-29E9E0A66EE8}"/>
              </a:ext>
            </a:extLst>
          </p:cNvPr>
          <p:cNvSpPr/>
          <p:nvPr/>
        </p:nvSpPr>
        <p:spPr>
          <a:xfrm>
            <a:off x="1142296" y="3366872"/>
            <a:ext cx="3218688" cy="1535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0" name="Shape 16">
            <a:extLst>
              <a:ext uri="{FF2B5EF4-FFF2-40B4-BE49-F238E27FC236}">
                <a16:creationId xmlns:a16="http://schemas.microsoft.com/office/drawing/2014/main" id="{EC094644-69B8-0504-A3B5-117CC3A2A8F7}"/>
              </a:ext>
            </a:extLst>
          </p:cNvPr>
          <p:cNvSpPr/>
          <p:nvPr/>
        </p:nvSpPr>
        <p:spPr>
          <a:xfrm>
            <a:off x="1142296" y="3366870"/>
            <a:ext cx="3218688" cy="502920"/>
          </a:xfrm>
          <a:prstGeom prst="rect">
            <a:avLst/>
          </a:prstGeom>
          <a:solidFill>
            <a:schemeClr val="bg1">
              <a:lumMod val="50000"/>
            </a:scheme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1" name="Text 17">
            <a:extLst>
              <a:ext uri="{FF2B5EF4-FFF2-40B4-BE49-F238E27FC236}">
                <a16:creationId xmlns:a16="http://schemas.microsoft.com/office/drawing/2014/main" id="{687A63A5-EA75-41CD-48C7-4F96A63C031D}"/>
              </a:ext>
            </a:extLst>
          </p:cNvPr>
          <p:cNvSpPr/>
          <p:nvPr/>
        </p:nvSpPr>
        <p:spPr>
          <a:xfrm>
            <a:off x="1142296" y="3366870"/>
            <a:ext cx="3218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FFFFFF"/>
                </a:solidFill>
                <a:latin typeface="Ubuntu" panose="020B0504030602030204" pitchFamily="34" charset="0"/>
                <a:ea typeface="Georgia" pitchFamily="34" charset="-122"/>
                <a:cs typeface="Georgia" pitchFamily="34" charset="-120"/>
              </a:rPr>
              <a:t>Vuex</a:t>
            </a:r>
            <a:endParaRPr lang="en-US" sz="1400" dirty="0">
              <a:latin typeface="Ubuntu" panose="020B0504030602030204" pitchFamily="34" charset="0"/>
            </a:endParaRPr>
          </a:p>
        </p:txBody>
      </p:sp>
      <p:sp>
        <p:nvSpPr>
          <p:cNvPr id="62" name="Text 6">
            <a:extLst>
              <a:ext uri="{FF2B5EF4-FFF2-40B4-BE49-F238E27FC236}">
                <a16:creationId xmlns:a16="http://schemas.microsoft.com/office/drawing/2014/main" id="{A70AFFAF-B9B1-AA73-1F70-554034B04173}"/>
              </a:ext>
            </a:extLst>
          </p:cNvPr>
          <p:cNvSpPr/>
          <p:nvPr/>
        </p:nvSpPr>
        <p:spPr>
          <a:xfrm>
            <a:off x="1216855" y="3961230"/>
            <a:ext cx="3094892" cy="856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ct val="150000"/>
              </a:lnSpc>
            </a:pPr>
            <a:r>
              <a:rPr lang="en-US" sz="1100" dirty="0"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    </a:t>
            </a:r>
            <a:r>
              <a:rPr lang="en-US" sz="1100" dirty="0" err="1"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Vuex</a:t>
            </a:r>
            <a:r>
              <a:rPr lang="en-US" sz="1100" dirty="0"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 is a state management pattern + library for Vue.js applications. It serves as a centralized store for all the components in an application.</a:t>
            </a:r>
          </a:p>
        </p:txBody>
      </p:sp>
      <p:sp>
        <p:nvSpPr>
          <p:cNvPr id="63" name="Shape 15">
            <a:extLst>
              <a:ext uri="{FF2B5EF4-FFF2-40B4-BE49-F238E27FC236}">
                <a16:creationId xmlns:a16="http://schemas.microsoft.com/office/drawing/2014/main" id="{6809F5D4-6B74-A19F-C3B4-E4A315A26654}"/>
              </a:ext>
            </a:extLst>
          </p:cNvPr>
          <p:cNvSpPr/>
          <p:nvPr/>
        </p:nvSpPr>
        <p:spPr>
          <a:xfrm>
            <a:off x="4464147" y="3371561"/>
            <a:ext cx="3218688" cy="1531031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4" name="Shape 16">
            <a:extLst>
              <a:ext uri="{FF2B5EF4-FFF2-40B4-BE49-F238E27FC236}">
                <a16:creationId xmlns:a16="http://schemas.microsoft.com/office/drawing/2014/main" id="{9FB4FCDF-CF1C-791B-BCA0-E16CD80B8F76}"/>
              </a:ext>
            </a:extLst>
          </p:cNvPr>
          <p:cNvSpPr/>
          <p:nvPr/>
        </p:nvSpPr>
        <p:spPr>
          <a:xfrm>
            <a:off x="4464147" y="3371560"/>
            <a:ext cx="3218688" cy="502920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5" name="Text 17">
            <a:extLst>
              <a:ext uri="{FF2B5EF4-FFF2-40B4-BE49-F238E27FC236}">
                <a16:creationId xmlns:a16="http://schemas.microsoft.com/office/drawing/2014/main" id="{DC41F709-A971-2B27-A574-59D528897E1C}"/>
              </a:ext>
            </a:extLst>
          </p:cNvPr>
          <p:cNvSpPr/>
          <p:nvPr/>
        </p:nvSpPr>
        <p:spPr>
          <a:xfrm>
            <a:off x="4464147" y="3371560"/>
            <a:ext cx="3218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Ubuntu" panose="020B0504030602030204" pitchFamily="34" charset="0"/>
                <a:ea typeface="Georgia" pitchFamily="34" charset="-122"/>
                <a:cs typeface="Georgia" pitchFamily="34" charset="-120"/>
              </a:rPr>
              <a:t>Vue Router</a:t>
            </a:r>
            <a:endParaRPr lang="en-US" sz="1400" dirty="0">
              <a:latin typeface="Ubuntu" panose="020B0504030602030204" pitchFamily="34" charset="0"/>
            </a:endParaRPr>
          </a:p>
        </p:txBody>
      </p:sp>
      <p:sp>
        <p:nvSpPr>
          <p:cNvPr id="66" name="Text 6">
            <a:extLst>
              <a:ext uri="{FF2B5EF4-FFF2-40B4-BE49-F238E27FC236}">
                <a16:creationId xmlns:a16="http://schemas.microsoft.com/office/drawing/2014/main" id="{266844F2-B2D2-1398-7A91-B2A3325AA562}"/>
              </a:ext>
            </a:extLst>
          </p:cNvPr>
          <p:cNvSpPr/>
          <p:nvPr/>
        </p:nvSpPr>
        <p:spPr>
          <a:xfrm>
            <a:off x="4538706" y="3965920"/>
            <a:ext cx="3094892" cy="746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ct val="150000"/>
              </a:lnSpc>
            </a:pPr>
            <a:r>
              <a:rPr lang="en-US" sz="1100" dirty="0"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    Vue Router is the official router for Vue.js. It deeply integrates with Vue.js core to make building Single Page Applications with Vue.js a breeze.</a:t>
            </a:r>
          </a:p>
        </p:txBody>
      </p:sp>
      <p:pic>
        <p:nvPicPr>
          <p:cNvPr id="68" name="Image 67">
            <a:extLst>
              <a:ext uri="{FF2B5EF4-FFF2-40B4-BE49-F238E27FC236}">
                <a16:creationId xmlns:a16="http://schemas.microsoft.com/office/drawing/2014/main" id="{C4D15B86-3DBA-E6A4-8656-E06D8B93BD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450" y="1934307"/>
            <a:ext cx="720000" cy="720000"/>
          </a:xfrm>
          <a:prstGeom prst="rect">
            <a:avLst/>
          </a:prstGeom>
        </p:spPr>
      </p:pic>
      <p:pic>
        <p:nvPicPr>
          <p:cNvPr id="70" name="Image 69">
            <a:extLst>
              <a:ext uri="{FF2B5EF4-FFF2-40B4-BE49-F238E27FC236}">
                <a16:creationId xmlns:a16="http://schemas.microsoft.com/office/drawing/2014/main" id="{F110187D-6886-B314-9A86-3ACFCC5A1D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0127" y="1689195"/>
            <a:ext cx="720000" cy="720000"/>
          </a:xfrm>
          <a:prstGeom prst="rect">
            <a:avLst/>
          </a:prstGeom>
        </p:spPr>
      </p:pic>
      <p:pic>
        <p:nvPicPr>
          <p:cNvPr id="3080" name="Picture 8" descr="VueX - JavaScript state management library for Vue.js &amp; Nuxt">
            <a:extLst>
              <a:ext uri="{FF2B5EF4-FFF2-40B4-BE49-F238E27FC236}">
                <a16:creationId xmlns:a16="http://schemas.microsoft.com/office/drawing/2014/main" id="{49B81B11-75FF-8C7B-B5B4-A393796AE1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" y="3961230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E86A9-8A4A-CB87-25E6-AFF49EC6E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B3AE274-778C-059A-74EA-EB8890BDB812}"/>
              </a:ext>
            </a:extLst>
          </p:cNvPr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CCEF541-D296-F34D-5FAB-96FAF492EEC2}"/>
              </a:ext>
            </a:extLst>
          </p:cNvPr>
          <p:cNvSpPr/>
          <p:nvPr/>
        </p:nvSpPr>
        <p:spPr>
          <a:xfrm>
            <a:off x="274320" y="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Ubuntu" panose="020B0504030602030204" pitchFamily="34" charset="0"/>
                <a:ea typeface="Georgia" pitchFamily="34" charset="-122"/>
                <a:cs typeface="Georgia" pitchFamily="34" charset="-120"/>
              </a:rPr>
              <a:t>🛠️ Tech Stack </a:t>
            </a:r>
            <a:r>
              <a:rPr lang="en-US" sz="2200" b="1" dirty="0">
                <a:solidFill>
                  <a:srgbClr val="FFFFFF"/>
                </a:solidFill>
                <a:latin typeface="Ubuntu" panose="020B0504030602030204" pitchFamily="34" charset="0"/>
                <a:ea typeface="Georgia" pitchFamily="34" charset="-122"/>
                <a:cs typeface="Georgia" pitchFamily="34" charset="-120"/>
                <a:sym typeface="Wingdings" panose="05000000000000000000" pitchFamily="2" charset="2"/>
              </a:rPr>
              <a:t> Backend</a:t>
            </a:r>
            <a:endParaRPr lang="en-US" sz="2200" dirty="0">
              <a:latin typeface="Ubuntu" panose="020B0504030602030204" pitchFamily="34" charset="0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1A70B374-C1F6-A7B4-1FCC-4212349532F9}"/>
              </a:ext>
            </a:extLst>
          </p:cNvPr>
          <p:cNvSpPr/>
          <p:nvPr/>
        </p:nvSpPr>
        <p:spPr>
          <a:xfrm>
            <a:off x="1086022" y="868681"/>
            <a:ext cx="3218688" cy="2141805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8CAB07FE-0B51-F491-5D6E-F8CD708CE7CF}"/>
              </a:ext>
            </a:extLst>
          </p:cNvPr>
          <p:cNvSpPr/>
          <p:nvPr/>
        </p:nvSpPr>
        <p:spPr>
          <a:xfrm>
            <a:off x="1086022" y="868680"/>
            <a:ext cx="3218688" cy="50292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BD41F075-DB91-583D-9F34-59EC72AD3EA0}"/>
              </a:ext>
            </a:extLst>
          </p:cNvPr>
          <p:cNvSpPr/>
          <p:nvPr/>
        </p:nvSpPr>
        <p:spPr>
          <a:xfrm>
            <a:off x="1086022" y="868680"/>
            <a:ext cx="3218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Ubuntu" panose="020B0504030602030204" pitchFamily="34" charset="0"/>
                <a:ea typeface="Georgia" pitchFamily="34" charset="-122"/>
                <a:cs typeface="Georgia" pitchFamily="34" charset="-120"/>
              </a:rPr>
              <a:t>Python</a:t>
            </a:r>
            <a:endParaRPr lang="en-US" sz="1400" dirty="0">
              <a:latin typeface="Ubuntu" panose="020B0504030602030204" pitchFamily="34" charset="0"/>
            </a:endParaRPr>
          </a:p>
        </p:txBody>
      </p:sp>
      <p:sp>
        <p:nvSpPr>
          <p:cNvPr id="54" name="Text 6">
            <a:extLst>
              <a:ext uri="{FF2B5EF4-FFF2-40B4-BE49-F238E27FC236}">
                <a16:creationId xmlns:a16="http://schemas.microsoft.com/office/drawing/2014/main" id="{B6DFC338-F1D8-0C96-BE17-558B95119AA9}"/>
              </a:ext>
            </a:extLst>
          </p:cNvPr>
          <p:cNvSpPr/>
          <p:nvPr/>
        </p:nvSpPr>
        <p:spPr>
          <a:xfrm>
            <a:off x="1160581" y="1505244"/>
            <a:ext cx="30948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ct val="150000"/>
              </a:lnSpc>
            </a:pPr>
            <a:r>
              <a:rPr lang="en-US" sz="1100" dirty="0"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       Python is a popular programming language. It was created by Guido van Rossum, and released in 1991.</a:t>
            </a:r>
          </a:p>
          <a:p>
            <a:pPr algn="just">
              <a:lnSpc>
                <a:spcPct val="150000"/>
              </a:lnSpc>
            </a:pPr>
            <a:r>
              <a:rPr lang="en-US" sz="1100" dirty="0"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It is used for: AI, web development (server-side),software development, mathematics, system scripting.</a:t>
            </a:r>
          </a:p>
          <a:p>
            <a:pPr algn="just">
              <a:lnSpc>
                <a:spcPct val="150000"/>
              </a:lnSpc>
            </a:pPr>
            <a:endParaRPr lang="en-US" sz="1100" dirty="0">
              <a:latin typeface="Ubuntu" panose="020B0504030602030204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5" name="Shape 15">
            <a:extLst>
              <a:ext uri="{FF2B5EF4-FFF2-40B4-BE49-F238E27FC236}">
                <a16:creationId xmlns:a16="http://schemas.microsoft.com/office/drawing/2014/main" id="{704D7ECD-7C11-D423-C990-D4632E212267}"/>
              </a:ext>
            </a:extLst>
          </p:cNvPr>
          <p:cNvSpPr/>
          <p:nvPr/>
        </p:nvSpPr>
        <p:spPr>
          <a:xfrm>
            <a:off x="4379269" y="863405"/>
            <a:ext cx="3218688" cy="2141804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7" name="Text 17">
            <a:extLst>
              <a:ext uri="{FF2B5EF4-FFF2-40B4-BE49-F238E27FC236}">
                <a16:creationId xmlns:a16="http://schemas.microsoft.com/office/drawing/2014/main" id="{BD5F3013-9B3D-417E-B55B-04CAC587DD04}"/>
              </a:ext>
            </a:extLst>
          </p:cNvPr>
          <p:cNvSpPr/>
          <p:nvPr/>
        </p:nvSpPr>
        <p:spPr>
          <a:xfrm>
            <a:off x="4379269" y="868680"/>
            <a:ext cx="3218688" cy="502920"/>
          </a:xfrm>
          <a:prstGeom prst="rect">
            <a:avLst/>
          </a:prstGeom>
          <a:solidFill>
            <a:srgbClr val="0070C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Ubuntu" panose="020B0504030602030204" pitchFamily="34" charset="0"/>
                <a:ea typeface="Georgia" pitchFamily="34" charset="-122"/>
                <a:cs typeface="Georgia" pitchFamily="34" charset="-120"/>
              </a:rPr>
              <a:t>Fast API</a:t>
            </a:r>
            <a:endParaRPr lang="en-US" sz="1400" dirty="0">
              <a:latin typeface="Ubuntu" panose="020B0504030602030204" pitchFamily="34" charset="0"/>
            </a:endParaRPr>
          </a:p>
        </p:txBody>
      </p:sp>
      <p:sp>
        <p:nvSpPr>
          <p:cNvPr id="58" name="Text 6">
            <a:extLst>
              <a:ext uri="{FF2B5EF4-FFF2-40B4-BE49-F238E27FC236}">
                <a16:creationId xmlns:a16="http://schemas.microsoft.com/office/drawing/2014/main" id="{EFB71FB3-8D1C-9ADF-233C-AF9FB3ED90AD}"/>
              </a:ext>
            </a:extLst>
          </p:cNvPr>
          <p:cNvSpPr/>
          <p:nvPr/>
        </p:nvSpPr>
        <p:spPr>
          <a:xfrm>
            <a:off x="4446794" y="1393874"/>
            <a:ext cx="3094892" cy="15697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ct val="150000"/>
              </a:lnSpc>
            </a:pPr>
            <a:r>
              <a:rPr lang="en-US" sz="1100" dirty="0"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          </a:t>
            </a:r>
            <a:r>
              <a:rPr lang="en-US" sz="1100" dirty="0" err="1"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FastAPI</a:t>
            </a:r>
            <a:r>
              <a:rPr lang="en-US" sz="1100" dirty="0"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 is a modern, fast (high-performance), web framework for building APIs with Python based on standard Python type hints.</a:t>
            </a:r>
          </a:p>
          <a:p>
            <a:pPr algn="just">
              <a:lnSpc>
                <a:spcPct val="150000"/>
              </a:lnSpc>
            </a:pPr>
            <a:endParaRPr lang="en-US" sz="1100" dirty="0">
              <a:latin typeface="Ubuntu" panose="020B0504030602030204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9" name="Shape 15">
            <a:extLst>
              <a:ext uri="{FF2B5EF4-FFF2-40B4-BE49-F238E27FC236}">
                <a16:creationId xmlns:a16="http://schemas.microsoft.com/office/drawing/2014/main" id="{7CF3659B-CEE8-FBF5-B19D-D3C3357A33E9}"/>
              </a:ext>
            </a:extLst>
          </p:cNvPr>
          <p:cNvSpPr/>
          <p:nvPr/>
        </p:nvSpPr>
        <p:spPr>
          <a:xfrm>
            <a:off x="1142296" y="3366872"/>
            <a:ext cx="3218688" cy="1535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0" name="Shape 16">
            <a:extLst>
              <a:ext uri="{FF2B5EF4-FFF2-40B4-BE49-F238E27FC236}">
                <a16:creationId xmlns:a16="http://schemas.microsoft.com/office/drawing/2014/main" id="{9CE19219-1614-8875-50A1-56F2BA01780E}"/>
              </a:ext>
            </a:extLst>
          </p:cNvPr>
          <p:cNvSpPr/>
          <p:nvPr/>
        </p:nvSpPr>
        <p:spPr>
          <a:xfrm>
            <a:off x="1142296" y="3371561"/>
            <a:ext cx="3218688" cy="502920"/>
          </a:xfrm>
          <a:prstGeom prst="rect">
            <a:avLst/>
          </a:prstGeom>
          <a:solidFill>
            <a:schemeClr val="bg1">
              <a:lumMod val="50000"/>
            </a:scheme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1" name="Text 17">
            <a:extLst>
              <a:ext uri="{FF2B5EF4-FFF2-40B4-BE49-F238E27FC236}">
                <a16:creationId xmlns:a16="http://schemas.microsoft.com/office/drawing/2014/main" id="{FC05B888-4023-49FA-797A-3EC902460846}"/>
              </a:ext>
            </a:extLst>
          </p:cNvPr>
          <p:cNvSpPr/>
          <p:nvPr/>
        </p:nvSpPr>
        <p:spPr>
          <a:xfrm>
            <a:off x="1142296" y="3366870"/>
            <a:ext cx="3218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 err="1">
                <a:solidFill>
                  <a:srgbClr val="FFFFFF"/>
                </a:solidFill>
                <a:latin typeface="Ubuntu" panose="020B0504030602030204" pitchFamily="34" charset="0"/>
              </a:rPr>
              <a:t>SQLAlchemy</a:t>
            </a:r>
            <a:endParaRPr lang="en-US" sz="1400" b="1" dirty="0">
              <a:solidFill>
                <a:srgbClr val="FFFFFF"/>
              </a:solidFill>
              <a:latin typeface="Ubuntu" panose="020B0504030602030204" pitchFamily="34" charset="0"/>
            </a:endParaRPr>
          </a:p>
        </p:txBody>
      </p:sp>
      <p:sp>
        <p:nvSpPr>
          <p:cNvPr id="62" name="Text 6">
            <a:extLst>
              <a:ext uri="{FF2B5EF4-FFF2-40B4-BE49-F238E27FC236}">
                <a16:creationId xmlns:a16="http://schemas.microsoft.com/office/drawing/2014/main" id="{6F75BB13-06C2-5265-5D0E-EA3158A2ABA3}"/>
              </a:ext>
            </a:extLst>
          </p:cNvPr>
          <p:cNvSpPr/>
          <p:nvPr/>
        </p:nvSpPr>
        <p:spPr>
          <a:xfrm>
            <a:off x="1216855" y="3961230"/>
            <a:ext cx="3094892" cy="856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ct val="150000"/>
              </a:lnSpc>
            </a:pPr>
            <a:r>
              <a:rPr lang="en-US" sz="1100" dirty="0"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              </a:t>
            </a:r>
            <a:r>
              <a:rPr lang="en-US" sz="1100" dirty="0" err="1"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SQLAlchemy</a:t>
            </a:r>
            <a:r>
              <a:rPr lang="en-US" sz="1100" dirty="0"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 is the Python SQL toolkit and Object Relational Mapper that gives application developers the full power and flexibility of SQL.</a:t>
            </a:r>
          </a:p>
        </p:txBody>
      </p:sp>
      <p:sp>
        <p:nvSpPr>
          <p:cNvPr id="63" name="Shape 15">
            <a:extLst>
              <a:ext uri="{FF2B5EF4-FFF2-40B4-BE49-F238E27FC236}">
                <a16:creationId xmlns:a16="http://schemas.microsoft.com/office/drawing/2014/main" id="{383E5F21-BBA2-AD23-7E83-5CBB190E73CF}"/>
              </a:ext>
            </a:extLst>
          </p:cNvPr>
          <p:cNvSpPr/>
          <p:nvPr/>
        </p:nvSpPr>
        <p:spPr>
          <a:xfrm>
            <a:off x="4464147" y="3371561"/>
            <a:ext cx="3218688" cy="1531031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4" name="Shape 16">
            <a:extLst>
              <a:ext uri="{FF2B5EF4-FFF2-40B4-BE49-F238E27FC236}">
                <a16:creationId xmlns:a16="http://schemas.microsoft.com/office/drawing/2014/main" id="{C81F7897-76F4-FB8B-2914-23011077E343}"/>
              </a:ext>
            </a:extLst>
          </p:cNvPr>
          <p:cNvSpPr/>
          <p:nvPr/>
        </p:nvSpPr>
        <p:spPr>
          <a:xfrm>
            <a:off x="4464147" y="3371560"/>
            <a:ext cx="3218688" cy="502920"/>
          </a:xfrm>
          <a:prstGeom prst="rect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5" name="Text 17">
            <a:extLst>
              <a:ext uri="{FF2B5EF4-FFF2-40B4-BE49-F238E27FC236}">
                <a16:creationId xmlns:a16="http://schemas.microsoft.com/office/drawing/2014/main" id="{73CFB758-5680-EE99-3AD0-052BDDE1DF60}"/>
              </a:ext>
            </a:extLst>
          </p:cNvPr>
          <p:cNvSpPr/>
          <p:nvPr/>
        </p:nvSpPr>
        <p:spPr>
          <a:xfrm>
            <a:off x="4464147" y="3371560"/>
            <a:ext cx="3218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Ubuntu" panose="020B0504030602030204" pitchFamily="34" charset="0"/>
                <a:ea typeface="Georgia" pitchFamily="34" charset="-122"/>
                <a:cs typeface="Georgia" pitchFamily="34" charset="-120"/>
              </a:rPr>
              <a:t>Pandas</a:t>
            </a:r>
            <a:endParaRPr lang="en-US" sz="1400" dirty="0">
              <a:latin typeface="Ubuntu" panose="020B0504030602030204" pitchFamily="34" charset="0"/>
            </a:endParaRPr>
          </a:p>
        </p:txBody>
      </p:sp>
      <p:sp>
        <p:nvSpPr>
          <p:cNvPr id="66" name="Text 6">
            <a:extLst>
              <a:ext uri="{FF2B5EF4-FFF2-40B4-BE49-F238E27FC236}">
                <a16:creationId xmlns:a16="http://schemas.microsoft.com/office/drawing/2014/main" id="{D9173058-602C-E5E2-F029-B4A35CDD6549}"/>
              </a:ext>
            </a:extLst>
          </p:cNvPr>
          <p:cNvSpPr/>
          <p:nvPr/>
        </p:nvSpPr>
        <p:spPr>
          <a:xfrm>
            <a:off x="4538706" y="3965920"/>
            <a:ext cx="3094892" cy="746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ct val="150000"/>
              </a:lnSpc>
            </a:pPr>
            <a:r>
              <a:rPr lang="en-US" sz="1100" dirty="0"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            pandas is a fast, powerful, flexible and easy to use open-source data analysis and manipulation tool, built on top of the Python programming language.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B51E2EF-1874-9686-F628-E946214B8F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416" y="1689195"/>
            <a:ext cx="720000" cy="720000"/>
          </a:xfrm>
          <a:prstGeom prst="rect">
            <a:avLst/>
          </a:prstGeom>
        </p:spPr>
      </p:pic>
      <p:pic>
        <p:nvPicPr>
          <p:cNvPr id="4098" name="Picture 2" descr="What is pandas?">
            <a:extLst>
              <a:ext uri="{FF2B5EF4-FFF2-40B4-BE49-F238E27FC236}">
                <a16:creationId xmlns:a16="http://schemas.microsoft.com/office/drawing/2014/main" id="{085140FF-1C95-9327-A8FC-DFB25BC2C3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5998" y="3669708"/>
            <a:ext cx="12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D9934FDA-C946-C3A7-3433-E7D3627944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416" y="3874481"/>
            <a:ext cx="720000" cy="72000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7520DB0C-181C-F8EB-8CE0-2851255090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57978" y="1583000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9746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0A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922B2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Ubuntu" panose="020B0504030602030204" pitchFamily="34" charset="0"/>
                <a:ea typeface="Georgia" pitchFamily="34" charset="-122"/>
                <a:cs typeface="Georgia" pitchFamily="34" charset="-120"/>
              </a:rPr>
              <a:t>📁 Architecture</a:t>
            </a:r>
            <a:endParaRPr lang="en-US" sz="2200" dirty="0">
              <a:latin typeface="Ubuntu" panose="020B050403060203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651760" cy="38404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1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017"/>
                </a:solidFill>
                <a:latin typeface="Ubuntu" panose="020B0504030602030204" pitchFamily="34" charset="0"/>
                <a:ea typeface="Georgia" pitchFamily="34" charset="-122"/>
                <a:cs typeface="Georgia" pitchFamily="34" charset="-120"/>
              </a:rPr>
              <a:t>🎨 Frontend</a:t>
            </a:r>
            <a:endParaRPr lang="en-US" sz="1400" dirty="0">
              <a:latin typeface="Ubuntu" panose="020B050403060203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22860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BBAA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Vue.js 2 + Vuetify</a:t>
            </a:r>
            <a:endParaRPr lang="en-US" sz="1100" dirty="0">
              <a:latin typeface="Ubuntu" panose="020B0504030602030204" pitchFamily="34" charset="0"/>
            </a:endParaRPr>
          </a:p>
          <a:p>
            <a:pPr marL="0" indent="0">
              <a:buNone/>
            </a:pPr>
            <a:endParaRPr lang="en-US" sz="1100" dirty="0">
              <a:latin typeface="Ubuntu" panose="020B0504030602030204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CCBBAA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HomeView</a:t>
            </a:r>
            <a:endParaRPr lang="en-US" sz="1100" dirty="0">
              <a:latin typeface="Ubuntu" panose="020B0504030602030204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CCBBAA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RecipesView</a:t>
            </a:r>
            <a:endParaRPr lang="en-US" sz="1100" dirty="0">
              <a:latin typeface="Ubuntu" panose="020B0504030602030204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CCBBAA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RecipeDetail</a:t>
            </a:r>
            <a:endParaRPr lang="en-US" sz="1100" dirty="0">
              <a:latin typeface="Ubuntu" panose="020B0504030602030204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CCBBAA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AdminView</a:t>
            </a:r>
            <a:endParaRPr lang="en-US" sz="1100" dirty="0">
              <a:latin typeface="Ubuntu" panose="020B0504030602030204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CCBBAA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LoginView</a:t>
            </a:r>
            <a:endParaRPr lang="en-US" sz="1100" dirty="0">
              <a:latin typeface="Ubuntu" panose="020B0504030602030204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CCBBAA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FavoritesView</a:t>
            </a:r>
            <a:endParaRPr lang="en-US" sz="1100" dirty="0">
              <a:latin typeface="Ubuntu" panose="020B050403060203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246120" y="914400"/>
            <a:ext cx="2651760" cy="38404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46120" y="9601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017"/>
                </a:solidFill>
                <a:latin typeface="Ubuntu" panose="020B0504030602030204" pitchFamily="34" charset="0"/>
                <a:ea typeface="Georgia" pitchFamily="34" charset="-122"/>
                <a:cs typeface="Georgia" pitchFamily="34" charset="-120"/>
              </a:rPr>
              <a:t>⚙️ Backend</a:t>
            </a:r>
            <a:endParaRPr lang="en-US" sz="1400" dirty="0">
              <a:latin typeface="Ubuntu" panose="020B050403060203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429000" y="1417320"/>
            <a:ext cx="22860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BBAA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FastAPI + Python</a:t>
            </a:r>
            <a:endParaRPr lang="en-US" sz="1100" dirty="0">
              <a:latin typeface="Ubuntu" panose="020B0504030602030204" pitchFamily="34" charset="0"/>
            </a:endParaRPr>
          </a:p>
          <a:p>
            <a:pPr marL="0" indent="0">
              <a:buNone/>
            </a:pPr>
            <a:endParaRPr lang="en-US" sz="1100" dirty="0">
              <a:latin typeface="Ubuntu" panose="020B0504030602030204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CCBBAA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auth.py</a:t>
            </a:r>
            <a:endParaRPr lang="en-US" sz="1100" dirty="0">
              <a:latin typeface="Ubuntu" panose="020B0504030602030204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CCBBAA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recipes.py</a:t>
            </a:r>
            <a:endParaRPr lang="en-US" sz="1100" dirty="0">
              <a:latin typeface="Ubuntu" panose="020B0504030602030204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CCBBAA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admin.py</a:t>
            </a:r>
            <a:endParaRPr lang="en-US" sz="1100" dirty="0">
              <a:latin typeface="Ubuntu" panose="020B0504030602030204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CCBBAA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csv_importer.py</a:t>
            </a:r>
            <a:endParaRPr lang="en-US" sz="1100" dirty="0">
              <a:latin typeface="Ubuntu" panose="020B0504030602030204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CCBBAA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security.py</a:t>
            </a:r>
            <a:endParaRPr lang="en-US" sz="1100" dirty="0">
              <a:latin typeface="Ubuntu" panose="020B050403060203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217920" y="914400"/>
            <a:ext cx="2651760" cy="384048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1561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9601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017"/>
                </a:solidFill>
                <a:latin typeface="Ubuntu" panose="020B0504030602030204" pitchFamily="34" charset="0"/>
                <a:ea typeface="Georgia" pitchFamily="34" charset="-122"/>
                <a:cs typeface="Georgia" pitchFamily="34" charset="-120"/>
              </a:rPr>
              <a:t>🗄️ Database</a:t>
            </a:r>
            <a:endParaRPr lang="en-US" sz="1400" dirty="0">
              <a:latin typeface="Ubuntu" panose="020B050403060203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00800" y="1417320"/>
            <a:ext cx="22860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BBAA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MySQL 8.0</a:t>
            </a:r>
            <a:endParaRPr lang="en-US" sz="1100" dirty="0">
              <a:latin typeface="Ubuntu" panose="020B0504030602030204" pitchFamily="34" charset="0"/>
            </a:endParaRPr>
          </a:p>
          <a:p>
            <a:pPr marL="0" indent="0">
              <a:buNone/>
            </a:pPr>
            <a:endParaRPr lang="en-US" sz="1100" dirty="0">
              <a:latin typeface="Ubuntu" panose="020B0504030602030204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CCBBAA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100" dirty="0">
              <a:latin typeface="Ubuntu" panose="020B0504030602030204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CCBBAA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recipes</a:t>
            </a:r>
            <a:endParaRPr lang="en-US" sz="1100" dirty="0">
              <a:latin typeface="Ubuntu" panose="020B0504030602030204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CCBBAA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ingredients</a:t>
            </a:r>
            <a:endParaRPr lang="en-US" sz="1100" dirty="0">
              <a:latin typeface="Ubuntu" panose="020B0504030602030204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CCBBAA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recipe_ingredients</a:t>
            </a:r>
            <a:endParaRPr lang="en-US" sz="1100" dirty="0">
              <a:latin typeface="Ubuntu" panose="020B0504030602030204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CCBBAA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favorites</a:t>
            </a:r>
            <a:endParaRPr lang="en-US" sz="1100" dirty="0">
              <a:latin typeface="Ubuntu" panose="020B0504030602030204" pitchFamily="34" charset="0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CCBBAA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ratings</a:t>
            </a:r>
            <a:endParaRPr lang="en-US" sz="1100" dirty="0">
              <a:latin typeface="Ubuntu" panose="020B050403060203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926080" y="2834640"/>
            <a:ext cx="320040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97880" y="2834640"/>
            <a:ext cx="320040" cy="0"/>
          </a:xfrm>
          <a:prstGeom prst="line">
            <a:avLst/>
          </a:prstGeom>
          <a:noFill/>
          <a:ln w="25400">
            <a:solidFill>
              <a:srgbClr val="D4A0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0" y="260604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0392B"/>
                </a:solidFill>
                <a:latin typeface="Ubuntu" panose="020B0504030602030204" pitchFamily="34" charset="0"/>
              </a:rPr>
              <a:t>API</a:t>
            </a:r>
            <a:endParaRPr lang="en-US" sz="800" dirty="0">
              <a:latin typeface="Ubuntu" panose="020B050403060203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897880" y="260604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4A017"/>
                </a:solidFill>
                <a:latin typeface="Ubuntu" panose="020B0504030602030204" pitchFamily="34" charset="0"/>
              </a:rPr>
              <a:t>SQL</a:t>
            </a:r>
            <a:endParaRPr lang="en-US" sz="800" dirty="0">
              <a:latin typeface="Ubuntu" panose="020B050403060203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0A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922B2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Ubuntu" panose="020B0504030602030204" pitchFamily="34" charset="0"/>
                <a:ea typeface="Georgia" pitchFamily="34" charset="-122"/>
                <a:cs typeface="Georgia" pitchFamily="34" charset="-120"/>
              </a:rPr>
              <a:t>Our System</a:t>
            </a:r>
            <a:endParaRPr lang="en-US" sz="2200" dirty="0">
              <a:latin typeface="Ubuntu" panose="020B050403060203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560320" cy="164592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2560320" cy="411480"/>
          </a:xfrm>
          <a:prstGeom prst="rect">
            <a:avLst/>
          </a:prstGeom>
          <a:solidFill>
            <a:srgbClr val="C0392B">
              <a:alpha val="7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144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Ubuntu" panose="020B0504030602030204" pitchFamily="34" charset="0"/>
                <a:ea typeface="Georgia" pitchFamily="34" charset="-122"/>
                <a:cs typeface="Georgia" pitchFamily="34" charset="-120"/>
              </a:rPr>
              <a:t>🏠 Home</a:t>
            </a:r>
            <a:endParaRPr lang="en-US" sz="1300" dirty="0">
              <a:latin typeface="Ubuntu" panose="020B050403060203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CCBBAA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Smart Search by Ingredients</a:t>
            </a:r>
          </a:p>
        </p:txBody>
      </p:sp>
      <p:sp>
        <p:nvSpPr>
          <p:cNvPr id="8" name="Shape 6"/>
          <p:cNvSpPr/>
          <p:nvPr/>
        </p:nvSpPr>
        <p:spPr>
          <a:xfrm>
            <a:off x="3200400" y="914400"/>
            <a:ext cx="2560320" cy="164592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914400"/>
            <a:ext cx="2560320" cy="411480"/>
          </a:xfrm>
          <a:prstGeom prst="rect">
            <a:avLst/>
          </a:prstGeom>
          <a:solidFill>
            <a:srgbClr val="C0392B">
              <a:alpha val="7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9144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🍲 </a:t>
            </a:r>
            <a:r>
              <a:rPr lang="en-US" sz="1300" b="1" dirty="0">
                <a:solidFill>
                  <a:srgbClr val="FFFFFF"/>
                </a:solidFill>
                <a:latin typeface="Ubuntu" panose="020B0504030602030204" pitchFamily="34" charset="0"/>
                <a:ea typeface="Georgia" pitchFamily="34" charset="-122"/>
                <a:cs typeface="Georgia" pitchFamily="34" charset="-120"/>
              </a:rPr>
              <a:t>Recipes</a:t>
            </a:r>
            <a:endParaRPr lang="en-US" sz="1300" dirty="0">
              <a:latin typeface="Ubuntu" panose="020B050403060203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291840" y="13716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CCBBAA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Cards with filters</a:t>
            </a:r>
          </a:p>
          <a:p>
            <a:pPr algn="ctr"/>
            <a:r>
              <a:rPr lang="en-US" sz="1200" dirty="0">
                <a:solidFill>
                  <a:srgbClr val="CCBBAA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Traditional/Modern</a:t>
            </a:r>
          </a:p>
        </p:txBody>
      </p:sp>
      <p:sp>
        <p:nvSpPr>
          <p:cNvPr id="12" name="Shape 10"/>
          <p:cNvSpPr/>
          <p:nvPr/>
        </p:nvSpPr>
        <p:spPr>
          <a:xfrm>
            <a:off x="6035040" y="914400"/>
            <a:ext cx="2560320" cy="164592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914400"/>
            <a:ext cx="2560320" cy="411480"/>
          </a:xfrm>
          <a:prstGeom prst="rect">
            <a:avLst/>
          </a:prstGeom>
          <a:solidFill>
            <a:srgbClr val="C0392B">
              <a:alpha val="7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035040" y="9144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Details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26480" y="137160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CCBBAA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Ingredients + Preparation Steps + Evaluation</a:t>
            </a:r>
            <a:endParaRPr lang="en-US" sz="1200" dirty="0">
              <a:latin typeface="Ubuntu" panose="020B050403060203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65760" y="2834640"/>
            <a:ext cx="2560320" cy="164592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834640"/>
            <a:ext cx="2560320" cy="411480"/>
          </a:xfrm>
          <a:prstGeom prst="rect">
            <a:avLst/>
          </a:prstGeom>
          <a:solidFill>
            <a:srgbClr val="C0392B">
              <a:alpha val="7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2834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Ubuntu" panose="020B0504030602030204" pitchFamily="34" charset="0"/>
                <a:ea typeface="Georgia" pitchFamily="34" charset="-122"/>
                <a:cs typeface="Georgia" pitchFamily="34" charset="-120"/>
              </a:rPr>
              <a:t>❤️ Favorites</a:t>
            </a:r>
            <a:endParaRPr lang="en-US" sz="1300" dirty="0">
              <a:latin typeface="Ubuntu" panose="020B050403060203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57200" y="32918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CCBBAA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Saved recipes</a:t>
            </a:r>
          </a:p>
          <a:p>
            <a:pPr algn="ctr"/>
            <a:r>
              <a:rPr lang="en-US" sz="1200" dirty="0">
                <a:solidFill>
                  <a:srgbClr val="CCBBAA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For the user</a:t>
            </a:r>
            <a:endParaRPr lang="en-US" sz="1200" dirty="0">
              <a:latin typeface="Ubuntu" panose="020B050403060203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200400" y="2834640"/>
            <a:ext cx="2560320" cy="164592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2834640"/>
            <a:ext cx="2560320" cy="411480"/>
          </a:xfrm>
          <a:prstGeom prst="rect">
            <a:avLst/>
          </a:prstGeom>
          <a:solidFill>
            <a:srgbClr val="C0392B">
              <a:alpha val="7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0" y="2834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Ubuntu" panose="020B0504030602030204" pitchFamily="34" charset="0"/>
                <a:ea typeface="Georgia" pitchFamily="34" charset="-122"/>
                <a:cs typeface="Georgia" pitchFamily="34" charset="-120"/>
              </a:rPr>
              <a:t>🎛️ Admin</a:t>
            </a:r>
            <a:endParaRPr lang="en-US" sz="1300" dirty="0">
              <a:latin typeface="Ubuntu" panose="020B050403060203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291840" y="32918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CCBBAA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Manage + Import</a:t>
            </a:r>
          </a:p>
          <a:p>
            <a:pPr algn="ctr"/>
            <a:r>
              <a:rPr lang="en-US" sz="1200" dirty="0">
                <a:solidFill>
                  <a:srgbClr val="CCBBAA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CSV + Statistics</a:t>
            </a:r>
          </a:p>
        </p:txBody>
      </p:sp>
      <p:sp>
        <p:nvSpPr>
          <p:cNvPr id="24" name="Shape 22"/>
          <p:cNvSpPr/>
          <p:nvPr/>
        </p:nvSpPr>
        <p:spPr>
          <a:xfrm>
            <a:off x="6035040" y="2834640"/>
            <a:ext cx="2560320" cy="164592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35040" y="2834640"/>
            <a:ext cx="2560320" cy="411480"/>
          </a:xfrm>
          <a:prstGeom prst="rect">
            <a:avLst/>
          </a:prstGeom>
          <a:solidFill>
            <a:srgbClr val="C0392B">
              <a:alpha val="7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035040" y="2834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🔐 </a:t>
            </a:r>
            <a:r>
              <a:rPr lang="en-US" sz="13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Lgoin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126480" y="32918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CCBBAA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Login.</a:t>
            </a:r>
          </a:p>
          <a:p>
            <a:pPr algn="ctr"/>
            <a:r>
              <a:rPr lang="en-US" sz="1200" dirty="0">
                <a:solidFill>
                  <a:srgbClr val="CCBBAA"/>
                </a:solidFill>
                <a:latin typeface="Ubuntu" panose="020B0504030602030204" pitchFamily="34" charset="0"/>
                <a:ea typeface="Calibri" pitchFamily="34" charset="-122"/>
                <a:cs typeface="Calibri" pitchFamily="34" charset="-120"/>
              </a:rPr>
              <a:t>Create an account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0A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922B21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📂 استيراد الوصفات / CSV Import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100584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صيغة ملف CSV المطلوبة: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BB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name_ar, name_en, description_ar, description_en, preparation_ar, preparation_en,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CBB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is_traditional, ingredients_ar, ingredients_en, quantities, units, categories, prep_time, difficulty, image_url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205740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1031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تجهيز ملف CSV بالصيغة الصحيحة مع دعم UTF-8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76072" y="2514600"/>
            <a:ext cx="0" cy="22860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74320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27889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تسجيل الدخول بحساب Admin على لوحة التحكم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76072" y="3200400"/>
            <a:ext cx="0" cy="22860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42900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34747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رفع الملف عبر منطقة السحب والإفلات Drag &amp; Drop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76072" y="3886200"/>
            <a:ext cx="0" cy="22860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411480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05840" y="4160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CB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يتم استيراد الوصفات والمكونات تلقائياً في قاعدة البيانات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0A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4572000" cy="4572000"/>
          </a:xfrm>
          <a:prstGeom prst="ellipse">
            <a:avLst/>
          </a:prstGeom>
          <a:solidFill>
            <a:srgbClr val="C0392B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1828800"/>
            <a:ext cx="5486400" cy="5486400"/>
          </a:xfrm>
          <a:prstGeom prst="ellipse">
            <a:avLst/>
          </a:prstGeom>
          <a:solidFill>
            <a:srgbClr val="D4A017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0" y="27432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dirty="0">
                <a:solidFill>
                  <a:srgbClr val="000000"/>
                </a:solidFill>
              </a:rPr>
              <a:t>🍲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00" b="1" dirty="0">
                <a:solidFill>
                  <a:srgbClr val="FFFFFF"/>
                </a:solidFill>
                <a:latin typeface="Ubuntu" panose="020B0504030602030204" pitchFamily="34" charset="0"/>
                <a:ea typeface="Georgia" pitchFamily="34" charset="-122"/>
                <a:cs typeface="Georgia" pitchFamily="34" charset="-120"/>
              </a:rPr>
              <a:t>Thank you for your attention</a:t>
            </a:r>
            <a:endParaRPr lang="en-US" sz="4400" dirty="0">
              <a:latin typeface="Ubuntu" panose="020B050403060203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47472" y="266319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i="1" dirty="0">
                <a:solidFill>
                  <a:srgbClr val="D4A017"/>
                </a:solidFill>
                <a:latin typeface="Ubuntu" panose="020B0504030602030204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3600" b="1" dirty="0">
              <a:latin typeface="Ubuntu" panose="020B0504030602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393</TotalTime>
  <Words>733</Words>
  <Application>Microsoft Office PowerPoint</Application>
  <PresentationFormat>Affichage à l'écran (16:9)</PresentationFormat>
  <Paragraphs>157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Consolas</vt:lpstr>
      <vt:lpstr>El Messiri</vt:lpstr>
      <vt:lpstr>Georgia</vt:lpstr>
      <vt:lpstr>Ubuntu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شا نطيب — Sha Ntieb</dc:title>
  <dc:subject>PptxGenJS Presentation</dc:subject>
  <dc:creator>PptxGenJS</dc:creator>
  <cp:lastModifiedBy>hp</cp:lastModifiedBy>
  <cp:revision>38</cp:revision>
  <dcterms:created xsi:type="dcterms:W3CDTF">2026-03-21T11:12:34Z</dcterms:created>
  <dcterms:modified xsi:type="dcterms:W3CDTF">2026-03-21T18:08:42Z</dcterms:modified>
</cp:coreProperties>
</file>