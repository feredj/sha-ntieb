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68" r:id="rId3"/>
    <p:sldId id="269" r:id="rId4"/>
    <p:sldId id="270" r:id="rId5"/>
    <p:sldId id="271" r:id="rId6"/>
    <p:sldId id="261" r:id="rId7"/>
    <p:sldId id="262" r:id="rId8"/>
    <p:sldId id="272" r:id="rId9"/>
    <p:sldId id="273" r:id="rId10"/>
    <p:sldId id="274" r:id="rId11"/>
    <p:sldId id="275" r:id="rId12"/>
    <p:sldId id="276" r:id="rId13"/>
    <p:sldId id="264" r:id="rId14"/>
    <p:sldId id="265" r:id="rId15"/>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6" d="100"/>
          <a:sy n="106" d="100"/>
        </p:scale>
        <p:origin x="734"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2869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0A05"/>
        </a:solidFill>
        <a:effectLst/>
      </p:bgPr>
    </p:bg>
    <p:spTree>
      <p:nvGrpSpPr>
        <p:cNvPr id="1" name=""/>
        <p:cNvGrpSpPr/>
        <p:nvPr/>
      </p:nvGrpSpPr>
      <p:grpSpPr>
        <a:xfrm>
          <a:off x="0" y="0"/>
          <a:ext cx="0" cy="0"/>
          <a:chOff x="0" y="0"/>
          <a:chExt cx="0" cy="0"/>
        </a:xfrm>
      </p:grpSpPr>
      <p:sp>
        <p:nvSpPr>
          <p:cNvPr id="2" name="Shape 0"/>
          <p:cNvSpPr/>
          <p:nvPr/>
        </p:nvSpPr>
        <p:spPr>
          <a:xfrm>
            <a:off x="-1012844" y="-830415"/>
            <a:ext cx="3329725" cy="3553530"/>
          </a:xfrm>
          <a:prstGeom prst="ellipse">
            <a:avLst/>
          </a:prstGeom>
          <a:solidFill>
            <a:srgbClr val="C0392B">
              <a:alpha val="20000"/>
            </a:srgbClr>
          </a:solidFill>
          <a:ln/>
        </p:spPr>
      </p:sp>
      <p:sp>
        <p:nvSpPr>
          <p:cNvPr id="3" name="Shape 1"/>
          <p:cNvSpPr/>
          <p:nvPr/>
        </p:nvSpPr>
        <p:spPr>
          <a:xfrm>
            <a:off x="6858000" y="2743200"/>
            <a:ext cx="4572000" cy="4572000"/>
          </a:xfrm>
          <a:prstGeom prst="ellipse">
            <a:avLst/>
          </a:prstGeom>
          <a:solidFill>
            <a:srgbClr val="D4A017">
              <a:alpha val="15000"/>
            </a:srgbClr>
          </a:solidFill>
          <a:ln/>
        </p:spPr>
      </p:sp>
      <p:sp>
        <p:nvSpPr>
          <p:cNvPr id="4" name="Shape 2"/>
          <p:cNvSpPr/>
          <p:nvPr/>
        </p:nvSpPr>
        <p:spPr>
          <a:xfrm>
            <a:off x="2743200" y="4464000"/>
            <a:ext cx="2743200" cy="1936800"/>
          </a:xfrm>
          <a:prstGeom prst="ellipse">
            <a:avLst/>
          </a:prstGeom>
          <a:solidFill>
            <a:srgbClr val="C0392B">
              <a:alpha val="10000"/>
            </a:srgbClr>
          </a:solidFill>
          <a:ln/>
        </p:spPr>
        <p:txBody>
          <a:bodyPr/>
          <a:lstStyle/>
          <a:p>
            <a:endParaRPr lang="en-US" dirty="0"/>
          </a:p>
        </p:txBody>
      </p:sp>
      <p:sp>
        <p:nvSpPr>
          <p:cNvPr id="5" name="Shape 3"/>
          <p:cNvSpPr/>
          <p:nvPr/>
        </p:nvSpPr>
        <p:spPr>
          <a:xfrm>
            <a:off x="0" y="0"/>
            <a:ext cx="109728" cy="5143500"/>
          </a:xfrm>
          <a:prstGeom prst="rect">
            <a:avLst/>
          </a:prstGeom>
          <a:solidFill>
            <a:srgbClr val="C0392B"/>
          </a:solidFill>
          <a:ln/>
        </p:spPr>
      </p:sp>
      <p:sp>
        <p:nvSpPr>
          <p:cNvPr id="6" name="Text 4"/>
          <p:cNvSpPr/>
          <p:nvPr/>
        </p:nvSpPr>
        <p:spPr>
          <a:xfrm>
            <a:off x="537120" y="107820"/>
            <a:ext cx="1303200" cy="907920"/>
          </a:xfrm>
          <a:prstGeom prst="rect">
            <a:avLst/>
          </a:prstGeom>
          <a:noFill/>
          <a:ln/>
        </p:spPr>
        <p:txBody>
          <a:bodyPr wrap="square" rtlCol="0" anchor="ctr"/>
          <a:lstStyle/>
          <a:p>
            <a:pPr marL="0" indent="0" algn="ctr">
              <a:buNone/>
            </a:pPr>
            <a:r>
              <a:rPr lang="en-US" sz="7200" dirty="0">
                <a:solidFill>
                  <a:srgbClr val="000000"/>
                </a:solidFill>
              </a:rPr>
              <a:t>🍲</a:t>
            </a:r>
            <a:endParaRPr lang="en-US" sz="7200" dirty="0"/>
          </a:p>
        </p:txBody>
      </p:sp>
      <p:sp>
        <p:nvSpPr>
          <p:cNvPr id="7" name="Text 5"/>
          <p:cNvSpPr/>
          <p:nvPr/>
        </p:nvSpPr>
        <p:spPr>
          <a:xfrm>
            <a:off x="15840" y="964050"/>
            <a:ext cx="2154600" cy="762840"/>
          </a:xfrm>
          <a:prstGeom prst="rect">
            <a:avLst/>
          </a:prstGeom>
          <a:noFill/>
          <a:ln/>
        </p:spPr>
        <p:txBody>
          <a:bodyPr wrap="square" lIns="0" tIns="0" rIns="0" bIns="0" rtlCol="0" anchor="ctr"/>
          <a:lstStyle/>
          <a:p>
            <a:pPr marL="0" indent="0" algn="ctr" rtl="1">
              <a:buNone/>
            </a:pPr>
            <a:r>
              <a:rPr lang="en-US" sz="4000" b="1" dirty="0">
                <a:solidFill>
                  <a:srgbClr val="FFFFFF"/>
                </a:solidFill>
                <a:latin typeface="El Messiri" pitchFamily="2" charset="-78"/>
                <a:ea typeface="Georgia" pitchFamily="34" charset="-122"/>
                <a:cs typeface="El Messiri" pitchFamily="2" charset="-78"/>
              </a:rPr>
              <a:t>شا نطيب</a:t>
            </a:r>
            <a:endParaRPr lang="en-US" sz="4000" dirty="0">
              <a:latin typeface="El Messiri" pitchFamily="2" charset="-78"/>
              <a:cs typeface="El Messiri" pitchFamily="2" charset="-78"/>
            </a:endParaRPr>
          </a:p>
        </p:txBody>
      </p:sp>
      <p:sp>
        <p:nvSpPr>
          <p:cNvPr id="8" name="Text 6"/>
          <p:cNvSpPr/>
          <p:nvPr/>
        </p:nvSpPr>
        <p:spPr>
          <a:xfrm>
            <a:off x="326712" y="1536555"/>
            <a:ext cx="1463040" cy="548640"/>
          </a:xfrm>
          <a:prstGeom prst="rect">
            <a:avLst/>
          </a:prstGeom>
          <a:noFill/>
          <a:ln/>
        </p:spPr>
        <p:txBody>
          <a:bodyPr wrap="square" lIns="0" tIns="0" rIns="0" bIns="0" rtlCol="0" anchor="ctr"/>
          <a:lstStyle/>
          <a:p>
            <a:pPr marL="0" indent="0" algn="l">
              <a:buNone/>
            </a:pPr>
            <a:r>
              <a:rPr lang="en-US" sz="2400" b="1" i="1" dirty="0">
                <a:solidFill>
                  <a:srgbClr val="D4A017"/>
                </a:solidFill>
                <a:latin typeface="Ubuntu" panose="020B0504030602030204" pitchFamily="34" charset="0"/>
                <a:ea typeface="Georgia" pitchFamily="34" charset="-122"/>
                <a:cs typeface="Georgia" pitchFamily="34" charset="-120"/>
              </a:rPr>
              <a:t>Sha Ntieb</a:t>
            </a:r>
            <a:endParaRPr lang="en-US" sz="2400" b="1" dirty="0">
              <a:latin typeface="Ubuntu" panose="020B0504030602030204" pitchFamily="34" charset="0"/>
            </a:endParaRPr>
          </a:p>
        </p:txBody>
      </p:sp>
      <p:sp>
        <p:nvSpPr>
          <p:cNvPr id="9" name="Text 7"/>
          <p:cNvSpPr/>
          <p:nvPr/>
        </p:nvSpPr>
        <p:spPr>
          <a:xfrm>
            <a:off x="2881102" y="1817730"/>
            <a:ext cx="3512448" cy="822960"/>
          </a:xfrm>
          <a:prstGeom prst="rect">
            <a:avLst/>
          </a:prstGeom>
          <a:noFill/>
          <a:ln/>
        </p:spPr>
        <p:txBody>
          <a:bodyPr wrap="square" lIns="0" tIns="0" rIns="0" bIns="0" rtlCol="0" anchor="ctr"/>
          <a:lstStyle/>
          <a:p>
            <a:pPr algn="ctr"/>
            <a:r>
              <a:rPr lang="en-US" sz="1600" b="1" dirty="0">
                <a:solidFill>
                  <a:srgbClr val="CCBBAA"/>
                </a:solidFill>
                <a:latin typeface="Ubuntu" panose="020B0504030602030204" pitchFamily="34" charset="0"/>
                <a:ea typeface="Calibri" pitchFamily="34" charset="-122"/>
                <a:cs typeface="Calibri" pitchFamily="34" charset="-120"/>
              </a:rPr>
              <a:t>An application that provides recipe recommendations based on available ingredients using a web API</a:t>
            </a:r>
            <a:endParaRPr lang="en-US" sz="1600" b="1" dirty="0">
              <a:latin typeface="Ubuntu" panose="020B0504030602030204" pitchFamily="34" charset="0"/>
            </a:endParaRPr>
          </a:p>
        </p:txBody>
      </p:sp>
      <p:sp>
        <p:nvSpPr>
          <p:cNvPr id="17" name="Text 15"/>
          <p:cNvSpPr/>
          <p:nvPr/>
        </p:nvSpPr>
        <p:spPr>
          <a:xfrm>
            <a:off x="3067200" y="4709160"/>
            <a:ext cx="2159999" cy="411480"/>
          </a:xfrm>
          <a:prstGeom prst="rect">
            <a:avLst/>
          </a:prstGeom>
          <a:noFill/>
          <a:ln/>
        </p:spPr>
        <p:txBody>
          <a:bodyPr wrap="square" lIns="0" tIns="0" rIns="0" bIns="0" rtlCol="0" anchor="ctr"/>
          <a:lstStyle/>
          <a:p>
            <a:pPr algn="ctr"/>
            <a:r>
              <a:rPr lang="en-US" sz="1200" b="1" i="1" dirty="0">
                <a:solidFill>
                  <a:srgbClr val="FFFFFF"/>
                </a:solidFill>
                <a:latin typeface="Ubuntu" panose="020B0504030602030204" pitchFamily="34" charset="0"/>
                <a:ea typeface="Calibri" pitchFamily="34" charset="-122"/>
                <a:cs typeface="Calibri" pitchFamily="34" charset="-120"/>
              </a:rPr>
              <a:t>University year : 2025-2026</a:t>
            </a:r>
            <a:r>
              <a:rPr lang="ar-DZ" sz="1200" b="1" i="1" dirty="0">
                <a:solidFill>
                  <a:srgbClr val="FFFFFF"/>
                </a:solidFill>
                <a:latin typeface="Ubuntu" panose="020B0504030602030204" pitchFamily="34" charset="0"/>
                <a:ea typeface="Calibri" pitchFamily="34" charset="-122"/>
                <a:cs typeface="Calibri" pitchFamily="34" charset="-120"/>
              </a:rPr>
              <a:t> </a:t>
            </a:r>
            <a:endParaRPr lang="en-US" sz="1200" i="1" dirty="0">
              <a:latin typeface="Ubuntu" panose="020B0504030602030204" pitchFamily="34" charset="0"/>
            </a:endParaRPr>
          </a:p>
        </p:txBody>
      </p:sp>
      <p:sp>
        <p:nvSpPr>
          <p:cNvPr id="18" name="Shape 16"/>
          <p:cNvSpPr/>
          <p:nvPr/>
        </p:nvSpPr>
        <p:spPr>
          <a:xfrm>
            <a:off x="6900117" y="1015740"/>
            <a:ext cx="2035898" cy="2245230"/>
          </a:xfrm>
          <a:prstGeom prst="ellipse">
            <a:avLst/>
          </a:prstGeom>
          <a:solidFill>
            <a:srgbClr val="C0392B">
              <a:alpha val="30000"/>
            </a:srgbClr>
          </a:solidFill>
          <a:ln/>
        </p:spPr>
        <p:txBody>
          <a:bodyPr/>
          <a:lstStyle/>
          <a:p>
            <a:endParaRPr lang="en-US" dirty="0"/>
          </a:p>
        </p:txBody>
      </p:sp>
      <p:sp>
        <p:nvSpPr>
          <p:cNvPr id="19" name="Text 17"/>
          <p:cNvSpPr/>
          <p:nvPr/>
        </p:nvSpPr>
        <p:spPr>
          <a:xfrm>
            <a:off x="6664703" y="1345140"/>
            <a:ext cx="2542465" cy="1667340"/>
          </a:xfrm>
          <a:prstGeom prst="rect">
            <a:avLst/>
          </a:prstGeom>
          <a:noFill/>
          <a:ln/>
        </p:spPr>
        <p:txBody>
          <a:bodyPr wrap="square" rtlCol="0" anchor="ctr"/>
          <a:lstStyle/>
          <a:p>
            <a:pPr marL="0" indent="0" algn="ctr">
              <a:buNone/>
            </a:pPr>
            <a:r>
              <a:rPr lang="en-US" sz="3600" dirty="0">
                <a:solidFill>
                  <a:srgbClr val="000000"/>
                </a:solidFill>
              </a:rPr>
              <a:t>🥕🧅🍅</a:t>
            </a:r>
            <a:endParaRPr lang="en-US" sz="3600" dirty="0"/>
          </a:p>
          <a:p>
            <a:pPr marL="0" indent="0" algn="ctr">
              <a:buNone/>
            </a:pPr>
            <a:r>
              <a:rPr lang="en-US" sz="3600" dirty="0">
                <a:solidFill>
                  <a:srgbClr val="000000"/>
                </a:solidFill>
              </a:rPr>
              <a:t>🫙🥩🌿</a:t>
            </a:r>
            <a:endParaRPr lang="en-US" sz="3600" dirty="0"/>
          </a:p>
          <a:p>
            <a:pPr marL="0" indent="0" algn="ctr">
              <a:buNone/>
            </a:pPr>
            <a:r>
              <a:rPr lang="en-US" sz="3600" dirty="0">
                <a:solidFill>
                  <a:srgbClr val="000000"/>
                </a:solidFill>
              </a:rPr>
              <a:t>🫒🧄🌶️</a:t>
            </a:r>
            <a:endParaRPr lang="en-US" sz="3600" dirty="0"/>
          </a:p>
        </p:txBody>
      </p:sp>
      <p:sp>
        <p:nvSpPr>
          <p:cNvPr id="20" name="Text 7">
            <a:extLst>
              <a:ext uri="{FF2B5EF4-FFF2-40B4-BE49-F238E27FC236}">
                <a16:creationId xmlns:a16="http://schemas.microsoft.com/office/drawing/2014/main" id="{4531221D-472C-B73F-6FAE-506D12F54B32}"/>
              </a:ext>
            </a:extLst>
          </p:cNvPr>
          <p:cNvSpPr/>
          <p:nvPr/>
        </p:nvSpPr>
        <p:spPr>
          <a:xfrm>
            <a:off x="-23796" y="-31320"/>
            <a:ext cx="8688672" cy="822960"/>
          </a:xfrm>
          <a:prstGeom prst="rect">
            <a:avLst/>
          </a:prstGeom>
          <a:noFill/>
          <a:ln/>
        </p:spPr>
        <p:txBody>
          <a:bodyPr wrap="square" lIns="0" tIns="0" rIns="0" bIns="0" rtlCol="0" anchor="ctr"/>
          <a:lstStyle/>
          <a:p>
            <a:pPr algn="ctr"/>
            <a:r>
              <a:rPr lang="en-US" sz="1300" b="1" dirty="0">
                <a:solidFill>
                  <a:schemeClr val="bg1"/>
                </a:solidFill>
                <a:latin typeface="Ubuntu" panose="020B0504030602030204" pitchFamily="34" charset="0"/>
                <a:ea typeface="Calibri" pitchFamily="34" charset="-122"/>
                <a:cs typeface="Calibri" pitchFamily="34" charset="-120"/>
              </a:rPr>
              <a:t>People's Democratic Republic of Algeria</a:t>
            </a:r>
          </a:p>
          <a:p>
            <a:pPr algn="ctr"/>
            <a:r>
              <a:rPr lang="en-US" sz="1300" b="1" dirty="0">
                <a:solidFill>
                  <a:schemeClr val="bg1"/>
                </a:solidFill>
                <a:latin typeface="Ubuntu" panose="020B0504030602030204" pitchFamily="34" charset="0"/>
                <a:ea typeface="Calibri" pitchFamily="34" charset="-122"/>
                <a:cs typeface="Calibri" pitchFamily="34" charset="-120"/>
              </a:rPr>
              <a:t>Ministry of Higher Education and Scientific Research</a:t>
            </a:r>
          </a:p>
          <a:p>
            <a:pPr algn="ctr"/>
            <a:r>
              <a:rPr lang="en-US" sz="1300" b="1" dirty="0">
                <a:solidFill>
                  <a:schemeClr val="bg1"/>
                </a:solidFill>
                <a:latin typeface="Ubuntu" panose="020B0504030602030204" pitchFamily="34" charset="0"/>
                <a:ea typeface="Calibri" pitchFamily="34" charset="-122"/>
                <a:cs typeface="Calibri" pitchFamily="34" charset="-120"/>
              </a:rPr>
              <a:t>Tahri Mohamed University of </a:t>
            </a:r>
            <a:r>
              <a:rPr lang="en-US" sz="1300" b="1" dirty="0" err="1">
                <a:solidFill>
                  <a:schemeClr val="bg1"/>
                </a:solidFill>
                <a:latin typeface="Ubuntu" panose="020B0504030602030204" pitchFamily="34" charset="0"/>
                <a:ea typeface="Calibri" pitchFamily="34" charset="-122"/>
                <a:cs typeface="Calibri" pitchFamily="34" charset="-120"/>
              </a:rPr>
              <a:t>Bechar</a:t>
            </a:r>
            <a:endParaRPr lang="en-US" sz="1300" b="1" dirty="0">
              <a:solidFill>
                <a:schemeClr val="bg1"/>
              </a:solidFill>
              <a:latin typeface="Ubuntu" panose="020B0504030602030204" pitchFamily="34" charset="0"/>
            </a:endParaRPr>
          </a:p>
        </p:txBody>
      </p:sp>
      <p:pic>
        <p:nvPicPr>
          <p:cNvPr id="22" name="Image 21">
            <a:extLst>
              <a:ext uri="{FF2B5EF4-FFF2-40B4-BE49-F238E27FC236}">
                <a16:creationId xmlns:a16="http://schemas.microsoft.com/office/drawing/2014/main" id="{18F0140D-8962-B60E-D6AF-6E65A6BAA629}"/>
              </a:ext>
            </a:extLst>
          </p:cNvPr>
          <p:cNvPicPr>
            <a:picLocks noChangeAspect="1"/>
          </p:cNvPicPr>
          <p:nvPr/>
        </p:nvPicPr>
        <p:blipFill>
          <a:blip r:embed="rId3"/>
          <a:stretch>
            <a:fillRect/>
          </a:stretch>
        </p:blipFill>
        <p:spPr>
          <a:xfrm>
            <a:off x="7808345" y="86220"/>
            <a:ext cx="1092403" cy="1097280"/>
          </a:xfrm>
          <a:prstGeom prst="rect">
            <a:avLst/>
          </a:prstGeom>
        </p:spPr>
      </p:pic>
      <p:sp>
        <p:nvSpPr>
          <p:cNvPr id="25" name="Text 15">
            <a:extLst>
              <a:ext uri="{FF2B5EF4-FFF2-40B4-BE49-F238E27FC236}">
                <a16:creationId xmlns:a16="http://schemas.microsoft.com/office/drawing/2014/main" id="{666E15E7-1190-FCD5-B69F-C7816518F873}"/>
              </a:ext>
            </a:extLst>
          </p:cNvPr>
          <p:cNvSpPr/>
          <p:nvPr/>
        </p:nvSpPr>
        <p:spPr>
          <a:xfrm>
            <a:off x="959373" y="4154580"/>
            <a:ext cx="961693" cy="411480"/>
          </a:xfrm>
          <a:prstGeom prst="rect">
            <a:avLst/>
          </a:prstGeom>
          <a:noFill/>
          <a:ln/>
        </p:spPr>
        <p:txBody>
          <a:bodyPr wrap="square" lIns="0" tIns="0" rIns="0" bIns="0" rtlCol="0" anchor="ctr"/>
          <a:lstStyle/>
          <a:p>
            <a:pPr algn="ctr"/>
            <a:r>
              <a:rPr lang="fr-FR" sz="1050" b="1" dirty="0" err="1">
                <a:solidFill>
                  <a:srgbClr val="FFFFFF"/>
                </a:solidFill>
                <a:latin typeface="Ubuntu" panose="020B0504030602030204" pitchFamily="34" charset="0"/>
                <a:ea typeface="Calibri" pitchFamily="34" charset="-122"/>
                <a:cs typeface="Calibri" pitchFamily="34" charset="-120"/>
              </a:rPr>
              <a:t>F.Younes</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Informatique</a:t>
            </a:r>
            <a:endParaRPr lang="en-US" sz="1200" b="1" dirty="0">
              <a:solidFill>
                <a:schemeClr val="accent2"/>
              </a:solidFill>
              <a:latin typeface="Ubuntu" panose="020B0504030602030204" pitchFamily="34" charset="0"/>
            </a:endParaRPr>
          </a:p>
        </p:txBody>
      </p:sp>
      <p:sp>
        <p:nvSpPr>
          <p:cNvPr id="28" name="Text 15">
            <a:extLst>
              <a:ext uri="{FF2B5EF4-FFF2-40B4-BE49-F238E27FC236}">
                <a16:creationId xmlns:a16="http://schemas.microsoft.com/office/drawing/2014/main" id="{130557BB-93F3-911F-9FF9-1BF0B11E0316}"/>
              </a:ext>
            </a:extLst>
          </p:cNvPr>
          <p:cNvSpPr/>
          <p:nvPr/>
        </p:nvSpPr>
        <p:spPr>
          <a:xfrm>
            <a:off x="4773562" y="4156830"/>
            <a:ext cx="1299683" cy="411480"/>
          </a:xfrm>
          <a:prstGeom prst="rect">
            <a:avLst/>
          </a:prstGeom>
          <a:noFill/>
          <a:ln/>
        </p:spPr>
        <p:txBody>
          <a:bodyPr wrap="square" lIns="0" tIns="0" rIns="0" bIns="0" rtlCol="0" anchor="ctr"/>
          <a:lstStyle/>
          <a:p>
            <a:pPr algn="ctr"/>
            <a:r>
              <a:rPr lang="fr-FR" sz="1050" b="1" dirty="0">
                <a:solidFill>
                  <a:srgbClr val="FFFFFF"/>
                </a:solidFill>
                <a:latin typeface="Ubuntu" panose="020B0504030602030204" pitchFamily="34" charset="0"/>
                <a:ea typeface="Calibri" pitchFamily="34" charset="-122"/>
                <a:cs typeface="Calibri" pitchFamily="34" charset="-120"/>
              </a:rPr>
              <a:t> </a:t>
            </a:r>
            <a:r>
              <a:rPr lang="fr-FR" sz="1050" b="1" dirty="0" err="1">
                <a:solidFill>
                  <a:srgbClr val="FFFFFF"/>
                </a:solidFill>
                <a:latin typeface="Ubuntu" panose="020B0504030602030204" pitchFamily="34" charset="0"/>
                <a:ea typeface="Calibri" pitchFamily="34" charset="-122"/>
                <a:cs typeface="Calibri" pitchFamily="34" charset="-120"/>
              </a:rPr>
              <a:t>G.Fatma</a:t>
            </a:r>
            <a:r>
              <a:rPr lang="fr-FR" sz="1050" b="1" dirty="0">
                <a:solidFill>
                  <a:srgbClr val="FFFFFF"/>
                </a:solidFill>
                <a:latin typeface="Ubuntu" panose="020B0504030602030204" pitchFamily="34" charset="0"/>
                <a:ea typeface="Calibri" pitchFamily="34" charset="-122"/>
                <a:cs typeface="Calibri" pitchFamily="34" charset="-120"/>
              </a:rPr>
              <a:t> Zahra</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Etudes </a:t>
            </a:r>
            <a:r>
              <a:rPr lang="en-US" sz="1000" b="1" dirty="0" err="1">
                <a:solidFill>
                  <a:schemeClr val="accent2"/>
                </a:solidFill>
                <a:latin typeface="Ubuntu" panose="020B0504030602030204" pitchFamily="34" charset="0"/>
              </a:rPr>
              <a:t>linguistiques</a:t>
            </a:r>
            <a:endParaRPr lang="en-US" sz="1200" b="1" dirty="0">
              <a:solidFill>
                <a:schemeClr val="accent2"/>
              </a:solidFill>
              <a:latin typeface="Ubuntu" panose="020B0504030602030204" pitchFamily="34" charset="0"/>
            </a:endParaRPr>
          </a:p>
        </p:txBody>
      </p:sp>
      <p:sp>
        <p:nvSpPr>
          <p:cNvPr id="33" name="Text 15">
            <a:extLst>
              <a:ext uri="{FF2B5EF4-FFF2-40B4-BE49-F238E27FC236}">
                <a16:creationId xmlns:a16="http://schemas.microsoft.com/office/drawing/2014/main" id="{DF007C86-EEB8-0F5A-B417-42ECE661A884}"/>
              </a:ext>
            </a:extLst>
          </p:cNvPr>
          <p:cNvSpPr/>
          <p:nvPr/>
        </p:nvSpPr>
        <p:spPr>
          <a:xfrm>
            <a:off x="2102279" y="4154580"/>
            <a:ext cx="1299683" cy="411480"/>
          </a:xfrm>
          <a:prstGeom prst="rect">
            <a:avLst/>
          </a:prstGeom>
          <a:noFill/>
          <a:ln/>
        </p:spPr>
        <p:txBody>
          <a:bodyPr wrap="square" lIns="0" tIns="0" rIns="0" bIns="0" rtlCol="0" anchor="ctr"/>
          <a:lstStyle/>
          <a:p>
            <a:pPr algn="ctr"/>
            <a:r>
              <a:rPr lang="fr-FR" sz="1050" b="1" dirty="0" err="1">
                <a:solidFill>
                  <a:srgbClr val="FFFFFF"/>
                </a:solidFill>
                <a:latin typeface="Ubuntu" panose="020B0504030602030204" pitchFamily="34" charset="0"/>
                <a:ea typeface="Calibri" pitchFamily="34" charset="-122"/>
                <a:cs typeface="Calibri" pitchFamily="34" charset="-120"/>
              </a:rPr>
              <a:t>A.Abderrahmen</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Etudes </a:t>
            </a:r>
            <a:r>
              <a:rPr lang="en-US" sz="1000" b="1" dirty="0" err="1">
                <a:solidFill>
                  <a:schemeClr val="accent2"/>
                </a:solidFill>
                <a:latin typeface="Ubuntu" panose="020B0504030602030204" pitchFamily="34" charset="0"/>
              </a:rPr>
              <a:t>linguistiques</a:t>
            </a:r>
            <a:endParaRPr lang="en-US" sz="1200" b="1" dirty="0">
              <a:solidFill>
                <a:schemeClr val="accent2"/>
              </a:solidFill>
              <a:latin typeface="Ubuntu" panose="020B0504030602030204" pitchFamily="34" charset="0"/>
            </a:endParaRPr>
          </a:p>
        </p:txBody>
      </p:sp>
      <p:sp>
        <p:nvSpPr>
          <p:cNvPr id="36" name="Text 15">
            <a:extLst>
              <a:ext uri="{FF2B5EF4-FFF2-40B4-BE49-F238E27FC236}">
                <a16:creationId xmlns:a16="http://schemas.microsoft.com/office/drawing/2014/main" id="{D7CB0789-EBA6-4AA6-2928-08DAF559391B}"/>
              </a:ext>
            </a:extLst>
          </p:cNvPr>
          <p:cNvSpPr/>
          <p:nvPr/>
        </p:nvSpPr>
        <p:spPr>
          <a:xfrm>
            <a:off x="6081812" y="4159920"/>
            <a:ext cx="1299683" cy="411480"/>
          </a:xfrm>
          <a:prstGeom prst="rect">
            <a:avLst/>
          </a:prstGeom>
          <a:noFill/>
          <a:ln/>
        </p:spPr>
        <p:txBody>
          <a:bodyPr wrap="square" lIns="0" tIns="0" rIns="0" bIns="0" rtlCol="0" anchor="ctr"/>
          <a:lstStyle/>
          <a:p>
            <a:pPr algn="ctr"/>
            <a:r>
              <a:rPr lang="fr-FR" sz="1050" b="1" dirty="0" err="1">
                <a:solidFill>
                  <a:srgbClr val="FFFFFF"/>
                </a:solidFill>
                <a:latin typeface="Ubuntu" panose="020B0504030602030204" pitchFamily="34" charset="0"/>
                <a:ea typeface="Calibri" pitchFamily="34" charset="-122"/>
                <a:cs typeface="Calibri" pitchFamily="34" charset="-120"/>
              </a:rPr>
              <a:t>D.Aicha</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Etudes </a:t>
            </a:r>
            <a:r>
              <a:rPr lang="en-US" sz="1000" b="1" dirty="0" err="1">
                <a:solidFill>
                  <a:schemeClr val="accent2"/>
                </a:solidFill>
                <a:latin typeface="Ubuntu" panose="020B0504030602030204" pitchFamily="34" charset="0"/>
              </a:rPr>
              <a:t>linguistiques</a:t>
            </a:r>
            <a:endParaRPr lang="en-US" sz="1200" b="1" dirty="0">
              <a:solidFill>
                <a:schemeClr val="accent2"/>
              </a:solidFill>
              <a:latin typeface="Ubuntu" panose="020B0504030602030204" pitchFamily="34" charset="0"/>
            </a:endParaRPr>
          </a:p>
        </p:txBody>
      </p:sp>
      <p:sp>
        <p:nvSpPr>
          <p:cNvPr id="39" name="Text 15">
            <a:extLst>
              <a:ext uri="{FF2B5EF4-FFF2-40B4-BE49-F238E27FC236}">
                <a16:creationId xmlns:a16="http://schemas.microsoft.com/office/drawing/2014/main" id="{E241441A-2958-7E16-CA2C-37E5EE7EC738}"/>
              </a:ext>
            </a:extLst>
          </p:cNvPr>
          <p:cNvSpPr/>
          <p:nvPr/>
        </p:nvSpPr>
        <p:spPr>
          <a:xfrm>
            <a:off x="3458172" y="4156830"/>
            <a:ext cx="1299683" cy="411480"/>
          </a:xfrm>
          <a:prstGeom prst="rect">
            <a:avLst/>
          </a:prstGeom>
          <a:noFill/>
          <a:ln/>
        </p:spPr>
        <p:txBody>
          <a:bodyPr wrap="square" lIns="0" tIns="0" rIns="0" bIns="0" rtlCol="0" anchor="ctr"/>
          <a:lstStyle/>
          <a:p>
            <a:pPr algn="ctr"/>
            <a:r>
              <a:rPr lang="fr-FR" sz="1200" b="1" dirty="0">
                <a:solidFill>
                  <a:srgbClr val="FFFFFF"/>
                </a:solidFill>
                <a:latin typeface="Ubuntu" panose="020B0504030602030204" pitchFamily="34" charset="0"/>
                <a:ea typeface="Calibri" pitchFamily="34" charset="-122"/>
                <a:cs typeface="Calibri" pitchFamily="34" charset="-120"/>
              </a:rPr>
              <a:t>F. Mohammed</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Etudes </a:t>
            </a:r>
            <a:r>
              <a:rPr lang="en-US" sz="1000" b="1" dirty="0" err="1">
                <a:solidFill>
                  <a:schemeClr val="accent2"/>
                </a:solidFill>
                <a:latin typeface="Ubuntu" panose="020B0504030602030204" pitchFamily="34" charset="0"/>
              </a:rPr>
              <a:t>linguistiques</a:t>
            </a:r>
            <a:endParaRPr lang="en-US" sz="1200" b="1" dirty="0">
              <a:solidFill>
                <a:schemeClr val="accent2"/>
              </a:solidFill>
              <a:latin typeface="Ubuntu" panose="020B0504030602030204" pitchFamily="34" charset="0"/>
            </a:endParaRPr>
          </a:p>
        </p:txBody>
      </p:sp>
      <p:sp>
        <p:nvSpPr>
          <p:cNvPr id="42" name="Text 15">
            <a:extLst>
              <a:ext uri="{FF2B5EF4-FFF2-40B4-BE49-F238E27FC236}">
                <a16:creationId xmlns:a16="http://schemas.microsoft.com/office/drawing/2014/main" id="{40893DFF-0936-BA36-AF1C-E60B034BB50E}"/>
              </a:ext>
            </a:extLst>
          </p:cNvPr>
          <p:cNvSpPr/>
          <p:nvPr/>
        </p:nvSpPr>
        <p:spPr>
          <a:xfrm>
            <a:off x="7397202" y="4197675"/>
            <a:ext cx="1299683" cy="411480"/>
          </a:xfrm>
          <a:prstGeom prst="rect">
            <a:avLst/>
          </a:prstGeom>
          <a:noFill/>
          <a:ln/>
        </p:spPr>
        <p:txBody>
          <a:bodyPr wrap="square" lIns="0" tIns="0" rIns="0" bIns="0" rtlCol="0" anchor="ctr"/>
          <a:lstStyle/>
          <a:p>
            <a:pPr algn="ctr"/>
            <a:r>
              <a:rPr lang="fr-FR" sz="1050" b="1" dirty="0" err="1">
                <a:solidFill>
                  <a:srgbClr val="FFFFFF"/>
                </a:solidFill>
                <a:latin typeface="Ubuntu" panose="020B0504030602030204" pitchFamily="34" charset="0"/>
                <a:ea typeface="Calibri" pitchFamily="34" charset="-122"/>
                <a:cs typeface="Calibri" pitchFamily="34" charset="-120"/>
              </a:rPr>
              <a:t>M.Faiza</a:t>
            </a:r>
            <a:br>
              <a:rPr lang="fr-FR" sz="1200" b="1" dirty="0">
                <a:solidFill>
                  <a:srgbClr val="FFFFFF"/>
                </a:solidFill>
                <a:latin typeface="Ubuntu" panose="020B0504030602030204" pitchFamily="34" charset="0"/>
                <a:ea typeface="Calibri" pitchFamily="34" charset="-122"/>
                <a:cs typeface="Calibri" pitchFamily="34" charset="-120"/>
              </a:rPr>
            </a:br>
            <a:r>
              <a:rPr lang="en-US" sz="1000" b="1" dirty="0">
                <a:solidFill>
                  <a:schemeClr val="accent2"/>
                </a:solidFill>
                <a:latin typeface="Ubuntu" panose="020B0504030602030204" pitchFamily="34" charset="0"/>
              </a:rPr>
              <a:t>Langue anglaise </a:t>
            </a:r>
          </a:p>
        </p:txBody>
      </p:sp>
      <p:sp>
        <p:nvSpPr>
          <p:cNvPr id="43" name="Text 15">
            <a:extLst>
              <a:ext uri="{FF2B5EF4-FFF2-40B4-BE49-F238E27FC236}">
                <a16:creationId xmlns:a16="http://schemas.microsoft.com/office/drawing/2014/main" id="{B7C6D255-3E4B-CE2A-E8EE-9ADC82D7E0EB}"/>
              </a:ext>
            </a:extLst>
          </p:cNvPr>
          <p:cNvSpPr/>
          <p:nvPr/>
        </p:nvSpPr>
        <p:spPr>
          <a:xfrm>
            <a:off x="1128069" y="2723115"/>
            <a:ext cx="1258370" cy="411480"/>
          </a:xfrm>
          <a:prstGeom prst="rect">
            <a:avLst/>
          </a:prstGeom>
          <a:noFill/>
          <a:ln/>
        </p:spPr>
        <p:txBody>
          <a:bodyPr wrap="square" lIns="0" tIns="0" rIns="0" bIns="0" rtlCol="0" anchor="ctr"/>
          <a:lstStyle/>
          <a:p>
            <a:r>
              <a:rPr lang="fr-FR" sz="1200" b="1" dirty="0">
                <a:solidFill>
                  <a:srgbClr val="FFFFFF"/>
                </a:solidFill>
                <a:latin typeface="Ubuntu" panose="020B0504030602030204" pitchFamily="34" charset="0"/>
                <a:ea typeface="Calibri" pitchFamily="34" charset="-122"/>
                <a:cs typeface="Calibri" pitchFamily="34" charset="-120"/>
              </a:rPr>
              <a:t>Our Team :</a:t>
            </a:r>
            <a:endParaRPr lang="en-US" sz="1200" dirty="0">
              <a:latin typeface="Ubuntu" panose="020B0504030602030204" pitchFamily="34" charset="0"/>
            </a:endParaRPr>
          </a:p>
        </p:txBody>
      </p:sp>
      <p:sp>
        <p:nvSpPr>
          <p:cNvPr id="10" name="Text 9">
            <a:extLst>
              <a:ext uri="{FF2B5EF4-FFF2-40B4-BE49-F238E27FC236}">
                <a16:creationId xmlns:a16="http://schemas.microsoft.com/office/drawing/2014/main" id="{D50EF63D-616A-AC0A-175C-DF82D106FF58}"/>
              </a:ext>
            </a:extLst>
          </p:cNvPr>
          <p:cNvSpPr/>
          <p:nvPr/>
        </p:nvSpPr>
        <p:spPr>
          <a:xfrm>
            <a:off x="1901184" y="773865"/>
            <a:ext cx="5760720" cy="320040"/>
          </a:xfrm>
          <a:prstGeom prst="rect">
            <a:avLst/>
          </a:prstGeom>
          <a:noFill/>
          <a:ln/>
        </p:spPr>
        <p:txBody>
          <a:bodyPr wrap="square" lIns="0" tIns="0" rIns="0" bIns="0" rtlCol="0" anchor="ctr"/>
          <a:lstStyle/>
          <a:p>
            <a:pPr marL="0" indent="0" algn="ctr">
              <a:buNone/>
            </a:pPr>
            <a:r>
              <a:rPr lang="en-US" sz="1200" b="1" dirty="0">
                <a:solidFill>
                  <a:srgbClr val="D4A017"/>
                </a:solidFill>
                <a:latin typeface="Georgia" pitchFamily="34" charset="0"/>
                <a:ea typeface="Georgia" pitchFamily="34" charset="-122"/>
                <a:cs typeface="Georgia" pitchFamily="34" charset="-120"/>
              </a:rPr>
              <a:t>Fundamentals and Technique of Programming — Mini Project</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Text 1"/>
          <p:cNvSpPr/>
          <p:nvPr/>
        </p:nvSpPr>
        <p:spPr>
          <a:xfrm>
            <a:off x="274320" y="0"/>
            <a:ext cx="859536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 Presentation Structure</a:t>
            </a:r>
            <a:endParaRPr lang="en-US" sz="2200" dirty="0">
              <a:latin typeface="Ubuntu" panose="020B0504030602030204" pitchFamily="34" charset="0"/>
            </a:endParaRPr>
          </a:p>
        </p:txBody>
      </p:sp>
      <p:sp>
        <p:nvSpPr>
          <p:cNvPr id="4" name="Shape 2"/>
          <p:cNvSpPr/>
          <p:nvPr/>
        </p:nvSpPr>
        <p:spPr>
          <a:xfrm>
            <a:off x="228600" y="1498211"/>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5" name="Shape 3"/>
          <p:cNvSpPr/>
          <p:nvPr/>
        </p:nvSpPr>
        <p:spPr>
          <a:xfrm>
            <a:off x="228600" y="1498211"/>
            <a:ext cx="502920" cy="868680"/>
          </a:xfrm>
          <a:prstGeom prst="rect">
            <a:avLst/>
          </a:prstGeom>
          <a:solidFill>
            <a:srgbClr val="C0392B"/>
          </a:solidFill>
          <a:ln/>
        </p:spPr>
      </p:sp>
      <p:sp>
        <p:nvSpPr>
          <p:cNvPr id="6" name="Text 4"/>
          <p:cNvSpPr/>
          <p:nvPr/>
        </p:nvSpPr>
        <p:spPr>
          <a:xfrm>
            <a:off x="228600" y="1498211"/>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01</a:t>
            </a:r>
            <a:endParaRPr lang="en-US" sz="1400" dirty="0">
              <a:latin typeface="Ubuntu" panose="020B0504030602030204" pitchFamily="34" charset="0"/>
            </a:endParaRPr>
          </a:p>
        </p:txBody>
      </p:sp>
      <p:sp>
        <p:nvSpPr>
          <p:cNvPr id="8" name="Text 6"/>
          <p:cNvSpPr/>
          <p:nvPr/>
        </p:nvSpPr>
        <p:spPr>
          <a:xfrm>
            <a:off x="795528" y="1589651"/>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Introduction to Problem</a:t>
            </a:r>
            <a:endParaRPr lang="en-US" sz="1200" dirty="0">
              <a:latin typeface="Ubuntu" panose="020B0504030602030204" pitchFamily="34" charset="0"/>
            </a:endParaRPr>
          </a:p>
        </p:txBody>
      </p:sp>
      <p:sp>
        <p:nvSpPr>
          <p:cNvPr id="9" name="Text 7"/>
          <p:cNvSpPr/>
          <p:nvPr/>
        </p:nvSpPr>
        <p:spPr>
          <a:xfrm>
            <a:off x="795528" y="1909691"/>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Theme • Problem Definition • Input/Output • Hypotheses</a:t>
            </a:r>
            <a:endParaRPr lang="en-US" sz="1000" dirty="0">
              <a:latin typeface="Ubuntu" panose="020B0504030602030204" pitchFamily="34" charset="0"/>
            </a:endParaRPr>
          </a:p>
        </p:txBody>
      </p:sp>
      <p:sp>
        <p:nvSpPr>
          <p:cNvPr id="10" name="Shape 8"/>
          <p:cNvSpPr/>
          <p:nvPr/>
        </p:nvSpPr>
        <p:spPr>
          <a:xfrm>
            <a:off x="4690872" y="1498211"/>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11" name="Shape 9"/>
          <p:cNvSpPr/>
          <p:nvPr/>
        </p:nvSpPr>
        <p:spPr>
          <a:xfrm>
            <a:off x="4690872" y="1498211"/>
            <a:ext cx="502920" cy="868680"/>
          </a:xfrm>
          <a:prstGeom prst="rect">
            <a:avLst/>
          </a:prstGeom>
          <a:solidFill>
            <a:srgbClr val="D4A017"/>
          </a:solidFill>
          <a:ln/>
        </p:spPr>
      </p:sp>
      <p:sp>
        <p:nvSpPr>
          <p:cNvPr id="12" name="Text 10"/>
          <p:cNvSpPr/>
          <p:nvPr/>
        </p:nvSpPr>
        <p:spPr>
          <a:xfrm>
            <a:off x="4690872" y="1498211"/>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02</a:t>
            </a:r>
            <a:endParaRPr lang="en-US" sz="1400" dirty="0">
              <a:latin typeface="Ubuntu" panose="020B0504030602030204" pitchFamily="34" charset="0"/>
            </a:endParaRPr>
          </a:p>
        </p:txBody>
      </p:sp>
      <p:sp>
        <p:nvSpPr>
          <p:cNvPr id="14" name="Text 12"/>
          <p:cNvSpPr/>
          <p:nvPr/>
        </p:nvSpPr>
        <p:spPr>
          <a:xfrm>
            <a:off x="5257800" y="1589651"/>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Program Design &amp; Structure</a:t>
            </a:r>
            <a:endParaRPr lang="en-US" sz="1200" dirty="0">
              <a:latin typeface="Ubuntu" panose="020B0504030602030204" pitchFamily="34" charset="0"/>
            </a:endParaRPr>
          </a:p>
        </p:txBody>
      </p:sp>
      <p:sp>
        <p:nvSpPr>
          <p:cNvPr id="15" name="Text 13"/>
          <p:cNvSpPr/>
          <p:nvPr/>
        </p:nvSpPr>
        <p:spPr>
          <a:xfrm>
            <a:off x="5257800" y="1909691"/>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Flowchart • Application Logic • Main Functions</a:t>
            </a:r>
            <a:endParaRPr lang="en-US" sz="1000" dirty="0">
              <a:latin typeface="Ubuntu" panose="020B0504030602030204" pitchFamily="34" charset="0"/>
            </a:endParaRPr>
          </a:p>
        </p:txBody>
      </p:sp>
      <p:sp>
        <p:nvSpPr>
          <p:cNvPr id="16" name="Shape 14"/>
          <p:cNvSpPr/>
          <p:nvPr/>
        </p:nvSpPr>
        <p:spPr>
          <a:xfrm>
            <a:off x="228600" y="2522339"/>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17" name="Shape 15"/>
          <p:cNvSpPr/>
          <p:nvPr/>
        </p:nvSpPr>
        <p:spPr>
          <a:xfrm>
            <a:off x="228600" y="2522339"/>
            <a:ext cx="502920" cy="868680"/>
          </a:xfrm>
          <a:prstGeom prst="rect">
            <a:avLst/>
          </a:prstGeom>
          <a:solidFill>
            <a:srgbClr val="1A6B3C"/>
          </a:solidFill>
          <a:ln/>
        </p:spPr>
      </p:sp>
      <p:sp>
        <p:nvSpPr>
          <p:cNvPr id="18" name="Text 16"/>
          <p:cNvSpPr/>
          <p:nvPr/>
        </p:nvSpPr>
        <p:spPr>
          <a:xfrm>
            <a:off x="228600" y="2522339"/>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03</a:t>
            </a:r>
            <a:endParaRPr lang="en-US" sz="1400" dirty="0">
              <a:latin typeface="Ubuntu" panose="020B0504030602030204" pitchFamily="34" charset="0"/>
            </a:endParaRPr>
          </a:p>
        </p:txBody>
      </p:sp>
      <p:sp>
        <p:nvSpPr>
          <p:cNvPr id="20" name="Text 18"/>
          <p:cNvSpPr/>
          <p:nvPr/>
        </p:nvSpPr>
        <p:spPr>
          <a:xfrm>
            <a:off x="795528" y="2613779"/>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Source Code Structure</a:t>
            </a:r>
            <a:endParaRPr lang="en-US" sz="1200" dirty="0">
              <a:latin typeface="Ubuntu" panose="020B0504030602030204" pitchFamily="34" charset="0"/>
            </a:endParaRPr>
          </a:p>
        </p:txBody>
      </p:sp>
      <p:sp>
        <p:nvSpPr>
          <p:cNvPr id="21" name="Text 19"/>
          <p:cNvSpPr/>
          <p:nvPr/>
        </p:nvSpPr>
        <p:spPr>
          <a:xfrm>
            <a:off x="795528" y="2933819"/>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Code • Data Structures • Libraries • GitHub Link</a:t>
            </a:r>
            <a:endParaRPr lang="en-US" sz="1000" dirty="0">
              <a:latin typeface="Ubuntu" panose="020B0504030602030204" pitchFamily="34" charset="0"/>
            </a:endParaRPr>
          </a:p>
        </p:txBody>
      </p:sp>
      <p:sp>
        <p:nvSpPr>
          <p:cNvPr id="22" name="Shape 20"/>
          <p:cNvSpPr/>
          <p:nvPr/>
        </p:nvSpPr>
        <p:spPr>
          <a:xfrm>
            <a:off x="4690872" y="2522339"/>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23" name="Shape 21"/>
          <p:cNvSpPr/>
          <p:nvPr/>
        </p:nvSpPr>
        <p:spPr>
          <a:xfrm>
            <a:off x="4690872" y="2522339"/>
            <a:ext cx="502920" cy="868680"/>
          </a:xfrm>
          <a:prstGeom prst="rect">
            <a:avLst/>
          </a:prstGeom>
          <a:solidFill>
            <a:srgbClr val="15618A"/>
          </a:solidFill>
          <a:ln/>
        </p:spPr>
      </p:sp>
      <p:sp>
        <p:nvSpPr>
          <p:cNvPr id="24" name="Text 22"/>
          <p:cNvSpPr/>
          <p:nvPr/>
        </p:nvSpPr>
        <p:spPr>
          <a:xfrm>
            <a:off x="4690872" y="2522339"/>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04</a:t>
            </a:r>
            <a:endParaRPr lang="en-US" sz="1400" dirty="0">
              <a:latin typeface="Ubuntu" panose="020B0504030602030204" pitchFamily="34" charset="0"/>
            </a:endParaRPr>
          </a:p>
        </p:txBody>
      </p:sp>
      <p:sp>
        <p:nvSpPr>
          <p:cNvPr id="26" name="Text 24"/>
          <p:cNvSpPr/>
          <p:nvPr/>
        </p:nvSpPr>
        <p:spPr>
          <a:xfrm>
            <a:off x="5257800" y="2613779"/>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Results &amp; Interpretation</a:t>
            </a:r>
            <a:endParaRPr lang="en-US" sz="1200" dirty="0">
              <a:latin typeface="Ubuntu" panose="020B0504030602030204" pitchFamily="34" charset="0"/>
            </a:endParaRPr>
          </a:p>
        </p:txBody>
      </p:sp>
      <p:sp>
        <p:nvSpPr>
          <p:cNvPr id="27" name="Text 25"/>
          <p:cNvSpPr/>
          <p:nvPr/>
        </p:nvSpPr>
        <p:spPr>
          <a:xfrm>
            <a:off x="5257800" y="2933819"/>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Screenshots • Execution Examples • Results</a:t>
            </a:r>
            <a:endParaRPr lang="en-US" sz="1000" dirty="0">
              <a:latin typeface="Ubuntu" panose="020B0504030602030204" pitchFamily="34" charset="0"/>
            </a:endParaRPr>
          </a:p>
        </p:txBody>
      </p:sp>
      <p:sp>
        <p:nvSpPr>
          <p:cNvPr id="28" name="Shape 26"/>
          <p:cNvSpPr/>
          <p:nvPr/>
        </p:nvSpPr>
        <p:spPr>
          <a:xfrm>
            <a:off x="228600" y="3546467"/>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29" name="Shape 27"/>
          <p:cNvSpPr/>
          <p:nvPr/>
        </p:nvSpPr>
        <p:spPr>
          <a:xfrm>
            <a:off x="228600" y="3546467"/>
            <a:ext cx="502920" cy="868680"/>
          </a:xfrm>
          <a:prstGeom prst="rect">
            <a:avLst/>
          </a:prstGeom>
          <a:solidFill>
            <a:srgbClr val="7B2D8B"/>
          </a:solidFill>
          <a:ln/>
        </p:spPr>
      </p:sp>
      <p:sp>
        <p:nvSpPr>
          <p:cNvPr id="30" name="Text 28"/>
          <p:cNvSpPr/>
          <p:nvPr/>
        </p:nvSpPr>
        <p:spPr>
          <a:xfrm>
            <a:off x="228600" y="3546467"/>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05</a:t>
            </a:r>
            <a:endParaRPr lang="en-US" sz="1400" dirty="0">
              <a:latin typeface="Ubuntu" panose="020B0504030602030204" pitchFamily="34" charset="0"/>
            </a:endParaRPr>
          </a:p>
        </p:txBody>
      </p:sp>
      <p:sp>
        <p:nvSpPr>
          <p:cNvPr id="32" name="Text 30"/>
          <p:cNvSpPr/>
          <p:nvPr/>
        </p:nvSpPr>
        <p:spPr>
          <a:xfrm>
            <a:off x="795528" y="3637907"/>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Code Enhancement</a:t>
            </a:r>
            <a:endParaRPr lang="en-US" sz="1200" dirty="0">
              <a:latin typeface="Ubuntu" panose="020B0504030602030204" pitchFamily="34" charset="0"/>
            </a:endParaRPr>
          </a:p>
        </p:txBody>
      </p:sp>
      <p:sp>
        <p:nvSpPr>
          <p:cNvPr id="33" name="Text 31"/>
          <p:cNvSpPr/>
          <p:nvPr/>
        </p:nvSpPr>
        <p:spPr>
          <a:xfrm>
            <a:off x="795528" y="3957947"/>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pytest • flake8 • Performance Improvements</a:t>
            </a:r>
            <a:endParaRPr lang="en-US" sz="1000" dirty="0">
              <a:latin typeface="Ubuntu" panose="020B0504030602030204" pitchFamily="34" charset="0"/>
            </a:endParaRPr>
          </a:p>
        </p:txBody>
      </p:sp>
      <p:sp>
        <p:nvSpPr>
          <p:cNvPr id="34" name="Shape 32"/>
          <p:cNvSpPr/>
          <p:nvPr/>
        </p:nvSpPr>
        <p:spPr>
          <a:xfrm>
            <a:off x="4690872" y="3546467"/>
            <a:ext cx="4206240" cy="868680"/>
          </a:xfrm>
          <a:prstGeom prst="rect">
            <a:avLst/>
          </a:prstGeom>
          <a:solidFill>
            <a:srgbClr val="FFFFFF"/>
          </a:solidFill>
          <a:ln/>
          <a:effectLst>
            <a:outerShdw blurRad="101600" dist="38100" dir="8100000" algn="bl" rotWithShape="0">
              <a:srgbClr val="000000">
                <a:alpha val="15000"/>
              </a:srgbClr>
            </a:outerShdw>
          </a:effectLst>
        </p:spPr>
      </p:sp>
      <p:sp>
        <p:nvSpPr>
          <p:cNvPr id="35" name="Shape 33"/>
          <p:cNvSpPr/>
          <p:nvPr/>
        </p:nvSpPr>
        <p:spPr>
          <a:xfrm>
            <a:off x="4690872" y="3546467"/>
            <a:ext cx="502920" cy="868680"/>
          </a:xfrm>
          <a:prstGeom prst="rect">
            <a:avLst/>
          </a:prstGeom>
          <a:solidFill>
            <a:srgbClr val="E67E22"/>
          </a:solidFill>
          <a:ln/>
        </p:spPr>
      </p:sp>
      <p:sp>
        <p:nvSpPr>
          <p:cNvPr id="36" name="Text 34"/>
          <p:cNvSpPr/>
          <p:nvPr/>
        </p:nvSpPr>
        <p:spPr>
          <a:xfrm>
            <a:off x="4690872" y="3546467"/>
            <a:ext cx="502920" cy="868680"/>
          </a:xfrm>
          <a:prstGeom prst="rect">
            <a:avLst/>
          </a:prstGeom>
          <a:noFill/>
          <a:ln/>
        </p:spPr>
        <p:txBody>
          <a:bodyPr wrap="square" lIns="0" tIns="0" rIns="0" bIns="0" rtlCol="0" anchor="ctr"/>
          <a:lstStyle/>
          <a:p>
            <a:pPr marL="0" indent="0" algn="ctr">
              <a:buNone/>
            </a:pPr>
            <a:r>
              <a:rPr lang="en-US" sz="1400" b="1" dirty="0">
                <a:solidFill>
                  <a:srgbClr val="FFFFFF"/>
                </a:solidFill>
                <a:latin typeface="Ubuntu" panose="020B0504030602030204" pitchFamily="34" charset="0"/>
                <a:ea typeface="Georgia" pitchFamily="34" charset="-122"/>
                <a:cs typeface="Georgia" pitchFamily="34" charset="-120"/>
              </a:rPr>
              <a:t>06</a:t>
            </a:r>
            <a:endParaRPr lang="en-US" sz="1400" dirty="0">
              <a:latin typeface="Ubuntu" panose="020B0504030602030204" pitchFamily="34" charset="0"/>
            </a:endParaRPr>
          </a:p>
        </p:txBody>
      </p:sp>
      <p:sp>
        <p:nvSpPr>
          <p:cNvPr id="38" name="Text 36"/>
          <p:cNvSpPr/>
          <p:nvPr/>
        </p:nvSpPr>
        <p:spPr>
          <a:xfrm>
            <a:off x="5257800" y="3637907"/>
            <a:ext cx="3474720" cy="274320"/>
          </a:xfrm>
          <a:prstGeom prst="rect">
            <a:avLst/>
          </a:prstGeom>
          <a:noFill/>
          <a:ln/>
        </p:spPr>
        <p:txBody>
          <a:bodyPr wrap="square" lIns="0" tIns="0" rIns="0" bIns="0" rtlCol="0" anchor="ctr"/>
          <a:lstStyle/>
          <a:p>
            <a:pPr marL="0" indent="0">
              <a:buNone/>
            </a:pPr>
            <a:r>
              <a:rPr lang="en-US" sz="1200" b="1" dirty="0">
                <a:solidFill>
                  <a:srgbClr val="2C1810"/>
                </a:solidFill>
                <a:latin typeface="Ubuntu" panose="020B0504030602030204" pitchFamily="34" charset="0"/>
                <a:ea typeface="Georgia" pitchFamily="34" charset="-122"/>
                <a:cs typeface="Georgia" pitchFamily="34" charset="-120"/>
              </a:rPr>
              <a:t>🏁 Conclusion</a:t>
            </a:r>
            <a:endParaRPr lang="en-US" sz="1200" dirty="0">
              <a:latin typeface="Ubuntu" panose="020B0504030602030204" pitchFamily="34" charset="0"/>
            </a:endParaRPr>
          </a:p>
        </p:txBody>
      </p:sp>
      <p:sp>
        <p:nvSpPr>
          <p:cNvPr id="39" name="Text 37"/>
          <p:cNvSpPr/>
          <p:nvPr/>
        </p:nvSpPr>
        <p:spPr>
          <a:xfrm>
            <a:off x="5257800" y="3957947"/>
            <a:ext cx="3474720" cy="384048"/>
          </a:xfrm>
          <a:prstGeom prst="rect">
            <a:avLst/>
          </a:prstGeom>
          <a:noFill/>
          <a:ln/>
        </p:spPr>
        <p:txBody>
          <a:bodyPr wrap="square" lIns="0" tIns="0" rIns="0" bIns="0" rtlCol="0" anchor="ctr"/>
          <a:lstStyle/>
          <a:p>
            <a:pPr marL="0" indent="0">
              <a:buNone/>
            </a:pPr>
            <a:r>
              <a:rPr lang="en-US" sz="1000" i="1" dirty="0">
                <a:solidFill>
                  <a:srgbClr val="5D4037"/>
                </a:solidFill>
                <a:latin typeface="Ubuntu" panose="020B0504030602030204" pitchFamily="34" charset="0"/>
                <a:ea typeface="Calibri" pitchFamily="34" charset="-122"/>
                <a:cs typeface="Calibri" pitchFamily="34" charset="-120"/>
              </a:rPr>
              <a:t>Summary • Difficulties • Areas for Improvement</a:t>
            </a:r>
            <a:endParaRPr lang="en-US" sz="1000" dirty="0">
              <a:latin typeface="Ubuntu" panose="020B0504030602030204" pitchFamily="34" charset="0"/>
            </a:endParaRPr>
          </a:p>
        </p:txBody>
      </p:sp>
      <p:sp>
        <p:nvSpPr>
          <p:cNvPr id="42" name="Text 40"/>
          <p:cNvSpPr/>
          <p:nvPr/>
        </p:nvSpPr>
        <p:spPr>
          <a:xfrm>
            <a:off x="2286000" y="4616315"/>
            <a:ext cx="50292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07</a:t>
            </a:r>
            <a:endParaRPr lang="en-US" sz="1400" dirty="0"/>
          </a:p>
        </p:txBody>
      </p:sp>
      <p:sp>
        <p:nvSpPr>
          <p:cNvPr id="43" name="Text 41"/>
          <p:cNvSpPr/>
          <p:nvPr/>
        </p:nvSpPr>
        <p:spPr>
          <a:xfrm>
            <a:off x="2286000" y="4443984"/>
            <a:ext cx="502920" cy="34747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8P</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 Part 1 : Introduction to Problem</a:t>
            </a:r>
            <a:endParaRPr lang="en-US" sz="2200" dirty="0">
              <a:latin typeface="Ubuntu" panose="020B0504030602030204" pitchFamily="34" charset="0"/>
            </a:endParaRPr>
          </a:p>
        </p:txBody>
      </p:sp>
      <p:sp>
        <p:nvSpPr>
          <p:cNvPr id="6" name="Shape 4"/>
          <p:cNvSpPr/>
          <p:nvPr/>
        </p:nvSpPr>
        <p:spPr>
          <a:xfrm>
            <a:off x="274320" y="868680"/>
            <a:ext cx="8595360" cy="594360"/>
          </a:xfrm>
          <a:prstGeom prst="rect">
            <a:avLst/>
          </a:prstGeom>
          <a:solidFill>
            <a:srgbClr val="FFFFFF">
              <a:alpha val="7000"/>
            </a:srgbClr>
          </a:solidFill>
          <a:ln w="12700">
            <a:solidFill>
              <a:srgbClr val="D4A017"/>
            </a:solidFill>
            <a:prstDash val="solid"/>
          </a:ln>
        </p:spPr>
      </p:sp>
      <p:sp>
        <p:nvSpPr>
          <p:cNvPr id="7" name="Text 5"/>
          <p:cNvSpPr/>
          <p:nvPr/>
        </p:nvSpPr>
        <p:spPr>
          <a:xfrm>
            <a:off x="457200" y="868680"/>
            <a:ext cx="8229600" cy="594360"/>
          </a:xfrm>
          <a:prstGeom prst="rect">
            <a:avLst/>
          </a:prstGeom>
          <a:noFill/>
          <a:ln/>
        </p:spPr>
        <p:txBody>
          <a:bodyPr wrap="square" lIns="0" tIns="0" rIns="0" bIns="0" rtlCol="0" anchor="ctr"/>
          <a:lstStyle/>
          <a:p>
            <a:pPr marL="0" indent="0">
              <a:buNone/>
            </a:pPr>
            <a:r>
              <a:rPr lang="en-US" sz="1300" b="1" dirty="0">
                <a:solidFill>
                  <a:srgbClr val="D4A017"/>
                </a:solidFill>
                <a:latin typeface="Ubuntu" panose="020B0504030602030204" pitchFamily="34" charset="0"/>
                <a:ea typeface="Georgia" pitchFamily="34" charset="-122"/>
                <a:cs typeface="Georgia" pitchFamily="34" charset="-120"/>
              </a:rPr>
              <a:t> Theme: </a:t>
            </a:r>
            <a:r>
              <a:rPr lang="en-US" sz="1300" b="1" dirty="0">
                <a:solidFill>
                  <a:srgbClr val="D4A017"/>
                </a:solidFill>
                <a:latin typeface="Ubuntu" panose="020B0504030602030204" pitchFamily="34" charset="0"/>
                <a:ea typeface="Georgia" pitchFamily="34" charset="-122"/>
                <a:cs typeface="Sakkal Majalla" panose="02000000000000000000" pitchFamily="2" charset="-78"/>
              </a:rPr>
              <a:t>نظام اقتراح الوصفات الجزائرية </a:t>
            </a:r>
            <a:r>
              <a:rPr lang="en-US" sz="1300" b="1" dirty="0">
                <a:solidFill>
                  <a:srgbClr val="D4A017"/>
                </a:solidFill>
                <a:latin typeface="Ubuntu" panose="020B0504030602030204" pitchFamily="34" charset="0"/>
                <a:ea typeface="Georgia" pitchFamily="34" charset="-122"/>
                <a:cs typeface="Georgia" pitchFamily="34" charset="-120"/>
              </a:rPr>
              <a:t>/ Algerian Recipe Recommendation System</a:t>
            </a:r>
            <a:endParaRPr lang="en-US" sz="1300" dirty="0">
              <a:latin typeface="Ubuntu" panose="020B0504030602030204" pitchFamily="34" charset="0"/>
            </a:endParaRPr>
          </a:p>
        </p:txBody>
      </p:sp>
      <p:sp>
        <p:nvSpPr>
          <p:cNvPr id="8" name="Text 6"/>
          <p:cNvSpPr/>
          <p:nvPr/>
        </p:nvSpPr>
        <p:spPr>
          <a:xfrm>
            <a:off x="274320" y="1572768"/>
            <a:ext cx="4572000" cy="320040"/>
          </a:xfrm>
          <a:prstGeom prst="rect">
            <a:avLst/>
          </a:prstGeom>
          <a:noFill/>
          <a:ln/>
        </p:spPr>
        <p:txBody>
          <a:bodyPr wrap="square" lIns="0" tIns="0" rIns="0" bIns="0" rtlCol="0" anchor="ctr"/>
          <a:lstStyle/>
          <a:p>
            <a:pPr marL="0" indent="0">
              <a:buNone/>
            </a:pPr>
            <a:r>
              <a:rPr lang="en-US" sz="1300" b="1" dirty="0">
                <a:solidFill>
                  <a:srgbClr val="C0392B"/>
                </a:solidFill>
                <a:latin typeface="Ubuntu" panose="020B0504030602030204" pitchFamily="34" charset="0"/>
                <a:ea typeface="Georgia" pitchFamily="34" charset="-122"/>
                <a:cs typeface="Georgia" pitchFamily="34" charset="-120"/>
              </a:rPr>
              <a:t>❓ Problem Definition:</a:t>
            </a:r>
            <a:endParaRPr lang="en-US" sz="1300" dirty="0">
              <a:latin typeface="Ubuntu" panose="020B0504030602030204" pitchFamily="34" charset="0"/>
            </a:endParaRPr>
          </a:p>
        </p:txBody>
      </p:sp>
      <p:sp>
        <p:nvSpPr>
          <p:cNvPr id="9" name="Text 7"/>
          <p:cNvSpPr/>
          <p:nvPr/>
        </p:nvSpPr>
        <p:spPr>
          <a:xfrm>
            <a:off x="310896" y="1816490"/>
            <a:ext cx="8595360" cy="688965"/>
          </a:xfrm>
          <a:prstGeom prst="rect">
            <a:avLst/>
          </a:prstGeom>
          <a:noFill/>
          <a:ln/>
        </p:spPr>
        <p:txBody>
          <a:bodyPr wrap="square" lIns="0" tIns="0" rIns="0" bIns="0" rtlCol="0" anchor="ctr"/>
          <a:lstStyle/>
          <a:p>
            <a:pPr marL="0" indent="0" algn="just">
              <a:lnSpc>
                <a:spcPct val="150000"/>
              </a:lnSpc>
              <a:buNone/>
            </a:pPr>
            <a:r>
              <a:rPr lang="fr-FR" sz="1200" dirty="0">
                <a:latin typeface="Ubuntu" panose="020B0504030602030204" pitchFamily="34" charset="0"/>
                <a:ea typeface="Calibri" pitchFamily="34" charset="-122"/>
                <a:cs typeface="Calibri" pitchFamily="34" charset="-120"/>
              </a:rPr>
              <a:t>	</a:t>
            </a:r>
            <a:r>
              <a:rPr lang="en-US" sz="1200" dirty="0">
                <a:latin typeface="Ubuntu" panose="020B0504030602030204" pitchFamily="34" charset="0"/>
                <a:ea typeface="Calibri" pitchFamily="34" charset="-122"/>
                <a:cs typeface="Calibri" pitchFamily="34" charset="-120"/>
              </a:rPr>
              <a:t>Many people have ingredients at home but don't know what recipes to cook. There is no dedicated application for Algerian traditional cuisine that can intelligently suggest recipes based on available ingredients.</a:t>
            </a:r>
            <a:endParaRPr lang="en-US" sz="1200" dirty="0">
              <a:latin typeface="Ubuntu" panose="020B0504030602030204" pitchFamily="34" charset="0"/>
            </a:endParaRPr>
          </a:p>
        </p:txBody>
      </p:sp>
      <p:sp>
        <p:nvSpPr>
          <p:cNvPr id="10" name="Shape 8"/>
          <p:cNvSpPr/>
          <p:nvPr/>
        </p:nvSpPr>
        <p:spPr>
          <a:xfrm>
            <a:off x="228600" y="2606040"/>
            <a:ext cx="2788920" cy="2331720"/>
          </a:xfrm>
          <a:prstGeom prst="rect">
            <a:avLst/>
          </a:prstGeom>
          <a:solidFill>
            <a:srgbClr val="FFFFFF">
              <a:alpha val="7000"/>
            </a:srgbClr>
          </a:solidFill>
          <a:ln w="19050">
            <a:solidFill>
              <a:srgbClr val="C0392B"/>
            </a:solidFill>
            <a:prstDash val="solid"/>
          </a:ln>
        </p:spPr>
      </p:sp>
      <p:sp>
        <p:nvSpPr>
          <p:cNvPr id="11" name="Shape 9"/>
          <p:cNvSpPr/>
          <p:nvPr/>
        </p:nvSpPr>
        <p:spPr>
          <a:xfrm>
            <a:off x="228600" y="2606040"/>
            <a:ext cx="2788920" cy="384048"/>
          </a:xfrm>
          <a:prstGeom prst="rect">
            <a:avLst/>
          </a:prstGeom>
          <a:solidFill>
            <a:srgbClr val="C0392B"/>
          </a:solidFill>
          <a:ln/>
        </p:spPr>
      </p:sp>
      <p:sp>
        <p:nvSpPr>
          <p:cNvPr id="12" name="Text 10"/>
          <p:cNvSpPr/>
          <p:nvPr/>
        </p:nvSpPr>
        <p:spPr>
          <a:xfrm>
            <a:off x="228600" y="2606040"/>
            <a:ext cx="2788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Input Data</a:t>
            </a:r>
            <a:endParaRPr lang="en-US" sz="1200" dirty="0">
              <a:latin typeface="Ubuntu" panose="020B0504030602030204" pitchFamily="34" charset="0"/>
            </a:endParaRPr>
          </a:p>
        </p:txBody>
      </p:sp>
      <p:sp>
        <p:nvSpPr>
          <p:cNvPr id="13" name="Shape 11"/>
          <p:cNvSpPr/>
          <p:nvPr/>
        </p:nvSpPr>
        <p:spPr>
          <a:xfrm>
            <a:off x="338328" y="3090672"/>
            <a:ext cx="146304" cy="146304"/>
          </a:xfrm>
          <a:prstGeom prst="ellipse">
            <a:avLst/>
          </a:prstGeom>
          <a:solidFill>
            <a:srgbClr val="C0392B"/>
          </a:solidFill>
          <a:ln/>
        </p:spPr>
      </p:sp>
      <p:sp>
        <p:nvSpPr>
          <p:cNvPr id="14" name="Text 12"/>
          <p:cNvSpPr/>
          <p:nvPr/>
        </p:nvSpPr>
        <p:spPr>
          <a:xfrm>
            <a:off x="548640" y="3054096"/>
            <a:ext cx="2377440" cy="320040"/>
          </a:xfrm>
          <a:prstGeom prst="rect">
            <a:avLst/>
          </a:prstGeom>
          <a:noFill/>
          <a:ln/>
        </p:spPr>
        <p:txBody>
          <a:bodyPr wrap="square" lIns="0" tIns="0" rIns="0" bIns="0" rtlCol="0" anchor="ctr"/>
          <a:lstStyle/>
          <a:p>
            <a:pPr marL="0" indent="0" algn="just">
              <a:buNone/>
            </a:pPr>
            <a:r>
              <a:rPr lang="en-US" sz="1000" dirty="0">
                <a:latin typeface="Ubuntu" panose="020B0504030602030204" pitchFamily="34" charset="0"/>
                <a:ea typeface="Calibri" pitchFamily="34" charset="-122"/>
                <a:cs typeface="Calibri" pitchFamily="34" charset="-120"/>
              </a:rPr>
              <a:t>List of available ingredients (Arabic/English)</a:t>
            </a:r>
            <a:endParaRPr lang="en-US" sz="1000" dirty="0">
              <a:latin typeface="Ubuntu" panose="020B0504030602030204" pitchFamily="34" charset="0"/>
            </a:endParaRPr>
          </a:p>
        </p:txBody>
      </p:sp>
      <p:sp>
        <p:nvSpPr>
          <p:cNvPr id="15" name="Shape 13"/>
          <p:cNvSpPr/>
          <p:nvPr/>
        </p:nvSpPr>
        <p:spPr>
          <a:xfrm>
            <a:off x="338328" y="3529584"/>
            <a:ext cx="146304" cy="146304"/>
          </a:xfrm>
          <a:prstGeom prst="ellipse">
            <a:avLst/>
          </a:prstGeom>
          <a:solidFill>
            <a:srgbClr val="C0392B"/>
          </a:solidFill>
          <a:ln/>
        </p:spPr>
      </p:sp>
      <p:sp>
        <p:nvSpPr>
          <p:cNvPr id="16" name="Text 14"/>
          <p:cNvSpPr/>
          <p:nvPr/>
        </p:nvSpPr>
        <p:spPr>
          <a:xfrm>
            <a:off x="548640" y="3493008"/>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User authentication credentials</a:t>
            </a:r>
          </a:p>
        </p:txBody>
      </p:sp>
      <p:sp>
        <p:nvSpPr>
          <p:cNvPr id="17" name="Shape 15"/>
          <p:cNvSpPr/>
          <p:nvPr/>
        </p:nvSpPr>
        <p:spPr>
          <a:xfrm>
            <a:off x="338328" y="3968496"/>
            <a:ext cx="146304" cy="146304"/>
          </a:xfrm>
          <a:prstGeom prst="ellipse">
            <a:avLst/>
          </a:prstGeom>
          <a:solidFill>
            <a:srgbClr val="C0392B"/>
          </a:solidFill>
          <a:ln/>
        </p:spPr>
      </p:sp>
      <p:sp>
        <p:nvSpPr>
          <p:cNvPr id="18" name="Text 16"/>
          <p:cNvSpPr/>
          <p:nvPr/>
        </p:nvSpPr>
        <p:spPr>
          <a:xfrm>
            <a:off x="548640" y="3931920"/>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Recipe data (via CSV or manual form)</a:t>
            </a:r>
          </a:p>
        </p:txBody>
      </p:sp>
      <p:sp>
        <p:nvSpPr>
          <p:cNvPr id="19" name="Shape 17"/>
          <p:cNvSpPr/>
          <p:nvPr/>
        </p:nvSpPr>
        <p:spPr>
          <a:xfrm>
            <a:off x="338328" y="4407408"/>
            <a:ext cx="146304" cy="146304"/>
          </a:xfrm>
          <a:prstGeom prst="ellipse">
            <a:avLst/>
          </a:prstGeom>
          <a:solidFill>
            <a:srgbClr val="C0392B"/>
          </a:solidFill>
          <a:ln/>
        </p:spPr>
      </p:sp>
      <p:sp>
        <p:nvSpPr>
          <p:cNvPr id="20" name="Text 18"/>
          <p:cNvSpPr/>
          <p:nvPr/>
        </p:nvSpPr>
        <p:spPr>
          <a:xfrm>
            <a:off x="548640" y="4370832"/>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Rating score (1-5 stars)</a:t>
            </a:r>
          </a:p>
        </p:txBody>
      </p:sp>
      <p:sp>
        <p:nvSpPr>
          <p:cNvPr id="32" name="Shape 30"/>
          <p:cNvSpPr/>
          <p:nvPr/>
        </p:nvSpPr>
        <p:spPr>
          <a:xfrm>
            <a:off x="6208776" y="2606040"/>
            <a:ext cx="2788920" cy="2331720"/>
          </a:xfrm>
          <a:prstGeom prst="rect">
            <a:avLst/>
          </a:prstGeom>
          <a:solidFill>
            <a:srgbClr val="FFFFFF">
              <a:alpha val="7000"/>
            </a:srgbClr>
          </a:solidFill>
          <a:ln w="19050">
            <a:solidFill>
              <a:srgbClr val="1A6B3C"/>
            </a:solidFill>
            <a:prstDash val="solid"/>
          </a:ln>
        </p:spPr>
        <p:txBody>
          <a:bodyPr/>
          <a:lstStyle/>
          <a:p>
            <a:endParaRPr lang="en-US" dirty="0"/>
          </a:p>
        </p:txBody>
      </p:sp>
      <p:sp>
        <p:nvSpPr>
          <p:cNvPr id="33" name="Shape 31"/>
          <p:cNvSpPr/>
          <p:nvPr/>
        </p:nvSpPr>
        <p:spPr>
          <a:xfrm>
            <a:off x="6208776" y="2606040"/>
            <a:ext cx="2788920" cy="384048"/>
          </a:xfrm>
          <a:prstGeom prst="rect">
            <a:avLst/>
          </a:prstGeom>
          <a:solidFill>
            <a:srgbClr val="1A6B3C"/>
          </a:solidFill>
          <a:ln/>
        </p:spPr>
      </p:sp>
      <p:sp>
        <p:nvSpPr>
          <p:cNvPr id="34" name="Text 32"/>
          <p:cNvSpPr/>
          <p:nvPr/>
        </p:nvSpPr>
        <p:spPr>
          <a:xfrm>
            <a:off x="6208776" y="2606040"/>
            <a:ext cx="2788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Hypotheses</a:t>
            </a:r>
            <a:endParaRPr lang="en-US" sz="1200" dirty="0">
              <a:latin typeface="Ubuntu" panose="020B0504030602030204" pitchFamily="34" charset="0"/>
            </a:endParaRPr>
          </a:p>
        </p:txBody>
      </p:sp>
      <p:sp>
        <p:nvSpPr>
          <p:cNvPr id="35" name="Shape 33"/>
          <p:cNvSpPr/>
          <p:nvPr/>
        </p:nvSpPr>
        <p:spPr>
          <a:xfrm>
            <a:off x="6318504" y="3090672"/>
            <a:ext cx="146304" cy="146304"/>
          </a:xfrm>
          <a:prstGeom prst="ellipse">
            <a:avLst/>
          </a:prstGeom>
          <a:solidFill>
            <a:srgbClr val="1A6B3C"/>
          </a:solidFill>
          <a:ln/>
        </p:spPr>
      </p:sp>
      <p:sp>
        <p:nvSpPr>
          <p:cNvPr id="36" name="Text 34"/>
          <p:cNvSpPr/>
          <p:nvPr/>
        </p:nvSpPr>
        <p:spPr>
          <a:xfrm>
            <a:off x="6528816" y="3054096"/>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User has at least 1 ingredient available</a:t>
            </a:r>
          </a:p>
        </p:txBody>
      </p:sp>
      <p:sp>
        <p:nvSpPr>
          <p:cNvPr id="37" name="Shape 35"/>
          <p:cNvSpPr/>
          <p:nvPr/>
        </p:nvSpPr>
        <p:spPr>
          <a:xfrm>
            <a:off x="6318504" y="3529584"/>
            <a:ext cx="146304" cy="146304"/>
          </a:xfrm>
          <a:prstGeom prst="ellipse">
            <a:avLst/>
          </a:prstGeom>
          <a:solidFill>
            <a:srgbClr val="1A6B3C"/>
          </a:solidFill>
          <a:ln/>
        </p:spPr>
      </p:sp>
      <p:sp>
        <p:nvSpPr>
          <p:cNvPr id="38" name="Text 36"/>
          <p:cNvSpPr/>
          <p:nvPr/>
        </p:nvSpPr>
        <p:spPr>
          <a:xfrm>
            <a:off x="6528816" y="3493008"/>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Recipes stored in MySQL database</a:t>
            </a:r>
          </a:p>
        </p:txBody>
      </p:sp>
      <p:sp>
        <p:nvSpPr>
          <p:cNvPr id="39" name="Shape 37"/>
          <p:cNvSpPr/>
          <p:nvPr/>
        </p:nvSpPr>
        <p:spPr>
          <a:xfrm>
            <a:off x="6318504" y="3968496"/>
            <a:ext cx="146304" cy="146304"/>
          </a:xfrm>
          <a:prstGeom prst="ellipse">
            <a:avLst/>
          </a:prstGeom>
          <a:solidFill>
            <a:srgbClr val="1A6B3C"/>
          </a:solidFill>
          <a:ln/>
        </p:spPr>
      </p:sp>
      <p:sp>
        <p:nvSpPr>
          <p:cNvPr id="40" name="Text 38"/>
          <p:cNvSpPr/>
          <p:nvPr/>
        </p:nvSpPr>
        <p:spPr>
          <a:xfrm>
            <a:off x="6528816" y="3931920"/>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AI engine works without internet</a:t>
            </a:r>
          </a:p>
        </p:txBody>
      </p:sp>
      <p:sp>
        <p:nvSpPr>
          <p:cNvPr id="41" name="Shape 39"/>
          <p:cNvSpPr/>
          <p:nvPr/>
        </p:nvSpPr>
        <p:spPr>
          <a:xfrm>
            <a:off x="6318504" y="4407408"/>
            <a:ext cx="146304" cy="146304"/>
          </a:xfrm>
          <a:prstGeom prst="ellipse">
            <a:avLst/>
          </a:prstGeom>
          <a:solidFill>
            <a:srgbClr val="1A6B3C"/>
          </a:solidFill>
          <a:ln/>
        </p:spPr>
      </p:sp>
      <p:sp>
        <p:nvSpPr>
          <p:cNvPr id="42" name="Text 40"/>
          <p:cNvSpPr/>
          <p:nvPr/>
        </p:nvSpPr>
        <p:spPr>
          <a:xfrm>
            <a:off x="6528816" y="4370832"/>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CSV file encoded in UTF-8</a:t>
            </a:r>
          </a:p>
        </p:txBody>
      </p:sp>
      <p:sp>
        <p:nvSpPr>
          <p:cNvPr id="44" name="Shape 19">
            <a:extLst>
              <a:ext uri="{FF2B5EF4-FFF2-40B4-BE49-F238E27FC236}">
                <a16:creationId xmlns:a16="http://schemas.microsoft.com/office/drawing/2014/main" id="{49381CC1-824A-877B-E3B0-EBF4D726A2AE}"/>
              </a:ext>
            </a:extLst>
          </p:cNvPr>
          <p:cNvSpPr/>
          <p:nvPr/>
        </p:nvSpPr>
        <p:spPr>
          <a:xfrm>
            <a:off x="3218688" y="2606040"/>
            <a:ext cx="2788920" cy="2331720"/>
          </a:xfrm>
          <a:prstGeom prst="rect">
            <a:avLst/>
          </a:prstGeom>
          <a:solidFill>
            <a:srgbClr val="FFFFFF">
              <a:alpha val="7000"/>
            </a:srgbClr>
          </a:solidFill>
          <a:ln w="19050">
            <a:solidFill>
              <a:srgbClr val="D4A017"/>
            </a:solidFill>
            <a:prstDash val="solid"/>
          </a:ln>
        </p:spPr>
      </p:sp>
      <p:sp>
        <p:nvSpPr>
          <p:cNvPr id="45" name="Shape 20">
            <a:extLst>
              <a:ext uri="{FF2B5EF4-FFF2-40B4-BE49-F238E27FC236}">
                <a16:creationId xmlns:a16="http://schemas.microsoft.com/office/drawing/2014/main" id="{573E44DD-99F3-D603-7C71-ED225F95A112}"/>
              </a:ext>
            </a:extLst>
          </p:cNvPr>
          <p:cNvSpPr/>
          <p:nvPr/>
        </p:nvSpPr>
        <p:spPr>
          <a:xfrm>
            <a:off x="3218688" y="2606040"/>
            <a:ext cx="2788920" cy="384048"/>
          </a:xfrm>
          <a:prstGeom prst="rect">
            <a:avLst/>
          </a:prstGeom>
          <a:solidFill>
            <a:srgbClr val="D4A017"/>
          </a:solidFill>
          <a:ln/>
        </p:spPr>
      </p:sp>
      <p:sp>
        <p:nvSpPr>
          <p:cNvPr id="46" name="Text 21">
            <a:extLst>
              <a:ext uri="{FF2B5EF4-FFF2-40B4-BE49-F238E27FC236}">
                <a16:creationId xmlns:a16="http://schemas.microsoft.com/office/drawing/2014/main" id="{B9C499E1-B5C0-C4AA-A92F-B261E569AC42}"/>
              </a:ext>
            </a:extLst>
          </p:cNvPr>
          <p:cNvSpPr/>
          <p:nvPr/>
        </p:nvSpPr>
        <p:spPr>
          <a:xfrm>
            <a:off x="3218688" y="2606040"/>
            <a:ext cx="2788920" cy="384048"/>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 Output Data</a:t>
            </a:r>
            <a:endParaRPr lang="en-US" sz="1200" dirty="0"/>
          </a:p>
        </p:txBody>
      </p:sp>
      <p:sp>
        <p:nvSpPr>
          <p:cNvPr id="47" name="Shape 22">
            <a:extLst>
              <a:ext uri="{FF2B5EF4-FFF2-40B4-BE49-F238E27FC236}">
                <a16:creationId xmlns:a16="http://schemas.microsoft.com/office/drawing/2014/main" id="{D9567509-E834-D935-E469-7DBFC434BC7D}"/>
              </a:ext>
            </a:extLst>
          </p:cNvPr>
          <p:cNvSpPr/>
          <p:nvPr/>
        </p:nvSpPr>
        <p:spPr>
          <a:xfrm>
            <a:off x="3328416" y="3090672"/>
            <a:ext cx="146304" cy="146304"/>
          </a:xfrm>
          <a:prstGeom prst="ellipse">
            <a:avLst/>
          </a:prstGeom>
          <a:solidFill>
            <a:srgbClr val="D4A017"/>
          </a:solidFill>
          <a:ln/>
        </p:spPr>
      </p:sp>
      <p:sp>
        <p:nvSpPr>
          <p:cNvPr id="48" name="Text 23">
            <a:extLst>
              <a:ext uri="{FF2B5EF4-FFF2-40B4-BE49-F238E27FC236}">
                <a16:creationId xmlns:a16="http://schemas.microsoft.com/office/drawing/2014/main" id="{9EFB0026-D14D-24BC-EDC0-CD20DB783EAD}"/>
              </a:ext>
            </a:extLst>
          </p:cNvPr>
          <p:cNvSpPr/>
          <p:nvPr/>
        </p:nvSpPr>
        <p:spPr>
          <a:xfrm>
            <a:off x="3538728" y="3054096"/>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Suggested recipes sorted by match %</a:t>
            </a:r>
          </a:p>
        </p:txBody>
      </p:sp>
      <p:sp>
        <p:nvSpPr>
          <p:cNvPr id="49" name="Shape 24">
            <a:extLst>
              <a:ext uri="{FF2B5EF4-FFF2-40B4-BE49-F238E27FC236}">
                <a16:creationId xmlns:a16="http://schemas.microsoft.com/office/drawing/2014/main" id="{B7B21801-EC6D-3A6F-00DE-576E04CD7C8F}"/>
              </a:ext>
            </a:extLst>
          </p:cNvPr>
          <p:cNvSpPr/>
          <p:nvPr/>
        </p:nvSpPr>
        <p:spPr>
          <a:xfrm>
            <a:off x="3328416" y="3529584"/>
            <a:ext cx="146304" cy="146304"/>
          </a:xfrm>
          <a:prstGeom prst="ellipse">
            <a:avLst/>
          </a:prstGeom>
          <a:solidFill>
            <a:srgbClr val="D4A017"/>
          </a:solidFill>
          <a:ln/>
        </p:spPr>
      </p:sp>
      <p:sp>
        <p:nvSpPr>
          <p:cNvPr id="50" name="Text 25">
            <a:extLst>
              <a:ext uri="{FF2B5EF4-FFF2-40B4-BE49-F238E27FC236}">
                <a16:creationId xmlns:a16="http://schemas.microsoft.com/office/drawing/2014/main" id="{5B305F69-D2A5-A5F2-59BF-76C7ED8FF0B8}"/>
              </a:ext>
            </a:extLst>
          </p:cNvPr>
          <p:cNvSpPr/>
          <p:nvPr/>
        </p:nvSpPr>
        <p:spPr>
          <a:xfrm>
            <a:off x="3538728" y="3493008"/>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Missing ingredients for each recipe</a:t>
            </a:r>
          </a:p>
        </p:txBody>
      </p:sp>
      <p:sp>
        <p:nvSpPr>
          <p:cNvPr id="51" name="Shape 26">
            <a:extLst>
              <a:ext uri="{FF2B5EF4-FFF2-40B4-BE49-F238E27FC236}">
                <a16:creationId xmlns:a16="http://schemas.microsoft.com/office/drawing/2014/main" id="{FB06CFFA-A9A4-66EE-DAD7-ABEE21F64405}"/>
              </a:ext>
            </a:extLst>
          </p:cNvPr>
          <p:cNvSpPr/>
          <p:nvPr/>
        </p:nvSpPr>
        <p:spPr>
          <a:xfrm>
            <a:off x="3328416" y="3968496"/>
            <a:ext cx="146304" cy="146304"/>
          </a:xfrm>
          <a:prstGeom prst="ellipse">
            <a:avLst/>
          </a:prstGeom>
          <a:solidFill>
            <a:srgbClr val="D4A017"/>
          </a:solidFill>
          <a:ln/>
        </p:spPr>
      </p:sp>
      <p:sp>
        <p:nvSpPr>
          <p:cNvPr id="52" name="Text 27">
            <a:extLst>
              <a:ext uri="{FF2B5EF4-FFF2-40B4-BE49-F238E27FC236}">
                <a16:creationId xmlns:a16="http://schemas.microsoft.com/office/drawing/2014/main" id="{DE1B043C-6C77-402C-8DDA-34E6AE42189B}"/>
              </a:ext>
            </a:extLst>
          </p:cNvPr>
          <p:cNvSpPr/>
          <p:nvPr/>
        </p:nvSpPr>
        <p:spPr>
          <a:xfrm>
            <a:off x="3538728" y="3931920"/>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Recipe details (ingredients, preparation steps)</a:t>
            </a:r>
          </a:p>
        </p:txBody>
      </p:sp>
      <p:sp>
        <p:nvSpPr>
          <p:cNvPr id="53" name="Shape 28">
            <a:extLst>
              <a:ext uri="{FF2B5EF4-FFF2-40B4-BE49-F238E27FC236}">
                <a16:creationId xmlns:a16="http://schemas.microsoft.com/office/drawing/2014/main" id="{1933ABEB-C13B-62B6-9D7A-176D49240167}"/>
              </a:ext>
            </a:extLst>
          </p:cNvPr>
          <p:cNvSpPr/>
          <p:nvPr/>
        </p:nvSpPr>
        <p:spPr>
          <a:xfrm>
            <a:off x="3328416" y="4407408"/>
            <a:ext cx="146304" cy="146304"/>
          </a:xfrm>
          <a:prstGeom prst="ellipse">
            <a:avLst/>
          </a:prstGeom>
          <a:solidFill>
            <a:srgbClr val="D4A017"/>
          </a:solidFill>
          <a:ln/>
        </p:spPr>
      </p:sp>
      <p:sp>
        <p:nvSpPr>
          <p:cNvPr id="54" name="Text 29">
            <a:extLst>
              <a:ext uri="{FF2B5EF4-FFF2-40B4-BE49-F238E27FC236}">
                <a16:creationId xmlns:a16="http://schemas.microsoft.com/office/drawing/2014/main" id="{4AD70D44-36B4-6D41-B55B-32566B4AB87E}"/>
              </a:ext>
            </a:extLst>
          </p:cNvPr>
          <p:cNvSpPr/>
          <p:nvPr/>
        </p:nvSpPr>
        <p:spPr>
          <a:xfrm>
            <a:off x="3538728" y="4370832"/>
            <a:ext cx="2377440" cy="320040"/>
          </a:xfrm>
          <a:prstGeom prst="rect">
            <a:avLst/>
          </a:prstGeom>
          <a:noFill/>
          <a:ln/>
        </p:spPr>
        <p:txBody>
          <a:bodyPr wrap="square" lIns="0" tIns="0" rIns="0" bIns="0" rtlCol="0" anchor="ctr"/>
          <a:lstStyle/>
          <a:p>
            <a:pPr algn="just"/>
            <a:r>
              <a:rPr lang="en-US" sz="1000" dirty="0">
                <a:latin typeface="Ubuntu" panose="020B0504030602030204" pitchFamily="34" charset="0"/>
                <a:ea typeface="Calibri" pitchFamily="34" charset="-122"/>
                <a:cs typeface="Calibri" pitchFamily="34" charset="-120"/>
              </a:rPr>
              <a:t>AI similarity score per recipe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 Part 2 : Program Design: Flowchart</a:t>
            </a:r>
            <a:endParaRPr lang="en-US" sz="2200" dirty="0">
              <a:latin typeface="Ubuntu" panose="020B0504030602030204" pitchFamily="34" charset="0"/>
            </a:endParaRPr>
          </a:p>
        </p:txBody>
      </p:sp>
      <p:sp>
        <p:nvSpPr>
          <p:cNvPr id="6" name="Shape 4"/>
          <p:cNvSpPr/>
          <p:nvPr/>
        </p:nvSpPr>
        <p:spPr>
          <a:xfrm>
            <a:off x="365760" y="896112"/>
            <a:ext cx="2926080" cy="384048"/>
          </a:xfrm>
          <a:prstGeom prst="ellipse">
            <a:avLst/>
          </a:prstGeom>
          <a:solidFill>
            <a:srgbClr val="C0392B"/>
          </a:solidFill>
          <a:ln/>
        </p:spPr>
      </p:sp>
      <p:sp>
        <p:nvSpPr>
          <p:cNvPr id="7" name="Text 5"/>
          <p:cNvSpPr/>
          <p:nvPr/>
        </p:nvSpPr>
        <p:spPr>
          <a:xfrm>
            <a:off x="365760" y="896112"/>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 START</a:t>
            </a:r>
            <a:endParaRPr lang="en-US" sz="1100" dirty="0">
              <a:latin typeface="Ubuntu" panose="020B0504030602030204" pitchFamily="34" charset="0"/>
            </a:endParaRPr>
          </a:p>
        </p:txBody>
      </p:sp>
      <p:sp>
        <p:nvSpPr>
          <p:cNvPr id="8" name="Shape 6"/>
          <p:cNvSpPr/>
          <p:nvPr/>
        </p:nvSpPr>
        <p:spPr>
          <a:xfrm>
            <a:off x="1828800" y="1280160"/>
            <a:ext cx="0" cy="91440"/>
          </a:xfrm>
          <a:prstGeom prst="line">
            <a:avLst/>
          </a:prstGeom>
          <a:noFill/>
          <a:ln w="19050">
            <a:solidFill>
              <a:srgbClr val="C0392B"/>
            </a:solidFill>
            <a:prstDash val="solid"/>
          </a:ln>
        </p:spPr>
      </p:sp>
      <p:sp>
        <p:nvSpPr>
          <p:cNvPr id="9" name="Shape 7"/>
          <p:cNvSpPr/>
          <p:nvPr/>
        </p:nvSpPr>
        <p:spPr>
          <a:xfrm>
            <a:off x="365760" y="1371600"/>
            <a:ext cx="2926080" cy="384048"/>
          </a:xfrm>
          <a:prstGeom prst="rect">
            <a:avLst/>
          </a:prstGeom>
          <a:solidFill>
            <a:srgbClr val="15618A">
              <a:alpha val="85000"/>
            </a:srgbClr>
          </a:solidFill>
          <a:ln/>
        </p:spPr>
      </p:sp>
      <p:sp>
        <p:nvSpPr>
          <p:cNvPr id="10" name="Text 8"/>
          <p:cNvSpPr/>
          <p:nvPr/>
        </p:nvSpPr>
        <p:spPr>
          <a:xfrm>
            <a:off x="365760" y="1371600"/>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User enters ingredients</a:t>
            </a:r>
            <a:endParaRPr lang="en-US" sz="1100" dirty="0">
              <a:latin typeface="Ubuntu" panose="020B0504030602030204" pitchFamily="34" charset="0"/>
            </a:endParaRPr>
          </a:p>
        </p:txBody>
      </p:sp>
      <p:sp>
        <p:nvSpPr>
          <p:cNvPr id="11" name="Shape 9"/>
          <p:cNvSpPr/>
          <p:nvPr/>
        </p:nvSpPr>
        <p:spPr>
          <a:xfrm>
            <a:off x="1828800" y="1755648"/>
            <a:ext cx="0" cy="91440"/>
          </a:xfrm>
          <a:prstGeom prst="line">
            <a:avLst/>
          </a:prstGeom>
          <a:noFill/>
          <a:ln w="19050">
            <a:solidFill>
              <a:srgbClr val="15618A"/>
            </a:solidFill>
            <a:prstDash val="solid"/>
          </a:ln>
        </p:spPr>
      </p:sp>
      <p:sp>
        <p:nvSpPr>
          <p:cNvPr id="12" name="Shape 10"/>
          <p:cNvSpPr/>
          <p:nvPr/>
        </p:nvSpPr>
        <p:spPr>
          <a:xfrm>
            <a:off x="365760" y="1847088"/>
            <a:ext cx="2926080" cy="384048"/>
          </a:xfrm>
          <a:prstGeom prst="rect">
            <a:avLst/>
          </a:prstGeom>
          <a:solidFill>
            <a:srgbClr val="D4A017">
              <a:alpha val="80000"/>
            </a:srgbClr>
          </a:solidFill>
          <a:ln w="19050">
            <a:solidFill>
              <a:srgbClr val="D4A017"/>
            </a:solidFill>
            <a:prstDash val="solid"/>
          </a:ln>
        </p:spPr>
      </p:sp>
      <p:sp>
        <p:nvSpPr>
          <p:cNvPr id="13" name="Text 11"/>
          <p:cNvSpPr/>
          <p:nvPr/>
        </p:nvSpPr>
        <p:spPr>
          <a:xfrm>
            <a:off x="365760" y="1847088"/>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Logged in?</a:t>
            </a:r>
            <a:endParaRPr lang="en-US" sz="1100" dirty="0">
              <a:latin typeface="Ubuntu" panose="020B0504030602030204" pitchFamily="34" charset="0"/>
            </a:endParaRPr>
          </a:p>
        </p:txBody>
      </p:sp>
      <p:sp>
        <p:nvSpPr>
          <p:cNvPr id="14" name="Shape 12"/>
          <p:cNvSpPr/>
          <p:nvPr/>
        </p:nvSpPr>
        <p:spPr>
          <a:xfrm>
            <a:off x="1828800" y="2231136"/>
            <a:ext cx="0" cy="91440"/>
          </a:xfrm>
          <a:prstGeom prst="line">
            <a:avLst/>
          </a:prstGeom>
          <a:noFill/>
          <a:ln w="19050">
            <a:solidFill>
              <a:srgbClr val="D4A017"/>
            </a:solidFill>
            <a:prstDash val="solid"/>
          </a:ln>
        </p:spPr>
      </p:sp>
      <p:sp>
        <p:nvSpPr>
          <p:cNvPr id="15" name="Text 13"/>
          <p:cNvSpPr/>
          <p:nvPr/>
        </p:nvSpPr>
        <p:spPr>
          <a:xfrm>
            <a:off x="3337560" y="1920240"/>
            <a:ext cx="457200" cy="228600"/>
          </a:xfrm>
          <a:prstGeom prst="rect">
            <a:avLst/>
          </a:prstGeom>
          <a:noFill/>
          <a:ln/>
        </p:spPr>
        <p:txBody>
          <a:bodyPr wrap="square" lIns="0" tIns="0" rIns="0" bIns="0" rtlCol="0" anchor="ctr"/>
          <a:lstStyle/>
          <a:p>
            <a:pPr marL="0" indent="0">
              <a:buNone/>
            </a:pPr>
            <a:r>
              <a:rPr lang="en-US" sz="900" b="1" dirty="0">
                <a:solidFill>
                  <a:srgbClr val="C0392B"/>
                </a:solidFill>
                <a:latin typeface="Ubuntu" panose="020B0504030602030204" pitchFamily="34" charset="0"/>
                <a:ea typeface="Calibri" pitchFamily="34" charset="-122"/>
                <a:cs typeface="Calibri" pitchFamily="34" charset="-120"/>
              </a:rPr>
              <a:t>No →</a:t>
            </a:r>
            <a:endParaRPr lang="en-US" sz="900" dirty="0">
              <a:latin typeface="Ubuntu" panose="020B0504030602030204" pitchFamily="34" charset="0"/>
            </a:endParaRPr>
          </a:p>
        </p:txBody>
      </p:sp>
      <p:sp>
        <p:nvSpPr>
          <p:cNvPr id="16" name="Shape 14"/>
          <p:cNvSpPr/>
          <p:nvPr/>
        </p:nvSpPr>
        <p:spPr>
          <a:xfrm>
            <a:off x="3291840" y="2039112"/>
            <a:ext cx="457200" cy="0"/>
          </a:xfrm>
          <a:prstGeom prst="line">
            <a:avLst/>
          </a:prstGeom>
          <a:noFill/>
          <a:ln w="19050">
            <a:solidFill>
              <a:srgbClr val="C0392B"/>
            </a:solidFill>
            <a:prstDash val="solid"/>
          </a:ln>
        </p:spPr>
      </p:sp>
      <p:sp>
        <p:nvSpPr>
          <p:cNvPr id="17" name="Text 15"/>
          <p:cNvSpPr/>
          <p:nvPr/>
        </p:nvSpPr>
        <p:spPr>
          <a:xfrm>
            <a:off x="1371600" y="2240280"/>
            <a:ext cx="640080" cy="164592"/>
          </a:xfrm>
          <a:prstGeom prst="rect">
            <a:avLst/>
          </a:prstGeom>
          <a:noFill/>
          <a:ln/>
        </p:spPr>
        <p:txBody>
          <a:bodyPr wrap="square" lIns="0" tIns="0" rIns="0" bIns="0" rtlCol="0" anchor="ctr"/>
          <a:lstStyle/>
          <a:p>
            <a:pPr marL="0" indent="0">
              <a:buNone/>
            </a:pPr>
            <a:r>
              <a:rPr lang="en-US" sz="900" b="1" dirty="0">
                <a:solidFill>
                  <a:srgbClr val="1A6B3C"/>
                </a:solidFill>
                <a:latin typeface="Ubuntu" panose="020B0504030602030204" pitchFamily="34" charset="0"/>
                <a:ea typeface="Calibri" pitchFamily="34" charset="-122"/>
                <a:cs typeface="Calibri" pitchFamily="34" charset="-120"/>
              </a:rPr>
              <a:t>Yes ↓</a:t>
            </a:r>
            <a:endParaRPr lang="en-US" sz="900" dirty="0">
              <a:latin typeface="Ubuntu" panose="020B0504030602030204" pitchFamily="34" charset="0"/>
            </a:endParaRPr>
          </a:p>
        </p:txBody>
      </p:sp>
      <p:sp>
        <p:nvSpPr>
          <p:cNvPr id="18" name="Shape 16"/>
          <p:cNvSpPr/>
          <p:nvPr/>
        </p:nvSpPr>
        <p:spPr>
          <a:xfrm>
            <a:off x="365760" y="2322576"/>
            <a:ext cx="2926080" cy="384048"/>
          </a:xfrm>
          <a:prstGeom prst="rect">
            <a:avLst/>
          </a:prstGeom>
          <a:solidFill>
            <a:srgbClr val="922B21">
              <a:alpha val="70000"/>
            </a:srgbClr>
          </a:solidFill>
          <a:ln/>
        </p:spPr>
      </p:sp>
      <p:sp>
        <p:nvSpPr>
          <p:cNvPr id="19" name="Text 17"/>
          <p:cNvSpPr/>
          <p:nvPr/>
        </p:nvSpPr>
        <p:spPr>
          <a:xfrm>
            <a:off x="365760" y="2322576"/>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Redirect to Login</a:t>
            </a:r>
            <a:endParaRPr lang="en-US" sz="1100" dirty="0">
              <a:latin typeface="Ubuntu" panose="020B0504030602030204" pitchFamily="34" charset="0"/>
            </a:endParaRPr>
          </a:p>
        </p:txBody>
      </p:sp>
      <p:sp>
        <p:nvSpPr>
          <p:cNvPr id="20" name="Shape 18"/>
          <p:cNvSpPr/>
          <p:nvPr/>
        </p:nvSpPr>
        <p:spPr>
          <a:xfrm>
            <a:off x="1828800" y="2706624"/>
            <a:ext cx="0" cy="91440"/>
          </a:xfrm>
          <a:prstGeom prst="line">
            <a:avLst/>
          </a:prstGeom>
          <a:noFill/>
          <a:ln w="19050">
            <a:solidFill>
              <a:srgbClr val="922B21"/>
            </a:solidFill>
            <a:prstDash val="solid"/>
          </a:ln>
        </p:spPr>
      </p:sp>
      <p:sp>
        <p:nvSpPr>
          <p:cNvPr id="21" name="Shape 19"/>
          <p:cNvSpPr/>
          <p:nvPr/>
        </p:nvSpPr>
        <p:spPr>
          <a:xfrm>
            <a:off x="365760" y="2798064"/>
            <a:ext cx="2926080" cy="384048"/>
          </a:xfrm>
          <a:prstGeom prst="rect">
            <a:avLst/>
          </a:prstGeom>
          <a:solidFill>
            <a:srgbClr val="7B2D8B">
              <a:alpha val="85000"/>
            </a:srgbClr>
          </a:solidFill>
          <a:ln/>
        </p:spPr>
      </p:sp>
      <p:sp>
        <p:nvSpPr>
          <p:cNvPr id="22" name="Text 20"/>
          <p:cNvSpPr/>
          <p:nvPr/>
        </p:nvSpPr>
        <p:spPr>
          <a:xfrm>
            <a:off x="365760" y="2798064"/>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AI Engine processes ingredients</a:t>
            </a:r>
            <a:endParaRPr lang="en-US" sz="1100" dirty="0">
              <a:latin typeface="Ubuntu" panose="020B0504030602030204" pitchFamily="34" charset="0"/>
            </a:endParaRPr>
          </a:p>
        </p:txBody>
      </p:sp>
      <p:sp>
        <p:nvSpPr>
          <p:cNvPr id="23" name="Shape 21"/>
          <p:cNvSpPr/>
          <p:nvPr/>
        </p:nvSpPr>
        <p:spPr>
          <a:xfrm>
            <a:off x="1828800" y="3182112"/>
            <a:ext cx="0" cy="91440"/>
          </a:xfrm>
          <a:prstGeom prst="line">
            <a:avLst/>
          </a:prstGeom>
          <a:noFill/>
          <a:ln w="19050">
            <a:solidFill>
              <a:srgbClr val="7B2D8B"/>
            </a:solidFill>
            <a:prstDash val="solid"/>
          </a:ln>
        </p:spPr>
      </p:sp>
      <p:sp>
        <p:nvSpPr>
          <p:cNvPr id="24" name="Shape 22"/>
          <p:cNvSpPr/>
          <p:nvPr/>
        </p:nvSpPr>
        <p:spPr>
          <a:xfrm>
            <a:off x="365760" y="3273552"/>
            <a:ext cx="2926080" cy="384048"/>
          </a:xfrm>
          <a:prstGeom prst="rect">
            <a:avLst/>
          </a:prstGeom>
          <a:solidFill>
            <a:srgbClr val="1A6B3C">
              <a:alpha val="85000"/>
            </a:srgbClr>
          </a:solidFill>
          <a:ln/>
        </p:spPr>
      </p:sp>
      <p:sp>
        <p:nvSpPr>
          <p:cNvPr id="25" name="Text 23"/>
          <p:cNvSpPr/>
          <p:nvPr/>
        </p:nvSpPr>
        <p:spPr>
          <a:xfrm>
            <a:off x="365760" y="3273552"/>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Calculate match % for each recipe</a:t>
            </a:r>
            <a:endParaRPr lang="en-US" sz="1100" dirty="0">
              <a:latin typeface="Ubuntu" panose="020B0504030602030204" pitchFamily="34" charset="0"/>
            </a:endParaRPr>
          </a:p>
        </p:txBody>
      </p:sp>
      <p:sp>
        <p:nvSpPr>
          <p:cNvPr id="26" name="Shape 24"/>
          <p:cNvSpPr/>
          <p:nvPr/>
        </p:nvSpPr>
        <p:spPr>
          <a:xfrm>
            <a:off x="1828800" y="3657600"/>
            <a:ext cx="0" cy="91440"/>
          </a:xfrm>
          <a:prstGeom prst="line">
            <a:avLst/>
          </a:prstGeom>
          <a:noFill/>
          <a:ln w="19050">
            <a:solidFill>
              <a:srgbClr val="1A6B3C"/>
            </a:solidFill>
            <a:prstDash val="solid"/>
          </a:ln>
        </p:spPr>
      </p:sp>
      <p:sp>
        <p:nvSpPr>
          <p:cNvPr id="27" name="Shape 25"/>
          <p:cNvSpPr/>
          <p:nvPr/>
        </p:nvSpPr>
        <p:spPr>
          <a:xfrm>
            <a:off x="365760" y="3749040"/>
            <a:ext cx="2926080" cy="384048"/>
          </a:xfrm>
          <a:prstGeom prst="rect">
            <a:avLst/>
          </a:prstGeom>
          <a:solidFill>
            <a:srgbClr val="C0392B">
              <a:alpha val="85000"/>
            </a:srgbClr>
          </a:solidFill>
          <a:ln/>
        </p:spPr>
      </p:sp>
      <p:sp>
        <p:nvSpPr>
          <p:cNvPr id="28" name="Text 26"/>
          <p:cNvSpPr/>
          <p:nvPr/>
        </p:nvSpPr>
        <p:spPr>
          <a:xfrm>
            <a:off x="365760" y="3749040"/>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Sort &amp; return top 10 results</a:t>
            </a:r>
            <a:endParaRPr lang="en-US" sz="1100" dirty="0">
              <a:latin typeface="Ubuntu" panose="020B0504030602030204" pitchFamily="34" charset="0"/>
            </a:endParaRPr>
          </a:p>
        </p:txBody>
      </p:sp>
      <p:sp>
        <p:nvSpPr>
          <p:cNvPr id="29" name="Shape 27"/>
          <p:cNvSpPr/>
          <p:nvPr/>
        </p:nvSpPr>
        <p:spPr>
          <a:xfrm>
            <a:off x="1828800" y="4133088"/>
            <a:ext cx="0" cy="91440"/>
          </a:xfrm>
          <a:prstGeom prst="line">
            <a:avLst/>
          </a:prstGeom>
          <a:noFill/>
          <a:ln w="19050">
            <a:solidFill>
              <a:srgbClr val="C0392B"/>
            </a:solidFill>
            <a:prstDash val="solid"/>
          </a:ln>
        </p:spPr>
      </p:sp>
      <p:sp>
        <p:nvSpPr>
          <p:cNvPr id="30" name="Shape 28"/>
          <p:cNvSpPr/>
          <p:nvPr/>
        </p:nvSpPr>
        <p:spPr>
          <a:xfrm>
            <a:off x="365760" y="4224528"/>
            <a:ext cx="2926080" cy="384048"/>
          </a:xfrm>
          <a:prstGeom prst="rect">
            <a:avLst/>
          </a:prstGeom>
          <a:solidFill>
            <a:srgbClr val="15618A">
              <a:alpha val="85000"/>
            </a:srgbClr>
          </a:solidFill>
          <a:ln/>
        </p:spPr>
      </p:sp>
      <p:sp>
        <p:nvSpPr>
          <p:cNvPr id="31" name="Text 29"/>
          <p:cNvSpPr/>
          <p:nvPr/>
        </p:nvSpPr>
        <p:spPr>
          <a:xfrm>
            <a:off x="365760" y="4224528"/>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Display recipe cards</a:t>
            </a:r>
            <a:endParaRPr lang="en-US" sz="1100" dirty="0">
              <a:latin typeface="Ubuntu" panose="020B0504030602030204" pitchFamily="34" charset="0"/>
            </a:endParaRPr>
          </a:p>
        </p:txBody>
      </p:sp>
      <p:sp>
        <p:nvSpPr>
          <p:cNvPr id="32" name="Shape 30"/>
          <p:cNvSpPr/>
          <p:nvPr/>
        </p:nvSpPr>
        <p:spPr>
          <a:xfrm>
            <a:off x="1828800" y="4608576"/>
            <a:ext cx="0" cy="91440"/>
          </a:xfrm>
          <a:prstGeom prst="line">
            <a:avLst/>
          </a:prstGeom>
          <a:noFill/>
          <a:ln w="19050">
            <a:solidFill>
              <a:srgbClr val="15618A"/>
            </a:solidFill>
            <a:prstDash val="solid"/>
          </a:ln>
        </p:spPr>
      </p:sp>
      <p:sp>
        <p:nvSpPr>
          <p:cNvPr id="33" name="Shape 31"/>
          <p:cNvSpPr/>
          <p:nvPr/>
        </p:nvSpPr>
        <p:spPr>
          <a:xfrm>
            <a:off x="365760" y="4700016"/>
            <a:ext cx="2926080" cy="384048"/>
          </a:xfrm>
          <a:prstGeom prst="ellipse">
            <a:avLst/>
          </a:prstGeom>
          <a:solidFill>
            <a:srgbClr val="922B21"/>
          </a:solidFill>
          <a:ln/>
        </p:spPr>
      </p:sp>
      <p:sp>
        <p:nvSpPr>
          <p:cNvPr id="34" name="Text 32"/>
          <p:cNvSpPr/>
          <p:nvPr/>
        </p:nvSpPr>
        <p:spPr>
          <a:xfrm>
            <a:off x="365760" y="4700016"/>
            <a:ext cx="2926080" cy="384048"/>
          </a:xfrm>
          <a:prstGeom prst="rect">
            <a:avLst/>
          </a:prstGeom>
          <a:noFill/>
          <a:ln/>
        </p:spPr>
        <p:txBody>
          <a:bodyPr wrap="square" lIns="0" tIns="0" rIns="0" bIns="0" rtlCol="0" anchor="ctr"/>
          <a:lstStyle/>
          <a:p>
            <a:pPr marL="0" indent="0" algn="ctr">
              <a:buNone/>
            </a:pPr>
            <a:r>
              <a:rPr lang="en-US" sz="1100" b="1" dirty="0">
                <a:solidFill>
                  <a:srgbClr val="FFFFFF"/>
                </a:solidFill>
                <a:latin typeface="Ubuntu" panose="020B0504030602030204" pitchFamily="34" charset="0"/>
                <a:ea typeface="Calibri" pitchFamily="34" charset="-122"/>
                <a:cs typeface="Calibri" pitchFamily="34" charset="-120"/>
              </a:rPr>
              <a:t>🔴 END</a:t>
            </a:r>
            <a:endParaRPr lang="en-US" sz="1100" dirty="0">
              <a:latin typeface="Ubuntu" panose="020B0504030602030204" pitchFamily="34" charset="0"/>
            </a:endParaRPr>
          </a:p>
        </p:txBody>
      </p:sp>
      <p:sp>
        <p:nvSpPr>
          <p:cNvPr id="35" name="Shape 33"/>
          <p:cNvSpPr/>
          <p:nvPr/>
        </p:nvSpPr>
        <p:spPr>
          <a:xfrm>
            <a:off x="3657600" y="1865376"/>
            <a:ext cx="2286000" cy="384048"/>
          </a:xfrm>
          <a:prstGeom prst="rect">
            <a:avLst/>
          </a:prstGeom>
          <a:solidFill>
            <a:srgbClr val="922B21">
              <a:alpha val="80000"/>
            </a:srgbClr>
          </a:solidFill>
          <a:ln w="12700">
            <a:solidFill>
              <a:srgbClr val="C0392B"/>
            </a:solidFill>
            <a:prstDash val="solid"/>
          </a:ln>
        </p:spPr>
      </p:sp>
      <p:sp>
        <p:nvSpPr>
          <p:cNvPr id="36" name="Text 34"/>
          <p:cNvSpPr/>
          <p:nvPr/>
        </p:nvSpPr>
        <p:spPr>
          <a:xfrm>
            <a:off x="3657600" y="1865376"/>
            <a:ext cx="2286000" cy="384048"/>
          </a:xfrm>
          <a:prstGeom prst="rect">
            <a:avLst/>
          </a:prstGeom>
          <a:noFill/>
          <a:ln/>
        </p:spPr>
        <p:txBody>
          <a:bodyPr wrap="square" lIns="0" tIns="0" rIns="0" bIns="0" rtlCol="0" anchor="ctr"/>
          <a:lstStyle/>
          <a:p>
            <a:pPr marL="0" indent="0" algn="ctr">
              <a:buNone/>
            </a:pPr>
            <a:r>
              <a:rPr lang="en-US" sz="1000" b="1" dirty="0">
                <a:solidFill>
                  <a:srgbClr val="C0392B"/>
                </a:solidFill>
                <a:latin typeface="Ubuntu" panose="020B0504030602030204" pitchFamily="34" charset="0"/>
                <a:ea typeface="Calibri" pitchFamily="34" charset="-122"/>
                <a:cs typeface="Calibri" pitchFamily="34" charset="-120"/>
              </a:rPr>
              <a:t>🔐 Redirect to Login</a:t>
            </a:r>
            <a:endParaRPr lang="en-US" sz="1000" dirty="0">
              <a:latin typeface="Ubuntu" panose="020B0504030602030204" pitchFamily="34" charset="0"/>
            </a:endParaRPr>
          </a:p>
        </p:txBody>
      </p:sp>
      <p:sp>
        <p:nvSpPr>
          <p:cNvPr id="37" name="Shape 35"/>
          <p:cNvSpPr/>
          <p:nvPr/>
        </p:nvSpPr>
        <p:spPr>
          <a:xfrm>
            <a:off x="3474720" y="868680"/>
            <a:ext cx="5486400" cy="4160520"/>
          </a:xfrm>
          <a:prstGeom prst="rect">
            <a:avLst/>
          </a:prstGeom>
          <a:solidFill>
            <a:srgbClr val="FFFFFF"/>
          </a:solidFill>
          <a:ln/>
          <a:effectLst>
            <a:outerShdw blurRad="101600" dist="38100" dir="8100000" algn="bl" rotWithShape="0">
              <a:srgbClr val="000000">
                <a:alpha val="15000"/>
              </a:srgbClr>
            </a:outerShdw>
          </a:effectLst>
        </p:spPr>
      </p:sp>
      <p:sp>
        <p:nvSpPr>
          <p:cNvPr id="38" name="Shape 36"/>
          <p:cNvSpPr/>
          <p:nvPr/>
        </p:nvSpPr>
        <p:spPr>
          <a:xfrm>
            <a:off x="3474720" y="868680"/>
            <a:ext cx="5486400" cy="384048"/>
          </a:xfrm>
          <a:prstGeom prst="rect">
            <a:avLst/>
          </a:prstGeom>
          <a:solidFill>
            <a:srgbClr val="C0392B"/>
          </a:solidFill>
          <a:ln/>
        </p:spPr>
      </p:sp>
      <p:sp>
        <p:nvSpPr>
          <p:cNvPr id="39" name="Text 37"/>
          <p:cNvSpPr/>
          <p:nvPr/>
        </p:nvSpPr>
        <p:spPr>
          <a:xfrm>
            <a:off x="3474720" y="868680"/>
            <a:ext cx="548640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Ubuntu" panose="020B0504030602030204" pitchFamily="34" charset="0"/>
                <a:ea typeface="Georgia" pitchFamily="34" charset="-122"/>
                <a:cs typeface="Georgia" pitchFamily="34" charset="-120"/>
              </a:rPr>
              <a:t>⚙️ Application Logic</a:t>
            </a:r>
            <a:endParaRPr lang="en-US" sz="1300" dirty="0">
              <a:latin typeface="Ubuntu" panose="020B0504030602030204" pitchFamily="34" charset="0"/>
            </a:endParaRPr>
          </a:p>
        </p:txBody>
      </p:sp>
      <p:sp>
        <p:nvSpPr>
          <p:cNvPr id="40" name="Shape 38"/>
          <p:cNvSpPr/>
          <p:nvPr/>
        </p:nvSpPr>
        <p:spPr>
          <a:xfrm>
            <a:off x="3657600" y="1353312"/>
            <a:ext cx="182880" cy="182880"/>
          </a:xfrm>
          <a:prstGeom prst="ellipse">
            <a:avLst/>
          </a:prstGeom>
          <a:solidFill>
            <a:srgbClr val="C0392B"/>
          </a:solidFill>
          <a:ln/>
        </p:spPr>
      </p:sp>
      <p:sp>
        <p:nvSpPr>
          <p:cNvPr id="41" name="Text 39"/>
          <p:cNvSpPr/>
          <p:nvPr/>
        </p:nvSpPr>
        <p:spPr>
          <a:xfrm>
            <a:off x="3886200" y="132588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1. Input:</a:t>
            </a:r>
            <a:endParaRPr lang="en-US" sz="1100" dirty="0">
              <a:latin typeface="Ubuntu" panose="020B0504030602030204" pitchFamily="34" charset="0"/>
            </a:endParaRPr>
          </a:p>
        </p:txBody>
      </p:sp>
      <p:sp>
        <p:nvSpPr>
          <p:cNvPr id="42" name="Text 40"/>
          <p:cNvSpPr/>
          <p:nvPr/>
        </p:nvSpPr>
        <p:spPr>
          <a:xfrm>
            <a:off x="5074920" y="132588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User types ingredients separated by commas</a:t>
            </a:r>
            <a:endParaRPr lang="en-US" sz="1100" dirty="0">
              <a:latin typeface="Ubuntu" panose="020B0504030602030204" pitchFamily="34" charset="0"/>
            </a:endParaRPr>
          </a:p>
        </p:txBody>
      </p:sp>
      <p:sp>
        <p:nvSpPr>
          <p:cNvPr id="43" name="Shape 41"/>
          <p:cNvSpPr/>
          <p:nvPr/>
        </p:nvSpPr>
        <p:spPr>
          <a:xfrm>
            <a:off x="3657600" y="1856232"/>
            <a:ext cx="182880" cy="182880"/>
          </a:xfrm>
          <a:prstGeom prst="ellipse">
            <a:avLst/>
          </a:prstGeom>
          <a:solidFill>
            <a:srgbClr val="C0392B"/>
          </a:solidFill>
          <a:ln/>
        </p:spPr>
      </p:sp>
      <p:sp>
        <p:nvSpPr>
          <p:cNvPr id="44" name="Text 42"/>
          <p:cNvSpPr/>
          <p:nvPr/>
        </p:nvSpPr>
        <p:spPr>
          <a:xfrm>
            <a:off x="3886200" y="182880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2. Auth Check:</a:t>
            </a:r>
            <a:endParaRPr lang="en-US" sz="1100" dirty="0">
              <a:latin typeface="Ubuntu" panose="020B0504030602030204" pitchFamily="34" charset="0"/>
            </a:endParaRPr>
          </a:p>
        </p:txBody>
      </p:sp>
      <p:sp>
        <p:nvSpPr>
          <p:cNvPr id="45" name="Text 43"/>
          <p:cNvSpPr/>
          <p:nvPr/>
        </p:nvSpPr>
        <p:spPr>
          <a:xfrm>
            <a:off x="5074920" y="182880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Verify JWT token exists in localStorage</a:t>
            </a:r>
            <a:endParaRPr lang="en-US" sz="1100" dirty="0">
              <a:latin typeface="Ubuntu" panose="020B0504030602030204" pitchFamily="34" charset="0"/>
            </a:endParaRPr>
          </a:p>
        </p:txBody>
      </p:sp>
      <p:sp>
        <p:nvSpPr>
          <p:cNvPr id="46" name="Shape 44"/>
          <p:cNvSpPr/>
          <p:nvPr/>
        </p:nvSpPr>
        <p:spPr>
          <a:xfrm>
            <a:off x="3657600" y="2359152"/>
            <a:ext cx="182880" cy="182880"/>
          </a:xfrm>
          <a:prstGeom prst="ellipse">
            <a:avLst/>
          </a:prstGeom>
          <a:solidFill>
            <a:srgbClr val="C0392B"/>
          </a:solidFill>
          <a:ln/>
        </p:spPr>
      </p:sp>
      <p:sp>
        <p:nvSpPr>
          <p:cNvPr id="47" name="Text 45"/>
          <p:cNvSpPr/>
          <p:nvPr/>
        </p:nvSpPr>
        <p:spPr>
          <a:xfrm>
            <a:off x="3886200" y="233172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3. API Call:</a:t>
            </a:r>
            <a:endParaRPr lang="en-US" sz="1100" dirty="0">
              <a:latin typeface="Ubuntu" panose="020B0504030602030204" pitchFamily="34" charset="0"/>
            </a:endParaRPr>
          </a:p>
        </p:txBody>
      </p:sp>
      <p:sp>
        <p:nvSpPr>
          <p:cNvPr id="48" name="Text 46"/>
          <p:cNvSpPr/>
          <p:nvPr/>
        </p:nvSpPr>
        <p:spPr>
          <a:xfrm>
            <a:off x="5074920" y="233172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POST /api/recipes/ai-search with ingredients list</a:t>
            </a:r>
            <a:endParaRPr lang="en-US" sz="1100" dirty="0">
              <a:latin typeface="Ubuntu" panose="020B0504030602030204" pitchFamily="34" charset="0"/>
            </a:endParaRPr>
          </a:p>
        </p:txBody>
      </p:sp>
      <p:sp>
        <p:nvSpPr>
          <p:cNvPr id="49" name="Shape 47"/>
          <p:cNvSpPr/>
          <p:nvPr/>
        </p:nvSpPr>
        <p:spPr>
          <a:xfrm>
            <a:off x="3657600" y="2862072"/>
            <a:ext cx="182880" cy="182880"/>
          </a:xfrm>
          <a:prstGeom prst="ellipse">
            <a:avLst/>
          </a:prstGeom>
          <a:solidFill>
            <a:srgbClr val="C0392B"/>
          </a:solidFill>
          <a:ln/>
        </p:spPr>
      </p:sp>
      <p:sp>
        <p:nvSpPr>
          <p:cNvPr id="50" name="Text 48"/>
          <p:cNvSpPr/>
          <p:nvPr/>
        </p:nvSpPr>
        <p:spPr>
          <a:xfrm>
            <a:off x="3886200" y="283464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4. AI Processing:</a:t>
            </a:r>
            <a:endParaRPr lang="en-US" sz="1100" dirty="0">
              <a:latin typeface="Ubuntu" panose="020B0504030602030204" pitchFamily="34" charset="0"/>
            </a:endParaRPr>
          </a:p>
        </p:txBody>
      </p:sp>
      <p:sp>
        <p:nvSpPr>
          <p:cNvPr id="51" name="Text 49"/>
          <p:cNvSpPr/>
          <p:nvPr/>
        </p:nvSpPr>
        <p:spPr>
          <a:xfrm>
            <a:off x="5074920" y="283464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TF-IDF + Cosine Similarity calculation</a:t>
            </a:r>
            <a:endParaRPr lang="en-US" sz="1100" dirty="0">
              <a:latin typeface="Ubuntu" panose="020B0504030602030204" pitchFamily="34" charset="0"/>
            </a:endParaRPr>
          </a:p>
        </p:txBody>
      </p:sp>
      <p:sp>
        <p:nvSpPr>
          <p:cNvPr id="52" name="Shape 50"/>
          <p:cNvSpPr/>
          <p:nvPr/>
        </p:nvSpPr>
        <p:spPr>
          <a:xfrm>
            <a:off x="3657600" y="3364992"/>
            <a:ext cx="182880" cy="182880"/>
          </a:xfrm>
          <a:prstGeom prst="ellipse">
            <a:avLst/>
          </a:prstGeom>
          <a:solidFill>
            <a:srgbClr val="C0392B"/>
          </a:solidFill>
          <a:ln/>
        </p:spPr>
      </p:sp>
      <p:sp>
        <p:nvSpPr>
          <p:cNvPr id="53" name="Text 51"/>
          <p:cNvSpPr/>
          <p:nvPr/>
        </p:nvSpPr>
        <p:spPr>
          <a:xfrm>
            <a:off x="3886200" y="333756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5. Scoring:</a:t>
            </a:r>
            <a:endParaRPr lang="en-US" sz="1100" dirty="0">
              <a:latin typeface="Ubuntu" panose="020B0504030602030204" pitchFamily="34" charset="0"/>
            </a:endParaRPr>
          </a:p>
        </p:txBody>
      </p:sp>
      <p:sp>
        <p:nvSpPr>
          <p:cNvPr id="54" name="Text 52"/>
          <p:cNvSpPr/>
          <p:nvPr/>
        </p:nvSpPr>
        <p:spPr>
          <a:xfrm>
            <a:off x="5074920" y="333756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Each recipe gets an AI score (0-100%)</a:t>
            </a:r>
            <a:endParaRPr lang="en-US" sz="1100" dirty="0">
              <a:latin typeface="Ubuntu" panose="020B0504030602030204" pitchFamily="34" charset="0"/>
            </a:endParaRPr>
          </a:p>
        </p:txBody>
      </p:sp>
      <p:sp>
        <p:nvSpPr>
          <p:cNvPr id="55" name="Shape 53"/>
          <p:cNvSpPr/>
          <p:nvPr/>
        </p:nvSpPr>
        <p:spPr>
          <a:xfrm>
            <a:off x="3657600" y="3867912"/>
            <a:ext cx="182880" cy="182880"/>
          </a:xfrm>
          <a:prstGeom prst="ellipse">
            <a:avLst/>
          </a:prstGeom>
          <a:solidFill>
            <a:srgbClr val="C0392B"/>
          </a:solidFill>
          <a:ln/>
        </p:spPr>
      </p:sp>
      <p:sp>
        <p:nvSpPr>
          <p:cNvPr id="56" name="Text 54"/>
          <p:cNvSpPr/>
          <p:nvPr/>
        </p:nvSpPr>
        <p:spPr>
          <a:xfrm>
            <a:off x="3886200" y="384048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6. Sorting:</a:t>
            </a:r>
            <a:endParaRPr lang="en-US" sz="1100" dirty="0">
              <a:latin typeface="Ubuntu" panose="020B0504030602030204" pitchFamily="34" charset="0"/>
            </a:endParaRPr>
          </a:p>
        </p:txBody>
      </p:sp>
      <p:sp>
        <p:nvSpPr>
          <p:cNvPr id="57" name="Text 55"/>
          <p:cNvSpPr/>
          <p:nvPr/>
        </p:nvSpPr>
        <p:spPr>
          <a:xfrm>
            <a:off x="5074920" y="384048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Results sorted by score descending</a:t>
            </a:r>
            <a:endParaRPr lang="en-US" sz="1100" dirty="0">
              <a:latin typeface="Ubuntu" panose="020B0504030602030204" pitchFamily="34" charset="0"/>
            </a:endParaRPr>
          </a:p>
        </p:txBody>
      </p:sp>
      <p:sp>
        <p:nvSpPr>
          <p:cNvPr id="58" name="Shape 56"/>
          <p:cNvSpPr/>
          <p:nvPr/>
        </p:nvSpPr>
        <p:spPr>
          <a:xfrm>
            <a:off x="3657600" y="4370832"/>
            <a:ext cx="182880" cy="182880"/>
          </a:xfrm>
          <a:prstGeom prst="ellipse">
            <a:avLst/>
          </a:prstGeom>
          <a:solidFill>
            <a:srgbClr val="C0392B"/>
          </a:solidFill>
          <a:ln/>
        </p:spPr>
      </p:sp>
      <p:sp>
        <p:nvSpPr>
          <p:cNvPr id="59" name="Text 57"/>
          <p:cNvSpPr/>
          <p:nvPr/>
        </p:nvSpPr>
        <p:spPr>
          <a:xfrm>
            <a:off x="3886200" y="4343400"/>
            <a:ext cx="1188720" cy="256032"/>
          </a:xfrm>
          <a:prstGeom prst="rect">
            <a:avLst/>
          </a:prstGeom>
          <a:noFill/>
          <a:ln/>
        </p:spPr>
        <p:txBody>
          <a:bodyPr wrap="square" lIns="0" tIns="0" rIns="0" bIns="0" rtlCol="0" anchor="ctr"/>
          <a:lstStyle/>
          <a:p>
            <a:pPr marL="0" indent="0">
              <a:buNone/>
            </a:pPr>
            <a:r>
              <a:rPr lang="en-US" sz="1100" b="1" dirty="0">
                <a:solidFill>
                  <a:srgbClr val="2C1810"/>
                </a:solidFill>
                <a:latin typeface="Ubuntu" panose="020B0504030602030204" pitchFamily="34" charset="0"/>
                <a:ea typeface="Georgia" pitchFamily="34" charset="-122"/>
                <a:cs typeface="Georgia" pitchFamily="34" charset="-120"/>
              </a:rPr>
              <a:t>7. Display:</a:t>
            </a:r>
            <a:endParaRPr lang="en-US" sz="1100" dirty="0">
              <a:latin typeface="Ubuntu" panose="020B0504030602030204" pitchFamily="34" charset="0"/>
            </a:endParaRPr>
          </a:p>
        </p:txBody>
      </p:sp>
      <p:sp>
        <p:nvSpPr>
          <p:cNvPr id="60" name="Text 58"/>
          <p:cNvSpPr/>
          <p:nvPr/>
        </p:nvSpPr>
        <p:spPr>
          <a:xfrm>
            <a:off x="5074920" y="4343400"/>
            <a:ext cx="3749040" cy="256032"/>
          </a:xfrm>
          <a:prstGeom prst="rect">
            <a:avLst/>
          </a:prstGeom>
          <a:noFill/>
          <a:ln/>
        </p:spPr>
        <p:txBody>
          <a:bodyPr wrap="square" lIns="0" tIns="0" rIns="0" bIns="0" rtlCol="0" anchor="ctr"/>
          <a:lstStyle/>
          <a:p>
            <a:pPr marL="0" indent="0">
              <a:buNone/>
            </a:pPr>
            <a:r>
              <a:rPr lang="en-US" sz="1100" dirty="0">
                <a:solidFill>
                  <a:srgbClr val="5D4037"/>
                </a:solidFill>
                <a:latin typeface="Ubuntu" panose="020B0504030602030204" pitchFamily="34" charset="0"/>
                <a:ea typeface="Calibri" pitchFamily="34" charset="-122"/>
                <a:cs typeface="Calibri" pitchFamily="34" charset="-120"/>
              </a:rPr>
              <a:t>Recipe cards shown with match percentage</a:t>
            </a:r>
            <a:endParaRPr lang="en-US" sz="1100" dirty="0">
              <a:latin typeface="Ubuntu" panose="020B0504030602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 Part 2 : Main Functions Used</a:t>
            </a:r>
            <a:endParaRPr lang="en-US" sz="2200" dirty="0">
              <a:latin typeface="Ubuntu" panose="020B0504030602030204" pitchFamily="34" charset="0"/>
            </a:endParaRPr>
          </a:p>
        </p:txBody>
      </p:sp>
      <p:sp>
        <p:nvSpPr>
          <p:cNvPr id="6" name="Shape 4"/>
          <p:cNvSpPr/>
          <p:nvPr/>
        </p:nvSpPr>
        <p:spPr>
          <a:xfrm>
            <a:off x="182880" y="896112"/>
            <a:ext cx="4251960" cy="1280160"/>
          </a:xfrm>
          <a:prstGeom prst="rect">
            <a:avLst/>
          </a:prstGeom>
          <a:solidFill>
            <a:srgbClr val="FFFFFF">
              <a:alpha val="7000"/>
            </a:srgbClr>
          </a:solidFill>
          <a:ln w="12700">
            <a:solidFill>
              <a:srgbClr val="C0392B"/>
            </a:solidFill>
            <a:prstDash val="solid"/>
          </a:ln>
          <a:effectLst>
            <a:outerShdw blurRad="101600" dist="38100" dir="8100000" algn="bl" rotWithShape="0">
              <a:srgbClr val="000000">
                <a:alpha val="15000"/>
              </a:srgbClr>
            </a:outerShdw>
          </a:effectLst>
        </p:spPr>
      </p:sp>
      <p:sp>
        <p:nvSpPr>
          <p:cNvPr id="7" name="Shape 5"/>
          <p:cNvSpPr/>
          <p:nvPr/>
        </p:nvSpPr>
        <p:spPr>
          <a:xfrm>
            <a:off x="182880" y="896112"/>
            <a:ext cx="4251960" cy="347472"/>
          </a:xfrm>
          <a:prstGeom prst="rect">
            <a:avLst/>
          </a:prstGeom>
          <a:solidFill>
            <a:srgbClr val="C0392B">
              <a:alpha val="80000"/>
            </a:srgbClr>
          </a:solidFill>
          <a:ln/>
        </p:spPr>
      </p:sp>
      <p:sp>
        <p:nvSpPr>
          <p:cNvPr id="8" name="Text 6"/>
          <p:cNvSpPr/>
          <p:nvPr/>
        </p:nvSpPr>
        <p:spPr>
          <a:xfrm>
            <a:off x="256032" y="93268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normalize(text)</a:t>
            </a:r>
            <a:endParaRPr lang="en-US" sz="1150" dirty="0">
              <a:latin typeface="Ubuntu" panose="020B0504030602030204" pitchFamily="34" charset="0"/>
            </a:endParaRPr>
          </a:p>
        </p:txBody>
      </p:sp>
      <p:sp>
        <p:nvSpPr>
          <p:cNvPr id="10" name="Text 8"/>
          <p:cNvSpPr/>
          <p:nvPr/>
        </p:nvSpPr>
        <p:spPr>
          <a:xfrm>
            <a:off x="256032" y="129844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Normalizes Arabic/English text by lowercasing and replacing similar Arabic chars (أإآ→ا, ةه→ه)</a:t>
            </a:r>
            <a:endParaRPr lang="en-US" sz="1000" dirty="0">
              <a:latin typeface="Ubuntu" panose="020B0504030602030204" pitchFamily="34" charset="0"/>
            </a:endParaRPr>
          </a:p>
        </p:txBody>
      </p:sp>
      <p:sp>
        <p:nvSpPr>
          <p:cNvPr id="13" name="Shape 11"/>
          <p:cNvSpPr/>
          <p:nvPr/>
        </p:nvSpPr>
        <p:spPr>
          <a:xfrm>
            <a:off x="4663440" y="896112"/>
            <a:ext cx="4251960" cy="1280160"/>
          </a:xfrm>
          <a:prstGeom prst="rect">
            <a:avLst/>
          </a:prstGeom>
          <a:solidFill>
            <a:srgbClr val="FFFFFF">
              <a:alpha val="7000"/>
            </a:srgbClr>
          </a:solidFill>
          <a:ln w="12700">
            <a:solidFill>
              <a:srgbClr val="D4A017"/>
            </a:solidFill>
            <a:prstDash val="solid"/>
          </a:ln>
          <a:effectLst>
            <a:outerShdw blurRad="101600" dist="38100" dir="8100000" algn="bl" rotWithShape="0">
              <a:srgbClr val="000000">
                <a:alpha val="15000"/>
              </a:srgbClr>
            </a:outerShdw>
          </a:effectLst>
        </p:spPr>
      </p:sp>
      <p:sp>
        <p:nvSpPr>
          <p:cNvPr id="14" name="Shape 12"/>
          <p:cNvSpPr/>
          <p:nvPr/>
        </p:nvSpPr>
        <p:spPr>
          <a:xfrm>
            <a:off x="4663440" y="896112"/>
            <a:ext cx="4251960" cy="347472"/>
          </a:xfrm>
          <a:prstGeom prst="rect">
            <a:avLst/>
          </a:prstGeom>
          <a:solidFill>
            <a:srgbClr val="D4A017">
              <a:alpha val="80000"/>
            </a:srgbClr>
          </a:solidFill>
          <a:ln/>
        </p:spPr>
      </p:sp>
      <p:sp>
        <p:nvSpPr>
          <p:cNvPr id="15" name="Text 13"/>
          <p:cNvSpPr/>
          <p:nvPr/>
        </p:nvSpPr>
        <p:spPr>
          <a:xfrm>
            <a:off x="4736592" y="93268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simple_match_score()</a:t>
            </a:r>
            <a:endParaRPr lang="en-US" sz="1150" dirty="0">
              <a:latin typeface="Ubuntu" panose="020B0504030602030204" pitchFamily="34" charset="0"/>
            </a:endParaRPr>
          </a:p>
        </p:txBody>
      </p:sp>
      <p:sp>
        <p:nvSpPr>
          <p:cNvPr id="16" name="Text 14"/>
          <p:cNvSpPr/>
          <p:nvPr/>
        </p:nvSpPr>
        <p:spPr>
          <a:xfrm>
            <a:off x="7863840" y="950976"/>
            <a:ext cx="960120" cy="228600"/>
          </a:xfrm>
          <a:prstGeom prst="rect">
            <a:avLst/>
          </a:prstGeom>
          <a:noFill/>
          <a:ln/>
        </p:spPr>
        <p:txBody>
          <a:bodyPr wrap="square" lIns="0" tIns="0" rIns="0" bIns="0" rtlCol="0" anchor="ctr"/>
          <a:lstStyle/>
          <a:p>
            <a:pPr marL="0" indent="0" algn="r">
              <a:buNone/>
            </a:pPr>
            <a:r>
              <a:rPr lang="en-US" sz="900" i="1" dirty="0">
                <a:solidFill>
                  <a:srgbClr val="CCBBAA"/>
                </a:solidFill>
                <a:latin typeface="Ubuntu" panose="020B0504030602030204" pitchFamily="34" charset="0"/>
                <a:ea typeface="Calibri" pitchFamily="34" charset="-122"/>
                <a:cs typeface="Calibri" pitchFamily="34" charset="-120"/>
              </a:rPr>
              <a:t>ai_engine.py</a:t>
            </a:r>
            <a:endParaRPr lang="en-US" sz="900" dirty="0">
              <a:latin typeface="Ubuntu" panose="020B0504030602030204" pitchFamily="34" charset="0"/>
            </a:endParaRPr>
          </a:p>
        </p:txBody>
      </p:sp>
      <p:sp>
        <p:nvSpPr>
          <p:cNvPr id="17" name="Text 15"/>
          <p:cNvSpPr/>
          <p:nvPr/>
        </p:nvSpPr>
        <p:spPr>
          <a:xfrm>
            <a:off x="4736592" y="129844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Calculates simple match between user ingredients and recipe ingredients with partial matching</a:t>
            </a:r>
            <a:endParaRPr lang="en-US" sz="1000" dirty="0">
              <a:latin typeface="Ubuntu" panose="020B0504030602030204" pitchFamily="34" charset="0"/>
            </a:endParaRPr>
          </a:p>
        </p:txBody>
      </p:sp>
      <p:sp>
        <p:nvSpPr>
          <p:cNvPr id="20" name="Shape 18"/>
          <p:cNvSpPr/>
          <p:nvPr/>
        </p:nvSpPr>
        <p:spPr>
          <a:xfrm>
            <a:off x="182880" y="2313432"/>
            <a:ext cx="4251960" cy="1280160"/>
          </a:xfrm>
          <a:prstGeom prst="rect">
            <a:avLst/>
          </a:prstGeom>
          <a:solidFill>
            <a:srgbClr val="FFFFFF">
              <a:alpha val="7000"/>
            </a:srgbClr>
          </a:solidFill>
          <a:ln w="12700">
            <a:solidFill>
              <a:srgbClr val="7B2D8B"/>
            </a:solidFill>
            <a:prstDash val="solid"/>
          </a:ln>
          <a:effectLst>
            <a:outerShdw blurRad="101600" dist="38100" dir="8100000" algn="bl" rotWithShape="0">
              <a:srgbClr val="000000">
                <a:alpha val="15000"/>
              </a:srgbClr>
            </a:outerShdw>
          </a:effectLst>
        </p:spPr>
      </p:sp>
      <p:sp>
        <p:nvSpPr>
          <p:cNvPr id="21" name="Shape 19"/>
          <p:cNvSpPr/>
          <p:nvPr/>
        </p:nvSpPr>
        <p:spPr>
          <a:xfrm>
            <a:off x="182880" y="2313432"/>
            <a:ext cx="4251960" cy="347472"/>
          </a:xfrm>
          <a:prstGeom prst="rect">
            <a:avLst/>
          </a:prstGeom>
          <a:solidFill>
            <a:srgbClr val="7B2D8B">
              <a:alpha val="80000"/>
            </a:srgbClr>
          </a:solidFill>
          <a:ln/>
        </p:spPr>
      </p:sp>
      <p:sp>
        <p:nvSpPr>
          <p:cNvPr id="22" name="Text 20"/>
          <p:cNvSpPr/>
          <p:nvPr/>
        </p:nvSpPr>
        <p:spPr>
          <a:xfrm>
            <a:off x="256032" y="235000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tfidf_similarity()</a:t>
            </a:r>
            <a:endParaRPr lang="en-US" sz="1150" dirty="0">
              <a:latin typeface="Ubuntu" panose="020B0504030602030204" pitchFamily="34" charset="0"/>
            </a:endParaRPr>
          </a:p>
        </p:txBody>
      </p:sp>
      <p:sp>
        <p:nvSpPr>
          <p:cNvPr id="24" name="Text 22"/>
          <p:cNvSpPr/>
          <p:nvPr/>
        </p:nvSpPr>
        <p:spPr>
          <a:xfrm>
            <a:off x="256032" y="271576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Builds TF-IDF vectors for both ingredient lists and computes cosine similarity score</a:t>
            </a:r>
            <a:endParaRPr lang="en-US" sz="1000" dirty="0">
              <a:latin typeface="Ubuntu" panose="020B0504030602030204" pitchFamily="34" charset="0"/>
            </a:endParaRPr>
          </a:p>
        </p:txBody>
      </p:sp>
      <p:sp>
        <p:nvSpPr>
          <p:cNvPr id="27" name="Shape 25"/>
          <p:cNvSpPr/>
          <p:nvPr/>
        </p:nvSpPr>
        <p:spPr>
          <a:xfrm>
            <a:off x="4663440" y="2313432"/>
            <a:ext cx="4251960" cy="1280160"/>
          </a:xfrm>
          <a:prstGeom prst="rect">
            <a:avLst/>
          </a:prstGeom>
          <a:solidFill>
            <a:srgbClr val="FFFFFF">
              <a:alpha val="7000"/>
            </a:srgbClr>
          </a:solidFill>
          <a:ln w="12700">
            <a:solidFill>
              <a:srgbClr val="1A6B3C"/>
            </a:solidFill>
            <a:prstDash val="solid"/>
          </a:ln>
          <a:effectLst>
            <a:outerShdw blurRad="101600" dist="38100" dir="8100000" algn="bl" rotWithShape="0">
              <a:srgbClr val="000000">
                <a:alpha val="15000"/>
              </a:srgbClr>
            </a:outerShdw>
          </a:effectLst>
        </p:spPr>
      </p:sp>
      <p:sp>
        <p:nvSpPr>
          <p:cNvPr id="28" name="Shape 26"/>
          <p:cNvSpPr/>
          <p:nvPr/>
        </p:nvSpPr>
        <p:spPr>
          <a:xfrm>
            <a:off x="4663440" y="2313432"/>
            <a:ext cx="4251960" cy="347472"/>
          </a:xfrm>
          <a:prstGeom prst="rect">
            <a:avLst/>
          </a:prstGeom>
          <a:solidFill>
            <a:srgbClr val="1A6B3C">
              <a:alpha val="80000"/>
            </a:srgbClr>
          </a:solidFill>
          <a:ln/>
        </p:spPr>
      </p:sp>
      <p:sp>
        <p:nvSpPr>
          <p:cNvPr id="29" name="Text 27"/>
          <p:cNvSpPr/>
          <p:nvPr/>
        </p:nvSpPr>
        <p:spPr>
          <a:xfrm>
            <a:off x="4736592" y="235000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ai_recommend()</a:t>
            </a:r>
            <a:endParaRPr lang="en-US" sz="1150" dirty="0">
              <a:latin typeface="Ubuntu" panose="020B0504030602030204" pitchFamily="34" charset="0"/>
            </a:endParaRPr>
          </a:p>
        </p:txBody>
      </p:sp>
      <p:sp>
        <p:nvSpPr>
          <p:cNvPr id="31" name="Text 29"/>
          <p:cNvSpPr/>
          <p:nvPr/>
        </p:nvSpPr>
        <p:spPr>
          <a:xfrm>
            <a:off x="4736592" y="271576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Main AI engine: combines all levels, queries DB, scores all recipes and returns sorted top-N</a:t>
            </a:r>
            <a:endParaRPr lang="en-US" sz="1000" dirty="0">
              <a:latin typeface="Ubuntu" panose="020B0504030602030204" pitchFamily="34" charset="0"/>
            </a:endParaRPr>
          </a:p>
        </p:txBody>
      </p:sp>
      <p:sp>
        <p:nvSpPr>
          <p:cNvPr id="34" name="Shape 32"/>
          <p:cNvSpPr/>
          <p:nvPr/>
        </p:nvSpPr>
        <p:spPr>
          <a:xfrm>
            <a:off x="182880" y="3730752"/>
            <a:ext cx="4251960" cy="1280160"/>
          </a:xfrm>
          <a:prstGeom prst="rect">
            <a:avLst/>
          </a:prstGeom>
          <a:solidFill>
            <a:srgbClr val="FFFFFF">
              <a:alpha val="7000"/>
            </a:srgbClr>
          </a:solidFill>
          <a:ln w="12700">
            <a:solidFill>
              <a:srgbClr val="15618A"/>
            </a:solidFill>
            <a:prstDash val="solid"/>
          </a:ln>
          <a:effectLst>
            <a:outerShdw blurRad="101600" dist="38100" dir="8100000" algn="bl" rotWithShape="0">
              <a:srgbClr val="000000">
                <a:alpha val="15000"/>
              </a:srgbClr>
            </a:outerShdw>
          </a:effectLst>
        </p:spPr>
      </p:sp>
      <p:sp>
        <p:nvSpPr>
          <p:cNvPr id="35" name="Shape 33"/>
          <p:cNvSpPr/>
          <p:nvPr/>
        </p:nvSpPr>
        <p:spPr>
          <a:xfrm>
            <a:off x="182880" y="3730752"/>
            <a:ext cx="4251960" cy="347472"/>
          </a:xfrm>
          <a:prstGeom prst="rect">
            <a:avLst/>
          </a:prstGeom>
          <a:solidFill>
            <a:srgbClr val="15618A">
              <a:alpha val="80000"/>
            </a:srgbClr>
          </a:solidFill>
          <a:ln/>
        </p:spPr>
      </p:sp>
      <p:sp>
        <p:nvSpPr>
          <p:cNvPr id="36" name="Text 34"/>
          <p:cNvSpPr/>
          <p:nvPr/>
        </p:nvSpPr>
        <p:spPr>
          <a:xfrm>
            <a:off x="256032" y="376732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import_csv()</a:t>
            </a:r>
            <a:endParaRPr lang="en-US" sz="1150" dirty="0">
              <a:latin typeface="Ubuntu" panose="020B0504030602030204" pitchFamily="34" charset="0"/>
            </a:endParaRPr>
          </a:p>
        </p:txBody>
      </p:sp>
      <p:sp>
        <p:nvSpPr>
          <p:cNvPr id="38" name="Text 36"/>
          <p:cNvSpPr/>
          <p:nvPr/>
        </p:nvSpPr>
        <p:spPr>
          <a:xfrm>
            <a:off x="256032" y="413308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Reads uploaded CSV, detects encoding/separator, imports recipes + ingredients to MySQL</a:t>
            </a:r>
            <a:endParaRPr lang="en-US" sz="1000" dirty="0">
              <a:latin typeface="Ubuntu" panose="020B0504030602030204" pitchFamily="34" charset="0"/>
            </a:endParaRPr>
          </a:p>
        </p:txBody>
      </p:sp>
      <p:sp>
        <p:nvSpPr>
          <p:cNvPr id="41" name="Shape 39"/>
          <p:cNvSpPr/>
          <p:nvPr/>
        </p:nvSpPr>
        <p:spPr>
          <a:xfrm>
            <a:off x="4663440" y="3730752"/>
            <a:ext cx="4251960" cy="1280160"/>
          </a:xfrm>
          <a:prstGeom prst="rect">
            <a:avLst/>
          </a:prstGeom>
          <a:solidFill>
            <a:srgbClr val="FFFFFF">
              <a:alpha val="7000"/>
            </a:srgbClr>
          </a:solidFill>
          <a:ln w="12700">
            <a:solidFill>
              <a:srgbClr val="E67E22"/>
            </a:solidFill>
            <a:prstDash val="solid"/>
          </a:ln>
          <a:effectLst>
            <a:outerShdw blurRad="101600" dist="38100" dir="8100000" algn="bl" rotWithShape="0">
              <a:srgbClr val="000000">
                <a:alpha val="15000"/>
              </a:srgbClr>
            </a:outerShdw>
          </a:effectLst>
        </p:spPr>
      </p:sp>
      <p:sp>
        <p:nvSpPr>
          <p:cNvPr id="42" name="Shape 40"/>
          <p:cNvSpPr/>
          <p:nvPr/>
        </p:nvSpPr>
        <p:spPr>
          <a:xfrm>
            <a:off x="4663440" y="3730752"/>
            <a:ext cx="4251960" cy="347472"/>
          </a:xfrm>
          <a:prstGeom prst="rect">
            <a:avLst/>
          </a:prstGeom>
          <a:solidFill>
            <a:srgbClr val="E67E22">
              <a:alpha val="80000"/>
            </a:srgbClr>
          </a:solidFill>
          <a:ln/>
        </p:spPr>
      </p:sp>
      <p:sp>
        <p:nvSpPr>
          <p:cNvPr id="43" name="Text 41"/>
          <p:cNvSpPr/>
          <p:nvPr/>
        </p:nvSpPr>
        <p:spPr>
          <a:xfrm>
            <a:off x="4736592" y="3767328"/>
            <a:ext cx="3200400" cy="274320"/>
          </a:xfrm>
          <a:prstGeom prst="rect">
            <a:avLst/>
          </a:prstGeom>
          <a:noFill/>
          <a:ln/>
        </p:spPr>
        <p:txBody>
          <a:bodyPr wrap="square" lIns="0" tIns="0" rIns="0" bIns="0" rtlCol="0" anchor="ctr"/>
          <a:lstStyle/>
          <a:p>
            <a:pPr marL="0" indent="0">
              <a:buNone/>
            </a:pPr>
            <a:r>
              <a:rPr lang="en-US" sz="1150" b="1" dirty="0">
                <a:solidFill>
                  <a:srgbClr val="FFFFFF"/>
                </a:solidFill>
                <a:latin typeface="Ubuntu" panose="020B0504030602030204" pitchFamily="34" charset="0"/>
                <a:ea typeface="Consolas" pitchFamily="34" charset="-122"/>
                <a:cs typeface="Consolas" pitchFamily="34" charset="-120"/>
              </a:rPr>
              <a:t>⚙️ hash_password() / verify_password()</a:t>
            </a:r>
            <a:endParaRPr lang="en-US" sz="1150" dirty="0">
              <a:latin typeface="Ubuntu" panose="020B0504030602030204" pitchFamily="34" charset="0"/>
            </a:endParaRPr>
          </a:p>
        </p:txBody>
      </p:sp>
      <p:sp>
        <p:nvSpPr>
          <p:cNvPr id="45" name="Text 43"/>
          <p:cNvSpPr/>
          <p:nvPr/>
        </p:nvSpPr>
        <p:spPr>
          <a:xfrm>
            <a:off x="4736592" y="4133088"/>
            <a:ext cx="4096512" cy="45720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bcrypt-based password hashing and verification with 12 rounds for secure authentication</a:t>
            </a:r>
            <a:endParaRPr lang="en-US" sz="1000" dirty="0">
              <a:latin typeface="Ubuntu" panose="020B0504030602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3 : Source Code Structure</a:t>
            </a:r>
            <a:endParaRPr lang="en-US" sz="2200" dirty="0">
              <a:latin typeface="Ubuntu" panose="020B0504030602030204" pitchFamily="34" charset="0"/>
            </a:endParaRPr>
          </a:p>
        </p:txBody>
      </p:sp>
      <p:sp>
        <p:nvSpPr>
          <p:cNvPr id="6" name="Shape 4"/>
          <p:cNvSpPr/>
          <p:nvPr/>
        </p:nvSpPr>
        <p:spPr>
          <a:xfrm>
            <a:off x="228600" y="868680"/>
            <a:ext cx="3657600" cy="4160520"/>
          </a:xfrm>
          <a:prstGeom prst="rect">
            <a:avLst/>
          </a:prstGeom>
          <a:solidFill>
            <a:srgbClr val="FFFFFF"/>
          </a:solidFill>
          <a:ln/>
          <a:effectLst>
            <a:outerShdw blurRad="101600" dist="38100" dir="8100000" algn="bl" rotWithShape="0">
              <a:srgbClr val="000000">
                <a:alpha val="15000"/>
              </a:srgbClr>
            </a:outerShdw>
          </a:effectLst>
        </p:spPr>
      </p:sp>
      <p:sp>
        <p:nvSpPr>
          <p:cNvPr id="7" name="Shape 5"/>
          <p:cNvSpPr/>
          <p:nvPr/>
        </p:nvSpPr>
        <p:spPr>
          <a:xfrm>
            <a:off x="228600" y="868680"/>
            <a:ext cx="3657600" cy="384048"/>
          </a:xfrm>
          <a:prstGeom prst="rect">
            <a:avLst/>
          </a:prstGeom>
          <a:solidFill>
            <a:srgbClr val="2C1810"/>
          </a:solidFill>
          <a:ln/>
        </p:spPr>
      </p:sp>
      <p:sp>
        <p:nvSpPr>
          <p:cNvPr id="8" name="Text 6"/>
          <p:cNvSpPr/>
          <p:nvPr/>
        </p:nvSpPr>
        <p:spPr>
          <a:xfrm>
            <a:off x="228600" y="868680"/>
            <a:ext cx="3657600" cy="384048"/>
          </a:xfrm>
          <a:prstGeom prst="rect">
            <a:avLst/>
          </a:prstGeom>
          <a:noFill/>
          <a:ln/>
        </p:spPr>
        <p:txBody>
          <a:bodyPr wrap="square" lIns="0" tIns="0" rIns="0" bIns="0" rtlCol="0" anchor="ctr"/>
          <a:lstStyle/>
          <a:p>
            <a:pPr marL="0" indent="0" algn="ctr">
              <a:buNone/>
            </a:pPr>
            <a:r>
              <a:rPr lang="en-US" sz="1300" b="1" dirty="0">
                <a:solidFill>
                  <a:srgbClr val="D4A017"/>
                </a:solidFill>
                <a:latin typeface="Ubuntu" panose="020B0504030602030204" pitchFamily="34" charset="0"/>
                <a:ea typeface="Georgia" pitchFamily="34" charset="-122"/>
                <a:cs typeface="Georgia" pitchFamily="34" charset="-120"/>
              </a:rPr>
              <a:t>📁 Project Structure</a:t>
            </a:r>
            <a:endParaRPr lang="en-US" sz="1300" dirty="0">
              <a:latin typeface="Ubuntu" panose="020B0504030602030204" pitchFamily="34" charset="0"/>
            </a:endParaRPr>
          </a:p>
        </p:txBody>
      </p:sp>
      <p:sp>
        <p:nvSpPr>
          <p:cNvPr id="9" name="Text 7"/>
          <p:cNvSpPr/>
          <p:nvPr/>
        </p:nvSpPr>
        <p:spPr>
          <a:xfrm>
            <a:off x="320040" y="1325880"/>
            <a:ext cx="3474720" cy="3566160"/>
          </a:xfrm>
          <a:prstGeom prst="rect">
            <a:avLst/>
          </a:prstGeom>
          <a:noFill/>
          <a:ln/>
        </p:spPr>
        <p:txBody>
          <a:bodyPr wrap="square" lIns="0" tIns="0" rIns="0" bIns="0" rtlCol="0" anchor="ctr"/>
          <a:lstStyle/>
          <a:p>
            <a:pPr marL="0" indent="0">
              <a:buNone/>
            </a:pPr>
            <a:r>
              <a:rPr lang="en-US" sz="900" dirty="0">
                <a:solidFill>
                  <a:srgbClr val="5D4037"/>
                </a:solidFill>
                <a:latin typeface="Ubuntu" panose="020B0504030602030204" pitchFamily="34" charset="0"/>
                <a:ea typeface="Consolas" pitchFamily="34" charset="-122"/>
                <a:cs typeface="Consolas" pitchFamily="34" charset="-120"/>
              </a:rPr>
              <a:t>sha-ntieb/</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backend/</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app/</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api/routes/</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auth.py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recipes.py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admin.py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core/</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config.py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database.py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security.py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models/</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schemas/</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services/</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 ai_engine.py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 main.py</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requirements.txt</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 frontend/src/</a:t>
            </a:r>
            <a:endParaRPr lang="en-US" sz="900" dirty="0">
              <a:latin typeface="Ubuntu" panose="020B0504030602030204" pitchFamily="34" charset="0"/>
            </a:endParaRPr>
          </a:p>
          <a:p>
            <a:pPr marL="0" indent="0">
              <a:buNone/>
            </a:pPr>
            <a:r>
              <a:rPr lang="en-US" sz="900" dirty="0">
                <a:solidFill>
                  <a:srgbClr val="5D4037"/>
                </a:solidFill>
                <a:latin typeface="Ubuntu" panose="020B0504030602030204" pitchFamily="34" charset="0"/>
                <a:ea typeface="Consolas" pitchFamily="34" charset="-122"/>
                <a:cs typeface="Consolas" pitchFamily="34" charset="-120"/>
              </a:rPr>
              <a:t>└── recipes.csv</a:t>
            </a:r>
            <a:endParaRPr lang="en-US" sz="900" dirty="0">
              <a:latin typeface="Ubuntu" panose="020B0504030602030204" pitchFamily="34" charset="0"/>
            </a:endParaRPr>
          </a:p>
        </p:txBody>
      </p:sp>
      <p:sp>
        <p:nvSpPr>
          <p:cNvPr id="10" name="Shape 8"/>
          <p:cNvSpPr/>
          <p:nvPr/>
        </p:nvSpPr>
        <p:spPr>
          <a:xfrm>
            <a:off x="4069080" y="868680"/>
            <a:ext cx="4846320" cy="1920240"/>
          </a:xfrm>
          <a:prstGeom prst="rect">
            <a:avLst/>
          </a:prstGeom>
          <a:solidFill>
            <a:srgbClr val="FFFFFF"/>
          </a:solidFill>
          <a:ln/>
          <a:effectLst>
            <a:outerShdw blurRad="101600" dist="38100" dir="8100000" algn="bl" rotWithShape="0">
              <a:srgbClr val="000000">
                <a:alpha val="15000"/>
              </a:srgbClr>
            </a:outerShdw>
          </a:effectLst>
        </p:spPr>
      </p:sp>
      <p:sp>
        <p:nvSpPr>
          <p:cNvPr id="11" name="Shape 9"/>
          <p:cNvSpPr/>
          <p:nvPr/>
        </p:nvSpPr>
        <p:spPr>
          <a:xfrm>
            <a:off x="4069080" y="868680"/>
            <a:ext cx="4846320" cy="384048"/>
          </a:xfrm>
          <a:prstGeom prst="rect">
            <a:avLst/>
          </a:prstGeom>
          <a:solidFill>
            <a:srgbClr val="1A6B3C"/>
          </a:solidFill>
          <a:ln/>
        </p:spPr>
      </p:sp>
      <p:sp>
        <p:nvSpPr>
          <p:cNvPr id="12" name="Text 10"/>
          <p:cNvSpPr/>
          <p:nvPr/>
        </p:nvSpPr>
        <p:spPr>
          <a:xfrm>
            <a:off x="4069080" y="868680"/>
            <a:ext cx="4846320" cy="384048"/>
          </a:xfrm>
          <a:prstGeom prst="rect">
            <a:avLst/>
          </a:prstGeom>
          <a:noFill/>
          <a:ln/>
        </p:spPr>
        <p:txBody>
          <a:bodyPr wrap="square" lIns="0" tIns="0" rIns="0" bIns="0" rtlCol="0" anchor="ctr"/>
          <a:lstStyle/>
          <a:p>
            <a:pPr marL="0" indent="0" algn="ctr">
              <a:buNone/>
            </a:pPr>
            <a:r>
              <a:rPr lang="en-US" sz="1300" b="1" dirty="0">
                <a:solidFill>
                  <a:srgbClr val="FFFFFF"/>
                </a:solidFill>
                <a:latin typeface="Ubuntu" panose="020B0504030602030204" pitchFamily="34" charset="0"/>
                <a:ea typeface="Georgia" pitchFamily="34" charset="-122"/>
                <a:cs typeface="Georgia" pitchFamily="34" charset="-120"/>
              </a:rPr>
              <a:t>📦 Libraries Used</a:t>
            </a:r>
            <a:endParaRPr lang="en-US" sz="1300" dirty="0">
              <a:latin typeface="Ubuntu" panose="020B0504030602030204" pitchFamily="34" charset="0"/>
            </a:endParaRPr>
          </a:p>
        </p:txBody>
      </p:sp>
      <p:sp>
        <p:nvSpPr>
          <p:cNvPr id="13" name="Text 11"/>
          <p:cNvSpPr/>
          <p:nvPr/>
        </p:nvSpPr>
        <p:spPr>
          <a:xfrm>
            <a:off x="4206240" y="1353312"/>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FastAPI:</a:t>
            </a:r>
            <a:endParaRPr lang="en-US" sz="1000" dirty="0">
              <a:latin typeface="Ubuntu" panose="020B0504030602030204" pitchFamily="34" charset="0"/>
            </a:endParaRPr>
          </a:p>
        </p:txBody>
      </p:sp>
      <p:sp>
        <p:nvSpPr>
          <p:cNvPr id="14" name="Text 12"/>
          <p:cNvSpPr/>
          <p:nvPr/>
        </p:nvSpPr>
        <p:spPr>
          <a:xfrm>
            <a:off x="5074920" y="1367028"/>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REST API Framework</a:t>
            </a:r>
            <a:endParaRPr lang="en-US" sz="1000" dirty="0">
              <a:latin typeface="Ubuntu" panose="020B0504030602030204" pitchFamily="34" charset="0"/>
            </a:endParaRPr>
          </a:p>
        </p:txBody>
      </p:sp>
      <p:sp>
        <p:nvSpPr>
          <p:cNvPr id="15" name="Text 13"/>
          <p:cNvSpPr/>
          <p:nvPr/>
        </p:nvSpPr>
        <p:spPr>
          <a:xfrm>
            <a:off x="6583680" y="1353312"/>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SQLAlchemy:</a:t>
            </a:r>
            <a:endParaRPr lang="en-US" sz="1000" dirty="0">
              <a:latin typeface="Ubuntu" panose="020B0504030602030204" pitchFamily="34" charset="0"/>
            </a:endParaRPr>
          </a:p>
        </p:txBody>
      </p:sp>
      <p:sp>
        <p:nvSpPr>
          <p:cNvPr id="16" name="Text 14"/>
          <p:cNvSpPr/>
          <p:nvPr/>
        </p:nvSpPr>
        <p:spPr>
          <a:xfrm>
            <a:off x="7772400" y="1353312"/>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ORM for MySQL</a:t>
            </a:r>
            <a:endParaRPr lang="en-US" sz="1000" dirty="0">
              <a:latin typeface="Ubuntu" panose="020B0504030602030204" pitchFamily="34" charset="0"/>
            </a:endParaRPr>
          </a:p>
        </p:txBody>
      </p:sp>
      <p:sp>
        <p:nvSpPr>
          <p:cNvPr id="17" name="Text 15"/>
          <p:cNvSpPr/>
          <p:nvPr/>
        </p:nvSpPr>
        <p:spPr>
          <a:xfrm>
            <a:off x="4206240" y="1700784"/>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Pandas:</a:t>
            </a:r>
            <a:endParaRPr lang="en-US" sz="1000" dirty="0">
              <a:latin typeface="Ubuntu" panose="020B0504030602030204" pitchFamily="34" charset="0"/>
            </a:endParaRPr>
          </a:p>
        </p:txBody>
      </p:sp>
      <p:sp>
        <p:nvSpPr>
          <p:cNvPr id="18" name="Text 16"/>
          <p:cNvSpPr/>
          <p:nvPr/>
        </p:nvSpPr>
        <p:spPr>
          <a:xfrm>
            <a:off x="5074920" y="1707642"/>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CSV Processing</a:t>
            </a:r>
            <a:endParaRPr lang="en-US" sz="1000" dirty="0">
              <a:latin typeface="Ubuntu" panose="020B0504030602030204" pitchFamily="34" charset="0"/>
            </a:endParaRPr>
          </a:p>
        </p:txBody>
      </p:sp>
      <p:sp>
        <p:nvSpPr>
          <p:cNvPr id="19" name="Text 17"/>
          <p:cNvSpPr/>
          <p:nvPr/>
        </p:nvSpPr>
        <p:spPr>
          <a:xfrm>
            <a:off x="6583680" y="1700784"/>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Passlib/bcrypt:</a:t>
            </a:r>
            <a:endParaRPr lang="en-US" sz="1000" dirty="0">
              <a:latin typeface="Ubuntu" panose="020B0504030602030204" pitchFamily="34" charset="0"/>
            </a:endParaRPr>
          </a:p>
        </p:txBody>
      </p:sp>
      <p:sp>
        <p:nvSpPr>
          <p:cNvPr id="20" name="Text 18"/>
          <p:cNvSpPr/>
          <p:nvPr/>
        </p:nvSpPr>
        <p:spPr>
          <a:xfrm>
            <a:off x="7772400" y="1700784"/>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Password Hashing</a:t>
            </a:r>
            <a:endParaRPr lang="en-US" sz="1000" dirty="0">
              <a:latin typeface="Ubuntu" panose="020B0504030602030204" pitchFamily="34" charset="0"/>
            </a:endParaRPr>
          </a:p>
        </p:txBody>
      </p:sp>
      <p:sp>
        <p:nvSpPr>
          <p:cNvPr id="21" name="Text 19"/>
          <p:cNvSpPr/>
          <p:nvPr/>
        </p:nvSpPr>
        <p:spPr>
          <a:xfrm>
            <a:off x="4206240" y="2048256"/>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python-jose:</a:t>
            </a:r>
            <a:endParaRPr lang="en-US" sz="1000" dirty="0">
              <a:latin typeface="Ubuntu" panose="020B0504030602030204" pitchFamily="34" charset="0"/>
            </a:endParaRPr>
          </a:p>
        </p:txBody>
      </p:sp>
      <p:sp>
        <p:nvSpPr>
          <p:cNvPr id="22" name="Text 20"/>
          <p:cNvSpPr/>
          <p:nvPr/>
        </p:nvSpPr>
        <p:spPr>
          <a:xfrm>
            <a:off x="5234940" y="2061972"/>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JWT Tokens</a:t>
            </a:r>
            <a:endParaRPr lang="en-US" sz="1000" dirty="0">
              <a:latin typeface="Ubuntu" panose="020B0504030602030204" pitchFamily="34" charset="0"/>
            </a:endParaRPr>
          </a:p>
        </p:txBody>
      </p:sp>
      <p:sp>
        <p:nvSpPr>
          <p:cNvPr id="23" name="Text 21"/>
          <p:cNvSpPr/>
          <p:nvPr/>
        </p:nvSpPr>
        <p:spPr>
          <a:xfrm>
            <a:off x="6583680" y="2048256"/>
            <a:ext cx="1188720" cy="256032"/>
          </a:xfrm>
          <a:prstGeom prst="rect">
            <a:avLst/>
          </a:prstGeom>
          <a:noFill/>
          <a:ln/>
        </p:spPr>
        <p:txBody>
          <a:bodyPr wrap="square" lIns="0" tIns="0" rIns="0" bIns="0" rtlCol="0" anchor="ctr"/>
          <a:lstStyle/>
          <a:p>
            <a:pPr marL="0" indent="0">
              <a:buNone/>
            </a:pPr>
            <a:r>
              <a:rPr lang="en-US" sz="1000" b="1" dirty="0">
                <a:solidFill>
                  <a:srgbClr val="1A6B3C"/>
                </a:solidFill>
                <a:latin typeface="Ubuntu" panose="020B0504030602030204" pitchFamily="34" charset="0"/>
                <a:ea typeface="Consolas" pitchFamily="34" charset="-122"/>
                <a:cs typeface="Consolas" pitchFamily="34" charset="-120"/>
              </a:rPr>
              <a:t>📌 pydantic:</a:t>
            </a:r>
            <a:endParaRPr lang="en-US" sz="1000" dirty="0">
              <a:latin typeface="Ubuntu" panose="020B0504030602030204" pitchFamily="34" charset="0"/>
            </a:endParaRPr>
          </a:p>
        </p:txBody>
      </p:sp>
      <p:sp>
        <p:nvSpPr>
          <p:cNvPr id="24" name="Text 22"/>
          <p:cNvSpPr/>
          <p:nvPr/>
        </p:nvSpPr>
        <p:spPr>
          <a:xfrm>
            <a:off x="7772400" y="2048256"/>
            <a:ext cx="1463040" cy="256032"/>
          </a:xfrm>
          <a:prstGeom prst="rect">
            <a:avLst/>
          </a:prstGeom>
          <a:noFill/>
          <a:ln/>
        </p:spPr>
        <p:txBody>
          <a:bodyPr wrap="square" lIns="0" tIns="0" rIns="0" bIns="0" rtlCol="0" anchor="ctr"/>
          <a:lstStyle/>
          <a:p>
            <a:pPr marL="0" indent="0">
              <a:buNone/>
            </a:pPr>
            <a:r>
              <a:rPr lang="en-US" sz="1000" dirty="0">
                <a:solidFill>
                  <a:srgbClr val="5D4037"/>
                </a:solidFill>
                <a:latin typeface="Ubuntu" panose="020B0504030602030204" pitchFamily="34" charset="0"/>
                <a:ea typeface="Calibri" pitchFamily="34" charset="-122"/>
                <a:cs typeface="Calibri" pitchFamily="34" charset="-120"/>
              </a:rPr>
              <a:t>Data Validation</a:t>
            </a:r>
            <a:endParaRPr lang="en-US" sz="1000" dirty="0">
              <a:latin typeface="Ubuntu" panose="020B0504030602030204" pitchFamily="34" charset="0"/>
            </a:endParaRPr>
          </a:p>
        </p:txBody>
      </p:sp>
      <p:sp>
        <p:nvSpPr>
          <p:cNvPr id="38" name="Shape 36"/>
          <p:cNvSpPr/>
          <p:nvPr/>
        </p:nvSpPr>
        <p:spPr>
          <a:xfrm>
            <a:off x="0" y="4796028"/>
            <a:ext cx="9144000" cy="347472"/>
          </a:xfrm>
          <a:prstGeom prst="rect">
            <a:avLst/>
          </a:prstGeom>
          <a:solidFill>
            <a:srgbClr val="2C1810">
              <a:alpha val="70000"/>
            </a:srgbClr>
          </a:solidFill>
          <a:ln/>
        </p:spPr>
      </p:sp>
      <p:sp>
        <p:nvSpPr>
          <p:cNvPr id="39" name="Text 37"/>
          <p:cNvSpPr/>
          <p:nvPr/>
        </p:nvSpPr>
        <p:spPr>
          <a:xfrm>
            <a:off x="0" y="4782312"/>
            <a:ext cx="8686800" cy="347472"/>
          </a:xfrm>
          <a:prstGeom prst="rect">
            <a:avLst/>
          </a:prstGeom>
          <a:noFill/>
          <a:ln/>
        </p:spPr>
        <p:txBody>
          <a:bodyPr wrap="square" lIns="0" tIns="0" rIns="0" bIns="0" rtlCol="0" anchor="ctr"/>
          <a:lstStyle/>
          <a:p>
            <a:pPr algn="ctr"/>
            <a:r>
              <a:rPr lang="en-US" sz="1100" b="1" dirty="0">
                <a:solidFill>
                  <a:srgbClr val="D4A017"/>
                </a:solidFill>
                <a:latin typeface="Ubuntu" panose="020B0504030602030204" pitchFamily="34" charset="0"/>
                <a:ea typeface="Calibri" pitchFamily="34" charset="-122"/>
                <a:cs typeface="Calibri" pitchFamily="34" charset="-120"/>
              </a:rPr>
              <a:t>🔗 https://github.com/feredj/sha-ntieb</a:t>
            </a:r>
            <a:endParaRPr lang="en-US" sz="1100" dirty="0">
              <a:latin typeface="Ubuntu" panose="020B0504030602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Georgia" pitchFamily="34" charset="0"/>
                <a:ea typeface="Georgia" pitchFamily="34" charset="-122"/>
                <a:cs typeface="Georgia" pitchFamily="34" charset="-120"/>
              </a:rPr>
              <a:t>Part 4 : Results &amp; Interpretation</a:t>
            </a:r>
            <a:endParaRPr lang="en-US" sz="2200" dirty="0"/>
          </a:p>
        </p:txBody>
      </p:sp>
      <p:sp>
        <p:nvSpPr>
          <p:cNvPr id="6" name="Shape 4"/>
          <p:cNvSpPr/>
          <p:nvPr/>
        </p:nvSpPr>
        <p:spPr>
          <a:xfrm>
            <a:off x="182880" y="868679"/>
            <a:ext cx="8869680" cy="4209757"/>
          </a:xfrm>
          <a:prstGeom prst="rect">
            <a:avLst/>
          </a:prstGeom>
          <a:solidFill>
            <a:srgbClr val="FFFFFF">
              <a:alpha val="7000"/>
            </a:srgbClr>
          </a:solidFill>
          <a:ln w="12700">
            <a:solidFill>
              <a:srgbClr val="C0392B"/>
            </a:solidFill>
            <a:prstDash val="solid"/>
          </a:ln>
          <a:effectLst>
            <a:outerShdw blurRad="101600" dist="38100" dir="8100000" algn="bl" rotWithShape="0">
              <a:srgbClr val="000000">
                <a:alpha val="15000"/>
              </a:srgbClr>
            </a:outerShdw>
          </a:effectLst>
        </p:spPr>
      </p:sp>
      <p:sp>
        <p:nvSpPr>
          <p:cNvPr id="7" name="Shape 5"/>
          <p:cNvSpPr/>
          <p:nvPr/>
        </p:nvSpPr>
        <p:spPr>
          <a:xfrm>
            <a:off x="182880" y="868680"/>
            <a:ext cx="8869680" cy="777240"/>
          </a:xfrm>
          <a:prstGeom prst="rect">
            <a:avLst/>
          </a:prstGeom>
          <a:solidFill>
            <a:srgbClr val="C0392B">
              <a:alpha val="65000"/>
            </a:srgbClr>
          </a:solidFill>
          <a:ln/>
        </p:spPr>
      </p:sp>
      <p:sp>
        <p:nvSpPr>
          <p:cNvPr id="8" name="Text 6"/>
          <p:cNvSpPr/>
          <p:nvPr/>
        </p:nvSpPr>
        <p:spPr>
          <a:xfrm>
            <a:off x="182880" y="868680"/>
            <a:ext cx="8869680" cy="530352"/>
          </a:xfrm>
          <a:prstGeom prst="rect">
            <a:avLst/>
          </a:prstGeom>
          <a:noFill/>
          <a:ln/>
        </p:spPr>
        <p:txBody>
          <a:bodyPr wrap="square" rtlCol="0" anchor="ctr"/>
          <a:lstStyle/>
          <a:p>
            <a:pPr marL="0" indent="0" algn="ctr">
              <a:buNone/>
            </a:pPr>
            <a:r>
              <a:rPr lang="en-US" sz="3000" dirty="0">
                <a:solidFill>
                  <a:srgbClr val="000000"/>
                </a:solidFill>
              </a:rPr>
              <a:t>🏠</a:t>
            </a:r>
            <a:endParaRPr lang="en-US" sz="3000" dirty="0"/>
          </a:p>
        </p:txBody>
      </p:sp>
      <p:sp>
        <p:nvSpPr>
          <p:cNvPr id="9" name="Text 7"/>
          <p:cNvSpPr/>
          <p:nvPr/>
        </p:nvSpPr>
        <p:spPr>
          <a:xfrm>
            <a:off x="182880" y="1371600"/>
            <a:ext cx="886968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Georgia" pitchFamily="34" charset="0"/>
                <a:ea typeface="Georgia" pitchFamily="34" charset="-122"/>
                <a:cs typeface="Georgia" pitchFamily="34" charset="-120"/>
              </a:rPr>
              <a:t>Home Page</a:t>
            </a:r>
            <a:endParaRPr lang="en-US" sz="1200" dirty="0"/>
          </a:p>
        </p:txBody>
      </p:sp>
      <p:pic>
        <p:nvPicPr>
          <p:cNvPr id="37" name="Image 36">
            <a:extLst>
              <a:ext uri="{FF2B5EF4-FFF2-40B4-BE49-F238E27FC236}">
                <a16:creationId xmlns:a16="http://schemas.microsoft.com/office/drawing/2014/main" id="{C82B1C71-74A9-CA88-FB44-A5BED7EBC056}"/>
              </a:ext>
            </a:extLst>
          </p:cNvPr>
          <p:cNvPicPr>
            <a:picLocks noChangeAspect="1"/>
          </p:cNvPicPr>
          <p:nvPr/>
        </p:nvPicPr>
        <p:blipFill>
          <a:blip r:embed="rId3"/>
          <a:stretch>
            <a:fillRect/>
          </a:stretch>
        </p:blipFill>
        <p:spPr>
          <a:xfrm>
            <a:off x="182880" y="1645921"/>
            <a:ext cx="8869680" cy="343251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 Results &amp; Interpretation</a:t>
            </a:r>
            <a:endParaRPr lang="en-US" sz="2200" dirty="0">
              <a:latin typeface="Ubuntu" panose="020B0504030602030204" pitchFamily="34" charset="0"/>
            </a:endParaRPr>
          </a:p>
        </p:txBody>
      </p:sp>
      <p:sp>
        <p:nvSpPr>
          <p:cNvPr id="8" name="Text 6"/>
          <p:cNvSpPr/>
          <p:nvPr/>
        </p:nvSpPr>
        <p:spPr>
          <a:xfrm>
            <a:off x="182880" y="896112"/>
            <a:ext cx="2788920" cy="502920"/>
          </a:xfrm>
          <a:prstGeom prst="rect">
            <a:avLst/>
          </a:prstGeom>
          <a:noFill/>
          <a:ln/>
        </p:spPr>
        <p:txBody>
          <a:bodyPr wrap="square" rtlCol="0" anchor="ctr"/>
          <a:lstStyle/>
          <a:p>
            <a:pPr marL="0" indent="0" algn="ctr">
              <a:buNone/>
            </a:pPr>
            <a:endParaRPr lang="en-US" sz="3000" dirty="0">
              <a:latin typeface="Ubuntu" panose="020B0504030602030204" pitchFamily="34" charset="0"/>
            </a:endParaRPr>
          </a:p>
        </p:txBody>
      </p:sp>
      <p:sp>
        <p:nvSpPr>
          <p:cNvPr id="9" name="Text 7"/>
          <p:cNvSpPr/>
          <p:nvPr/>
        </p:nvSpPr>
        <p:spPr>
          <a:xfrm>
            <a:off x="182880" y="1371600"/>
            <a:ext cx="27889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Home Page</a:t>
            </a:r>
            <a:endParaRPr lang="en-US" sz="1200" dirty="0">
              <a:latin typeface="Ubuntu" panose="020B0504030602030204" pitchFamily="34" charset="0"/>
            </a:endParaRPr>
          </a:p>
        </p:txBody>
      </p:sp>
      <p:sp>
        <p:nvSpPr>
          <p:cNvPr id="11" name="Shape 9"/>
          <p:cNvSpPr/>
          <p:nvPr/>
        </p:nvSpPr>
        <p:spPr>
          <a:xfrm>
            <a:off x="77372" y="868679"/>
            <a:ext cx="8968154" cy="4195689"/>
          </a:xfrm>
          <a:prstGeom prst="rect">
            <a:avLst/>
          </a:prstGeom>
          <a:solidFill>
            <a:srgbClr val="FFFFFF">
              <a:alpha val="7000"/>
            </a:srgbClr>
          </a:solidFill>
          <a:ln w="12700">
            <a:solidFill>
              <a:srgbClr val="D4A017"/>
            </a:solidFill>
            <a:prstDash val="solid"/>
          </a:ln>
          <a:effectLst>
            <a:outerShdw blurRad="101600" dist="38100" dir="8100000" algn="bl" rotWithShape="0">
              <a:srgbClr val="000000">
                <a:alpha val="15000"/>
              </a:srgbClr>
            </a:outerShdw>
          </a:effectLst>
        </p:spPr>
      </p:sp>
      <p:sp>
        <p:nvSpPr>
          <p:cNvPr id="12" name="Shape 10"/>
          <p:cNvSpPr/>
          <p:nvPr/>
        </p:nvSpPr>
        <p:spPr>
          <a:xfrm>
            <a:off x="77372" y="868680"/>
            <a:ext cx="8968154" cy="777240"/>
          </a:xfrm>
          <a:prstGeom prst="rect">
            <a:avLst/>
          </a:prstGeom>
          <a:solidFill>
            <a:srgbClr val="D4A017">
              <a:alpha val="65000"/>
            </a:srgbClr>
          </a:solidFill>
          <a:ln/>
        </p:spPr>
      </p:sp>
      <p:sp>
        <p:nvSpPr>
          <p:cNvPr id="13" name="Text 11"/>
          <p:cNvSpPr/>
          <p:nvPr/>
        </p:nvSpPr>
        <p:spPr>
          <a:xfrm>
            <a:off x="77372" y="896112"/>
            <a:ext cx="8968154"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14" name="Text 12"/>
          <p:cNvSpPr/>
          <p:nvPr/>
        </p:nvSpPr>
        <p:spPr>
          <a:xfrm>
            <a:off x="77372" y="1371600"/>
            <a:ext cx="8968154"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Search Results</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A6EAECEA-640D-A117-B5C1-5090EDDD5266}"/>
              </a:ext>
            </a:extLst>
          </p:cNvPr>
          <p:cNvPicPr>
            <a:picLocks noChangeAspect="1"/>
          </p:cNvPicPr>
          <p:nvPr/>
        </p:nvPicPr>
        <p:blipFill>
          <a:blip r:embed="rId3"/>
          <a:stretch>
            <a:fillRect/>
          </a:stretch>
        </p:blipFill>
        <p:spPr>
          <a:xfrm>
            <a:off x="77372" y="1636196"/>
            <a:ext cx="8968154" cy="34281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:Results &amp; Interpretation</a:t>
            </a:r>
            <a:endParaRPr lang="en-US" sz="2200" dirty="0">
              <a:latin typeface="Ubuntu" panose="020B0504030602030204" pitchFamily="34" charset="0"/>
            </a:endParaRPr>
          </a:p>
        </p:txBody>
      </p:sp>
      <p:sp>
        <p:nvSpPr>
          <p:cNvPr id="21" name="Shape 19"/>
          <p:cNvSpPr/>
          <p:nvPr/>
        </p:nvSpPr>
        <p:spPr>
          <a:xfrm>
            <a:off x="91440" y="829291"/>
            <a:ext cx="8961120" cy="4249146"/>
          </a:xfrm>
          <a:prstGeom prst="rect">
            <a:avLst/>
          </a:prstGeom>
          <a:solidFill>
            <a:srgbClr val="FFFFFF">
              <a:alpha val="7000"/>
            </a:srgbClr>
          </a:solidFill>
          <a:ln w="12700">
            <a:solidFill>
              <a:srgbClr val="7B2D8B"/>
            </a:solidFill>
            <a:prstDash val="solid"/>
          </a:ln>
          <a:effectLst>
            <a:outerShdw blurRad="101600" dist="38100" dir="8100000" algn="bl" rotWithShape="0">
              <a:srgbClr val="000000">
                <a:alpha val="15000"/>
              </a:srgbClr>
            </a:outerShdw>
          </a:effectLst>
        </p:spPr>
      </p:sp>
      <p:sp>
        <p:nvSpPr>
          <p:cNvPr id="22" name="Shape 20"/>
          <p:cNvSpPr/>
          <p:nvPr/>
        </p:nvSpPr>
        <p:spPr>
          <a:xfrm>
            <a:off x="91440" y="829291"/>
            <a:ext cx="8961120" cy="777240"/>
          </a:xfrm>
          <a:prstGeom prst="rect">
            <a:avLst/>
          </a:prstGeom>
          <a:solidFill>
            <a:srgbClr val="7B2D8B">
              <a:alpha val="65000"/>
            </a:srgbClr>
          </a:solidFill>
          <a:ln/>
        </p:spPr>
      </p:sp>
      <p:sp>
        <p:nvSpPr>
          <p:cNvPr id="23" name="Text 21"/>
          <p:cNvSpPr/>
          <p:nvPr/>
        </p:nvSpPr>
        <p:spPr>
          <a:xfrm>
            <a:off x="91440" y="856723"/>
            <a:ext cx="8961120"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24" name="Text 22"/>
          <p:cNvSpPr/>
          <p:nvPr/>
        </p:nvSpPr>
        <p:spPr>
          <a:xfrm>
            <a:off x="91440" y="1332211"/>
            <a:ext cx="8961120"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Admin Dashboard</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DE6F1983-2199-9378-70FD-1F615D78C0CB}"/>
              </a:ext>
            </a:extLst>
          </p:cNvPr>
          <p:cNvPicPr>
            <a:picLocks noChangeAspect="1"/>
          </p:cNvPicPr>
          <p:nvPr/>
        </p:nvPicPr>
        <p:blipFill>
          <a:blip r:embed="rId3"/>
          <a:stretch>
            <a:fillRect/>
          </a:stretch>
        </p:blipFill>
        <p:spPr>
          <a:xfrm>
            <a:off x="91440" y="1606532"/>
            <a:ext cx="8961120" cy="347190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 Results &amp; Interpretation</a:t>
            </a:r>
            <a:endParaRPr lang="en-US" sz="2200" dirty="0">
              <a:latin typeface="Ubuntu" panose="020B0504030602030204" pitchFamily="34" charset="0"/>
            </a:endParaRPr>
          </a:p>
        </p:txBody>
      </p:sp>
      <p:sp>
        <p:nvSpPr>
          <p:cNvPr id="16" name="Shape 14"/>
          <p:cNvSpPr/>
          <p:nvPr/>
        </p:nvSpPr>
        <p:spPr>
          <a:xfrm>
            <a:off x="64712" y="836323"/>
            <a:ext cx="9001916" cy="4221011"/>
          </a:xfrm>
          <a:prstGeom prst="rect">
            <a:avLst/>
          </a:prstGeom>
          <a:solidFill>
            <a:srgbClr val="FFFFFF">
              <a:alpha val="7000"/>
            </a:srgbClr>
          </a:solidFill>
          <a:ln w="12700">
            <a:solidFill>
              <a:srgbClr val="1A6B3C"/>
            </a:solidFill>
            <a:prstDash val="solid"/>
          </a:ln>
          <a:effectLst>
            <a:outerShdw blurRad="101600" dist="38100" dir="8100000" algn="bl" rotWithShape="0">
              <a:srgbClr val="000000">
                <a:alpha val="15000"/>
              </a:srgbClr>
            </a:outerShdw>
          </a:effectLst>
        </p:spPr>
      </p:sp>
      <p:sp>
        <p:nvSpPr>
          <p:cNvPr id="17" name="Shape 15"/>
          <p:cNvSpPr/>
          <p:nvPr/>
        </p:nvSpPr>
        <p:spPr>
          <a:xfrm>
            <a:off x="64712" y="836324"/>
            <a:ext cx="9001916" cy="777240"/>
          </a:xfrm>
          <a:prstGeom prst="rect">
            <a:avLst/>
          </a:prstGeom>
          <a:solidFill>
            <a:srgbClr val="1A6B3C">
              <a:alpha val="65000"/>
            </a:srgbClr>
          </a:solidFill>
          <a:ln/>
        </p:spPr>
      </p:sp>
      <p:sp>
        <p:nvSpPr>
          <p:cNvPr id="18" name="Text 16"/>
          <p:cNvSpPr/>
          <p:nvPr/>
        </p:nvSpPr>
        <p:spPr>
          <a:xfrm>
            <a:off x="64712" y="863756"/>
            <a:ext cx="9001916"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19" name="Text 17"/>
          <p:cNvSpPr/>
          <p:nvPr/>
        </p:nvSpPr>
        <p:spPr>
          <a:xfrm>
            <a:off x="64712" y="1339244"/>
            <a:ext cx="9001916"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Recipe Detail</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0C7B2F93-B3F4-5EA4-4217-6EACC8B77A9D}"/>
              </a:ext>
            </a:extLst>
          </p:cNvPr>
          <p:cNvPicPr>
            <a:picLocks noChangeAspect="1"/>
          </p:cNvPicPr>
          <p:nvPr/>
        </p:nvPicPr>
        <p:blipFill>
          <a:blip r:embed="rId3"/>
          <a:stretch>
            <a:fillRect/>
          </a:stretch>
        </p:blipFill>
        <p:spPr>
          <a:xfrm>
            <a:off x="77373" y="1620950"/>
            <a:ext cx="8989256" cy="346381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 Results &amp; Interpretation</a:t>
            </a:r>
            <a:endParaRPr lang="en-US" sz="2200" dirty="0">
              <a:latin typeface="Ubuntu" panose="020B0504030602030204" pitchFamily="34" charset="0"/>
            </a:endParaRPr>
          </a:p>
        </p:txBody>
      </p:sp>
      <p:sp>
        <p:nvSpPr>
          <p:cNvPr id="26" name="Shape 24"/>
          <p:cNvSpPr/>
          <p:nvPr/>
        </p:nvSpPr>
        <p:spPr>
          <a:xfrm>
            <a:off x="80888" y="832102"/>
            <a:ext cx="8985739" cy="4311397"/>
          </a:xfrm>
          <a:prstGeom prst="rect">
            <a:avLst/>
          </a:prstGeom>
          <a:solidFill>
            <a:srgbClr val="FFFFFF">
              <a:alpha val="7000"/>
            </a:srgbClr>
          </a:solidFill>
          <a:ln w="12700">
            <a:solidFill>
              <a:srgbClr val="15618A"/>
            </a:solidFill>
            <a:prstDash val="solid"/>
          </a:ln>
          <a:effectLst>
            <a:outerShdw blurRad="101600" dist="38100" dir="8100000" algn="bl" rotWithShape="0">
              <a:srgbClr val="000000">
                <a:alpha val="15000"/>
              </a:srgbClr>
            </a:outerShdw>
          </a:effectLst>
        </p:spPr>
      </p:sp>
      <p:sp>
        <p:nvSpPr>
          <p:cNvPr id="27" name="Shape 25"/>
          <p:cNvSpPr/>
          <p:nvPr/>
        </p:nvSpPr>
        <p:spPr>
          <a:xfrm>
            <a:off x="80888" y="832103"/>
            <a:ext cx="8985739" cy="777240"/>
          </a:xfrm>
          <a:prstGeom prst="rect">
            <a:avLst/>
          </a:prstGeom>
          <a:solidFill>
            <a:srgbClr val="15618A">
              <a:alpha val="65000"/>
            </a:srgbClr>
          </a:solidFill>
          <a:ln/>
        </p:spPr>
      </p:sp>
      <p:sp>
        <p:nvSpPr>
          <p:cNvPr id="28" name="Text 26"/>
          <p:cNvSpPr/>
          <p:nvPr/>
        </p:nvSpPr>
        <p:spPr>
          <a:xfrm>
            <a:off x="80888" y="859535"/>
            <a:ext cx="8985739"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29" name="Text 27"/>
          <p:cNvSpPr/>
          <p:nvPr/>
        </p:nvSpPr>
        <p:spPr>
          <a:xfrm>
            <a:off x="80888" y="1335023"/>
            <a:ext cx="8985739"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Login/Register</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D521F2AF-576A-5A31-5C0A-19258F2501DF}"/>
              </a:ext>
            </a:extLst>
          </p:cNvPr>
          <p:cNvPicPr>
            <a:picLocks noChangeAspect="1"/>
          </p:cNvPicPr>
          <p:nvPr/>
        </p:nvPicPr>
        <p:blipFill>
          <a:blip r:embed="rId3"/>
          <a:stretch>
            <a:fillRect/>
          </a:stretch>
        </p:blipFill>
        <p:spPr>
          <a:xfrm>
            <a:off x="77373" y="1609343"/>
            <a:ext cx="8985739" cy="353415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4 :Results &amp; Interpretation</a:t>
            </a:r>
            <a:endParaRPr lang="en-US" sz="2200" dirty="0">
              <a:latin typeface="Ubuntu" panose="020B0504030602030204" pitchFamily="34" charset="0"/>
            </a:endParaRPr>
          </a:p>
        </p:txBody>
      </p:sp>
      <p:sp>
        <p:nvSpPr>
          <p:cNvPr id="28" name="Text 26"/>
          <p:cNvSpPr/>
          <p:nvPr/>
        </p:nvSpPr>
        <p:spPr>
          <a:xfrm>
            <a:off x="3172968" y="5065776"/>
            <a:ext cx="2788920" cy="502920"/>
          </a:xfrm>
          <a:prstGeom prst="rect">
            <a:avLst/>
          </a:prstGeom>
          <a:noFill/>
          <a:ln/>
        </p:spPr>
        <p:txBody>
          <a:bodyPr wrap="square" rtlCol="0" anchor="ctr"/>
          <a:lstStyle/>
          <a:p>
            <a:pPr marL="0" indent="0" algn="ctr">
              <a:buNone/>
            </a:pPr>
            <a:endParaRPr lang="en-US" sz="3000" dirty="0">
              <a:latin typeface="Ubuntu" panose="020B0504030602030204" pitchFamily="34" charset="0"/>
            </a:endParaRPr>
          </a:p>
        </p:txBody>
      </p:sp>
      <p:sp>
        <p:nvSpPr>
          <p:cNvPr id="31" name="Shape 29"/>
          <p:cNvSpPr/>
          <p:nvPr/>
        </p:nvSpPr>
        <p:spPr>
          <a:xfrm>
            <a:off x="57677" y="829114"/>
            <a:ext cx="9037085" cy="4236662"/>
          </a:xfrm>
          <a:prstGeom prst="rect">
            <a:avLst/>
          </a:prstGeom>
          <a:solidFill>
            <a:srgbClr val="FFFFFF">
              <a:alpha val="7000"/>
            </a:srgbClr>
          </a:solidFill>
          <a:ln w="12700">
            <a:solidFill>
              <a:srgbClr val="E67E22"/>
            </a:solidFill>
            <a:prstDash val="solid"/>
          </a:ln>
          <a:effectLst>
            <a:outerShdw blurRad="101600" dist="38100" dir="8100000" algn="bl" rotWithShape="0">
              <a:srgbClr val="000000">
                <a:alpha val="15000"/>
              </a:srgbClr>
            </a:outerShdw>
          </a:effectLst>
        </p:spPr>
      </p:sp>
      <p:sp>
        <p:nvSpPr>
          <p:cNvPr id="32" name="Shape 30"/>
          <p:cNvSpPr/>
          <p:nvPr/>
        </p:nvSpPr>
        <p:spPr>
          <a:xfrm>
            <a:off x="57677" y="829114"/>
            <a:ext cx="9037085" cy="777240"/>
          </a:xfrm>
          <a:prstGeom prst="rect">
            <a:avLst/>
          </a:prstGeom>
          <a:solidFill>
            <a:srgbClr val="E67E22">
              <a:alpha val="65000"/>
            </a:srgbClr>
          </a:solidFill>
          <a:ln/>
        </p:spPr>
      </p:sp>
      <p:sp>
        <p:nvSpPr>
          <p:cNvPr id="33" name="Text 31"/>
          <p:cNvSpPr/>
          <p:nvPr/>
        </p:nvSpPr>
        <p:spPr>
          <a:xfrm>
            <a:off x="57677" y="856546"/>
            <a:ext cx="9037085" cy="502920"/>
          </a:xfrm>
          <a:prstGeom prst="rect">
            <a:avLst/>
          </a:prstGeom>
          <a:noFill/>
          <a:ln/>
        </p:spPr>
        <p:txBody>
          <a:bodyPr wrap="square" rtlCol="0" anchor="ctr"/>
          <a:lstStyle/>
          <a:p>
            <a:pPr marL="0" indent="0" algn="ctr">
              <a:buNone/>
            </a:pPr>
            <a:r>
              <a:rPr lang="en-US" sz="3000" dirty="0">
                <a:solidFill>
                  <a:srgbClr val="000000"/>
                </a:solidFill>
                <a:latin typeface="Ubuntu" panose="020B0504030602030204" pitchFamily="34" charset="0"/>
              </a:rPr>
              <a:t>📊</a:t>
            </a:r>
            <a:endParaRPr lang="en-US" sz="3000" dirty="0">
              <a:latin typeface="Ubuntu" panose="020B0504030602030204" pitchFamily="34" charset="0"/>
            </a:endParaRPr>
          </a:p>
        </p:txBody>
      </p:sp>
      <p:sp>
        <p:nvSpPr>
          <p:cNvPr id="34" name="Text 32"/>
          <p:cNvSpPr/>
          <p:nvPr/>
        </p:nvSpPr>
        <p:spPr>
          <a:xfrm>
            <a:off x="57677" y="1332034"/>
            <a:ext cx="9037085" cy="32004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Swagger API Docs</a:t>
            </a:r>
            <a:endParaRPr lang="en-US" sz="1200" dirty="0">
              <a:latin typeface="Ubuntu" panose="020B0504030602030204" pitchFamily="34" charset="0"/>
            </a:endParaRPr>
          </a:p>
        </p:txBody>
      </p:sp>
      <p:pic>
        <p:nvPicPr>
          <p:cNvPr id="37" name="Image 36">
            <a:extLst>
              <a:ext uri="{FF2B5EF4-FFF2-40B4-BE49-F238E27FC236}">
                <a16:creationId xmlns:a16="http://schemas.microsoft.com/office/drawing/2014/main" id="{F23CA3D6-753C-7DAA-8B92-8749258EE8D6}"/>
              </a:ext>
            </a:extLst>
          </p:cNvPr>
          <p:cNvPicPr>
            <a:picLocks noChangeAspect="1"/>
          </p:cNvPicPr>
          <p:nvPr/>
        </p:nvPicPr>
        <p:blipFill>
          <a:blip r:embed="rId3"/>
          <a:stretch>
            <a:fillRect/>
          </a:stretch>
        </p:blipFill>
        <p:spPr>
          <a:xfrm>
            <a:off x="57677" y="1606355"/>
            <a:ext cx="9028645" cy="341370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C0392B"/>
          </a:solidFill>
          <a:ln/>
        </p:spPr>
      </p:sp>
      <p:sp>
        <p:nvSpPr>
          <p:cNvPr id="3" name="Shape 1"/>
          <p:cNvSpPr/>
          <p:nvPr/>
        </p:nvSpPr>
        <p:spPr>
          <a:xfrm>
            <a:off x="0" y="0"/>
            <a:ext cx="457200" cy="777240"/>
          </a:xfrm>
          <a:prstGeom prst="rect">
            <a:avLst/>
          </a:prstGeom>
          <a:solidFill>
            <a:srgbClr val="C0392B"/>
          </a:solidFill>
          <a:ln/>
        </p:spPr>
      </p:sp>
      <p:sp>
        <p:nvSpPr>
          <p:cNvPr id="4" name="Text 2"/>
          <p:cNvSpPr/>
          <p:nvPr/>
        </p:nvSpPr>
        <p:spPr>
          <a:xfrm>
            <a:off x="548640" y="0"/>
            <a:ext cx="7315200" cy="777240"/>
          </a:xfrm>
          <a:prstGeom prst="rect">
            <a:avLst/>
          </a:prstGeom>
          <a:noFill/>
          <a:ln/>
        </p:spPr>
        <p:txBody>
          <a:bodyPr wrap="square" lIns="0" tIns="0" rIns="0" bIns="0" rtlCol="0" anchor="ctr"/>
          <a:lstStyle/>
          <a:p>
            <a:pPr marL="0" indent="0" algn="l">
              <a:buNone/>
            </a:pPr>
            <a:r>
              <a:rPr lang="en-US" sz="2200" b="1" dirty="0">
                <a:solidFill>
                  <a:srgbClr val="FFFFFF"/>
                </a:solidFill>
                <a:latin typeface="Ubuntu" panose="020B0504030602030204" pitchFamily="34" charset="0"/>
                <a:ea typeface="Georgia" pitchFamily="34" charset="-122"/>
                <a:cs typeface="Georgia" pitchFamily="34" charset="-120"/>
              </a:rPr>
              <a:t>Part 5 : Conclusion</a:t>
            </a:r>
            <a:endParaRPr lang="en-US" sz="2200" dirty="0">
              <a:latin typeface="Ubuntu" panose="020B0504030602030204" pitchFamily="34" charset="0"/>
            </a:endParaRPr>
          </a:p>
        </p:txBody>
      </p:sp>
      <p:sp>
        <p:nvSpPr>
          <p:cNvPr id="6" name="Shape 4"/>
          <p:cNvSpPr/>
          <p:nvPr/>
        </p:nvSpPr>
        <p:spPr>
          <a:xfrm>
            <a:off x="182880" y="868680"/>
            <a:ext cx="2834640" cy="4160520"/>
          </a:xfrm>
          <a:prstGeom prst="rect">
            <a:avLst/>
          </a:prstGeom>
          <a:solidFill>
            <a:srgbClr val="FFFFFF">
              <a:alpha val="7000"/>
            </a:srgbClr>
          </a:solidFill>
          <a:ln w="19050">
            <a:solidFill>
              <a:srgbClr val="C0392B"/>
            </a:solidFill>
            <a:prstDash val="solid"/>
          </a:ln>
        </p:spPr>
      </p:sp>
      <p:sp>
        <p:nvSpPr>
          <p:cNvPr id="7" name="Shape 5"/>
          <p:cNvSpPr/>
          <p:nvPr/>
        </p:nvSpPr>
        <p:spPr>
          <a:xfrm>
            <a:off x="182880" y="868680"/>
            <a:ext cx="2834640" cy="502920"/>
          </a:xfrm>
          <a:prstGeom prst="rect">
            <a:avLst/>
          </a:prstGeom>
          <a:solidFill>
            <a:srgbClr val="C0392B"/>
          </a:solidFill>
          <a:ln/>
        </p:spPr>
      </p:sp>
      <p:sp>
        <p:nvSpPr>
          <p:cNvPr id="8" name="Text 6"/>
          <p:cNvSpPr/>
          <p:nvPr/>
        </p:nvSpPr>
        <p:spPr>
          <a:xfrm>
            <a:off x="182880" y="868680"/>
            <a:ext cx="28346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Summary of Work</a:t>
            </a:r>
            <a:endParaRPr lang="en-US" sz="1200" dirty="0">
              <a:latin typeface="Ubuntu" panose="020B0504030602030204" pitchFamily="34" charset="0"/>
            </a:endParaRPr>
          </a:p>
        </p:txBody>
      </p:sp>
      <p:sp>
        <p:nvSpPr>
          <p:cNvPr id="9" name="Shape 7"/>
          <p:cNvSpPr/>
          <p:nvPr/>
        </p:nvSpPr>
        <p:spPr>
          <a:xfrm>
            <a:off x="292608" y="1508760"/>
            <a:ext cx="164592" cy="164592"/>
          </a:xfrm>
          <a:prstGeom prst="ellipse">
            <a:avLst/>
          </a:prstGeom>
          <a:solidFill>
            <a:srgbClr val="C0392B"/>
          </a:solidFill>
          <a:ln/>
        </p:spPr>
      </p:sp>
      <p:sp>
        <p:nvSpPr>
          <p:cNvPr id="10" name="Text 8"/>
          <p:cNvSpPr/>
          <p:nvPr/>
        </p:nvSpPr>
        <p:spPr>
          <a:xfrm>
            <a:off x="530352" y="1481328"/>
            <a:ext cx="2377440" cy="411480"/>
          </a:xfrm>
          <a:prstGeom prst="rect">
            <a:avLst/>
          </a:prstGeom>
          <a:noFill/>
          <a:ln/>
        </p:spPr>
        <p:txBody>
          <a:bodyPr wrap="square" lIns="0" tIns="0" rIns="0" bIns="0" rtlCol="0" anchor="ctr"/>
          <a:lstStyle/>
          <a:p>
            <a:pPr marL="0" indent="0">
              <a:buNone/>
            </a:pPr>
            <a:r>
              <a:rPr lang="en-US" sz="1000" dirty="0">
                <a:latin typeface="Ubuntu" panose="020B0504030602030204" pitchFamily="34" charset="0"/>
                <a:ea typeface="Calibri" pitchFamily="34" charset="-122"/>
                <a:cs typeface="Calibri" pitchFamily="34" charset="-120"/>
              </a:rPr>
              <a:t>Built a full-stack web app for Algerian recipe recommendations</a:t>
            </a:r>
            <a:endParaRPr lang="en-US" sz="1000" dirty="0">
              <a:latin typeface="Ubuntu" panose="020B0504030602030204" pitchFamily="34" charset="0"/>
            </a:endParaRPr>
          </a:p>
        </p:txBody>
      </p:sp>
      <p:sp>
        <p:nvSpPr>
          <p:cNvPr id="11" name="Shape 9"/>
          <p:cNvSpPr/>
          <p:nvPr/>
        </p:nvSpPr>
        <p:spPr>
          <a:xfrm>
            <a:off x="292608" y="2167128"/>
            <a:ext cx="164592" cy="164592"/>
          </a:xfrm>
          <a:prstGeom prst="ellipse">
            <a:avLst/>
          </a:prstGeom>
          <a:solidFill>
            <a:srgbClr val="C0392B"/>
          </a:solidFill>
          <a:ln/>
        </p:spPr>
      </p:sp>
      <p:sp>
        <p:nvSpPr>
          <p:cNvPr id="12" name="Text 10"/>
          <p:cNvSpPr/>
          <p:nvPr/>
        </p:nvSpPr>
        <p:spPr>
          <a:xfrm>
            <a:off x="530352" y="2139696"/>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Implemented 3-level AI engine: Simple Match + TF-IDF + Transformers</a:t>
            </a:r>
          </a:p>
        </p:txBody>
      </p:sp>
      <p:sp>
        <p:nvSpPr>
          <p:cNvPr id="13" name="Shape 11"/>
          <p:cNvSpPr/>
          <p:nvPr/>
        </p:nvSpPr>
        <p:spPr>
          <a:xfrm>
            <a:off x="292608" y="2825496"/>
            <a:ext cx="164592" cy="164592"/>
          </a:xfrm>
          <a:prstGeom prst="ellipse">
            <a:avLst/>
          </a:prstGeom>
          <a:solidFill>
            <a:srgbClr val="C0392B"/>
          </a:solidFill>
          <a:ln/>
        </p:spPr>
      </p:sp>
      <p:sp>
        <p:nvSpPr>
          <p:cNvPr id="14" name="Text 12"/>
          <p:cNvSpPr/>
          <p:nvPr/>
        </p:nvSpPr>
        <p:spPr>
          <a:xfrm>
            <a:off x="530352" y="2798064"/>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Created Admin Dashboard with CSV import functionality</a:t>
            </a:r>
          </a:p>
        </p:txBody>
      </p:sp>
      <p:sp>
        <p:nvSpPr>
          <p:cNvPr id="15" name="Shape 13"/>
          <p:cNvSpPr/>
          <p:nvPr/>
        </p:nvSpPr>
        <p:spPr>
          <a:xfrm>
            <a:off x="292608" y="3483864"/>
            <a:ext cx="164592" cy="164592"/>
          </a:xfrm>
          <a:prstGeom prst="ellipse">
            <a:avLst/>
          </a:prstGeom>
          <a:solidFill>
            <a:srgbClr val="C0392B"/>
          </a:solidFill>
          <a:ln/>
        </p:spPr>
      </p:sp>
      <p:sp>
        <p:nvSpPr>
          <p:cNvPr id="16" name="Text 14"/>
          <p:cNvSpPr/>
          <p:nvPr/>
        </p:nvSpPr>
        <p:spPr>
          <a:xfrm>
            <a:off x="530352" y="3456432"/>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Developed bilingual support (Arabic RTL + English LTR)</a:t>
            </a:r>
          </a:p>
        </p:txBody>
      </p:sp>
      <p:sp>
        <p:nvSpPr>
          <p:cNvPr id="17" name="Shape 15"/>
          <p:cNvSpPr/>
          <p:nvPr/>
        </p:nvSpPr>
        <p:spPr>
          <a:xfrm>
            <a:off x="292608" y="4142232"/>
            <a:ext cx="164592" cy="164592"/>
          </a:xfrm>
          <a:prstGeom prst="ellipse">
            <a:avLst/>
          </a:prstGeom>
          <a:solidFill>
            <a:srgbClr val="C0392B"/>
          </a:solidFill>
          <a:ln/>
        </p:spPr>
      </p:sp>
      <p:sp>
        <p:nvSpPr>
          <p:cNvPr id="18" name="Text 16"/>
          <p:cNvSpPr/>
          <p:nvPr/>
        </p:nvSpPr>
        <p:spPr>
          <a:xfrm>
            <a:off x="530352" y="4114800"/>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Secured with JWT authentication and bcrypt password hashing</a:t>
            </a:r>
          </a:p>
        </p:txBody>
      </p:sp>
      <p:sp>
        <p:nvSpPr>
          <p:cNvPr id="19" name="Shape 17"/>
          <p:cNvSpPr/>
          <p:nvPr/>
        </p:nvSpPr>
        <p:spPr>
          <a:xfrm>
            <a:off x="3172968" y="868680"/>
            <a:ext cx="2834640" cy="4160520"/>
          </a:xfrm>
          <a:prstGeom prst="rect">
            <a:avLst/>
          </a:prstGeom>
          <a:solidFill>
            <a:srgbClr val="FFFFFF">
              <a:alpha val="7000"/>
            </a:srgbClr>
          </a:solidFill>
          <a:ln w="19050">
            <a:solidFill>
              <a:srgbClr val="D4A017"/>
            </a:solidFill>
            <a:prstDash val="solid"/>
          </a:ln>
        </p:spPr>
      </p:sp>
      <p:sp>
        <p:nvSpPr>
          <p:cNvPr id="20" name="Shape 18"/>
          <p:cNvSpPr/>
          <p:nvPr/>
        </p:nvSpPr>
        <p:spPr>
          <a:xfrm>
            <a:off x="3172968" y="868680"/>
            <a:ext cx="2834640" cy="502920"/>
          </a:xfrm>
          <a:prstGeom prst="rect">
            <a:avLst/>
          </a:prstGeom>
          <a:solidFill>
            <a:srgbClr val="D4A017"/>
          </a:solidFill>
          <a:ln/>
        </p:spPr>
      </p:sp>
      <p:sp>
        <p:nvSpPr>
          <p:cNvPr id="21" name="Text 19"/>
          <p:cNvSpPr/>
          <p:nvPr/>
        </p:nvSpPr>
        <p:spPr>
          <a:xfrm>
            <a:off x="3172968" y="868680"/>
            <a:ext cx="28346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Difficulties Encountered</a:t>
            </a:r>
            <a:endParaRPr lang="en-US" sz="1200" dirty="0">
              <a:latin typeface="Ubuntu" panose="020B0504030602030204" pitchFamily="34" charset="0"/>
            </a:endParaRPr>
          </a:p>
        </p:txBody>
      </p:sp>
      <p:sp>
        <p:nvSpPr>
          <p:cNvPr id="22" name="Shape 20"/>
          <p:cNvSpPr/>
          <p:nvPr/>
        </p:nvSpPr>
        <p:spPr>
          <a:xfrm>
            <a:off x="3282696" y="1508760"/>
            <a:ext cx="164592" cy="164592"/>
          </a:xfrm>
          <a:prstGeom prst="ellipse">
            <a:avLst/>
          </a:prstGeom>
          <a:solidFill>
            <a:srgbClr val="D4A017"/>
          </a:solidFill>
          <a:ln/>
        </p:spPr>
      </p:sp>
      <p:sp>
        <p:nvSpPr>
          <p:cNvPr id="23" name="Text 21"/>
          <p:cNvSpPr/>
          <p:nvPr/>
        </p:nvSpPr>
        <p:spPr>
          <a:xfrm>
            <a:off x="3520440" y="1481328"/>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bcrypt version conflict with </a:t>
            </a:r>
            <a:r>
              <a:rPr lang="en-US" sz="1000" dirty="0" err="1">
                <a:latin typeface="Ubuntu" panose="020B0504030602030204" pitchFamily="34" charset="0"/>
                <a:ea typeface="Calibri" pitchFamily="34" charset="-122"/>
                <a:cs typeface="Calibri" pitchFamily="34" charset="-120"/>
              </a:rPr>
              <a:t>passlib</a:t>
            </a:r>
            <a:r>
              <a:rPr lang="en-US" sz="1000" dirty="0">
                <a:latin typeface="Ubuntu" panose="020B0504030602030204" pitchFamily="34" charset="0"/>
                <a:ea typeface="Calibri" pitchFamily="34" charset="-122"/>
                <a:cs typeface="Calibri" pitchFamily="34" charset="-120"/>
              </a:rPr>
              <a:t> library</a:t>
            </a:r>
          </a:p>
        </p:txBody>
      </p:sp>
      <p:sp>
        <p:nvSpPr>
          <p:cNvPr id="24" name="Shape 22"/>
          <p:cNvSpPr/>
          <p:nvPr/>
        </p:nvSpPr>
        <p:spPr>
          <a:xfrm>
            <a:off x="3282696" y="2167128"/>
            <a:ext cx="164592" cy="164592"/>
          </a:xfrm>
          <a:prstGeom prst="ellipse">
            <a:avLst/>
          </a:prstGeom>
          <a:solidFill>
            <a:srgbClr val="D4A017"/>
          </a:solidFill>
          <a:ln/>
        </p:spPr>
      </p:sp>
      <p:sp>
        <p:nvSpPr>
          <p:cNvPr id="25" name="Text 23"/>
          <p:cNvSpPr/>
          <p:nvPr/>
        </p:nvSpPr>
        <p:spPr>
          <a:xfrm>
            <a:off x="3520440" y="2139696"/>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CSV encoding issues with Arabic text (BOM, UTF-8-sig)</a:t>
            </a:r>
          </a:p>
        </p:txBody>
      </p:sp>
      <p:sp>
        <p:nvSpPr>
          <p:cNvPr id="26" name="Shape 24"/>
          <p:cNvSpPr/>
          <p:nvPr/>
        </p:nvSpPr>
        <p:spPr>
          <a:xfrm>
            <a:off x="3282696" y="2825496"/>
            <a:ext cx="164592" cy="164592"/>
          </a:xfrm>
          <a:prstGeom prst="ellipse">
            <a:avLst/>
          </a:prstGeom>
          <a:solidFill>
            <a:srgbClr val="D4A017"/>
          </a:solidFill>
          <a:ln/>
        </p:spPr>
      </p:sp>
      <p:sp>
        <p:nvSpPr>
          <p:cNvPr id="27" name="Text 25"/>
          <p:cNvSpPr/>
          <p:nvPr/>
        </p:nvSpPr>
        <p:spPr>
          <a:xfrm>
            <a:off x="3520440" y="2798064"/>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MySQL foreign key constraints during data deletion</a:t>
            </a:r>
          </a:p>
        </p:txBody>
      </p:sp>
      <p:sp>
        <p:nvSpPr>
          <p:cNvPr id="28" name="Shape 26"/>
          <p:cNvSpPr/>
          <p:nvPr/>
        </p:nvSpPr>
        <p:spPr>
          <a:xfrm>
            <a:off x="3282696" y="3483864"/>
            <a:ext cx="164592" cy="164592"/>
          </a:xfrm>
          <a:prstGeom prst="ellipse">
            <a:avLst/>
          </a:prstGeom>
          <a:solidFill>
            <a:srgbClr val="D4A017"/>
          </a:solidFill>
          <a:ln/>
        </p:spPr>
      </p:sp>
      <p:sp>
        <p:nvSpPr>
          <p:cNvPr id="29" name="Text 27"/>
          <p:cNvSpPr/>
          <p:nvPr/>
        </p:nvSpPr>
        <p:spPr>
          <a:xfrm>
            <a:off x="3520440" y="3456432"/>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CORS configuration between FastAPI and Vue.js</a:t>
            </a:r>
          </a:p>
        </p:txBody>
      </p:sp>
      <p:sp>
        <p:nvSpPr>
          <p:cNvPr id="30" name="Shape 28"/>
          <p:cNvSpPr/>
          <p:nvPr/>
        </p:nvSpPr>
        <p:spPr>
          <a:xfrm>
            <a:off x="3282696" y="4142232"/>
            <a:ext cx="164592" cy="164592"/>
          </a:xfrm>
          <a:prstGeom prst="ellipse">
            <a:avLst/>
          </a:prstGeom>
          <a:solidFill>
            <a:srgbClr val="D4A017"/>
          </a:solidFill>
          <a:ln/>
        </p:spPr>
      </p:sp>
      <p:sp>
        <p:nvSpPr>
          <p:cNvPr id="31" name="Text 29"/>
          <p:cNvSpPr/>
          <p:nvPr/>
        </p:nvSpPr>
        <p:spPr>
          <a:xfrm>
            <a:off x="3520440" y="4114800"/>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Arabic text normalization for AI matching accuracy</a:t>
            </a:r>
          </a:p>
        </p:txBody>
      </p:sp>
      <p:sp>
        <p:nvSpPr>
          <p:cNvPr id="32" name="Shape 30"/>
          <p:cNvSpPr/>
          <p:nvPr/>
        </p:nvSpPr>
        <p:spPr>
          <a:xfrm>
            <a:off x="6163056" y="868680"/>
            <a:ext cx="2834640" cy="4160520"/>
          </a:xfrm>
          <a:prstGeom prst="rect">
            <a:avLst/>
          </a:prstGeom>
          <a:solidFill>
            <a:srgbClr val="FFFFFF">
              <a:alpha val="7000"/>
            </a:srgbClr>
          </a:solidFill>
          <a:ln w="19050">
            <a:solidFill>
              <a:srgbClr val="1A6B3C"/>
            </a:solidFill>
            <a:prstDash val="solid"/>
          </a:ln>
        </p:spPr>
      </p:sp>
      <p:sp>
        <p:nvSpPr>
          <p:cNvPr id="33" name="Shape 31"/>
          <p:cNvSpPr/>
          <p:nvPr/>
        </p:nvSpPr>
        <p:spPr>
          <a:xfrm>
            <a:off x="6163056" y="868680"/>
            <a:ext cx="2834640" cy="502920"/>
          </a:xfrm>
          <a:prstGeom prst="rect">
            <a:avLst/>
          </a:prstGeom>
          <a:solidFill>
            <a:srgbClr val="1A6B3C"/>
          </a:solidFill>
          <a:ln/>
        </p:spPr>
      </p:sp>
      <p:sp>
        <p:nvSpPr>
          <p:cNvPr id="34" name="Text 32"/>
          <p:cNvSpPr/>
          <p:nvPr/>
        </p:nvSpPr>
        <p:spPr>
          <a:xfrm>
            <a:off x="6163056" y="868680"/>
            <a:ext cx="283464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Ubuntu" panose="020B0504030602030204" pitchFamily="34" charset="0"/>
                <a:ea typeface="Georgia" pitchFamily="34" charset="-122"/>
                <a:cs typeface="Georgia" pitchFamily="34" charset="-120"/>
              </a:rPr>
              <a:t>🚀 Areas for Improvement</a:t>
            </a:r>
            <a:endParaRPr lang="en-US" sz="1200" dirty="0">
              <a:latin typeface="Ubuntu" panose="020B0504030602030204" pitchFamily="34" charset="0"/>
            </a:endParaRPr>
          </a:p>
        </p:txBody>
      </p:sp>
      <p:sp>
        <p:nvSpPr>
          <p:cNvPr id="35" name="Shape 33"/>
          <p:cNvSpPr/>
          <p:nvPr/>
        </p:nvSpPr>
        <p:spPr>
          <a:xfrm>
            <a:off x="6272784" y="1508760"/>
            <a:ext cx="164592" cy="164592"/>
          </a:xfrm>
          <a:prstGeom prst="ellipse">
            <a:avLst/>
          </a:prstGeom>
          <a:solidFill>
            <a:srgbClr val="1A6B3C"/>
          </a:solidFill>
          <a:ln/>
        </p:spPr>
      </p:sp>
      <p:sp>
        <p:nvSpPr>
          <p:cNvPr id="36" name="Text 34"/>
          <p:cNvSpPr/>
          <p:nvPr/>
        </p:nvSpPr>
        <p:spPr>
          <a:xfrm>
            <a:off x="6510528" y="1481328"/>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Add Flutter mobile application for iOS/Android</a:t>
            </a:r>
          </a:p>
        </p:txBody>
      </p:sp>
      <p:sp>
        <p:nvSpPr>
          <p:cNvPr id="37" name="Shape 35"/>
          <p:cNvSpPr/>
          <p:nvPr/>
        </p:nvSpPr>
        <p:spPr>
          <a:xfrm>
            <a:off x="6272784" y="2167128"/>
            <a:ext cx="164592" cy="164592"/>
          </a:xfrm>
          <a:prstGeom prst="ellipse">
            <a:avLst/>
          </a:prstGeom>
          <a:solidFill>
            <a:srgbClr val="1A6B3C"/>
          </a:solidFill>
          <a:ln/>
        </p:spPr>
      </p:sp>
      <p:sp>
        <p:nvSpPr>
          <p:cNvPr id="38" name="Text 36"/>
          <p:cNvSpPr/>
          <p:nvPr/>
        </p:nvSpPr>
        <p:spPr>
          <a:xfrm>
            <a:off x="6510528" y="2139696"/>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Integrate GPT API for recipe explanation in Arabic</a:t>
            </a:r>
          </a:p>
        </p:txBody>
      </p:sp>
      <p:sp>
        <p:nvSpPr>
          <p:cNvPr id="39" name="Shape 37"/>
          <p:cNvSpPr/>
          <p:nvPr/>
        </p:nvSpPr>
        <p:spPr>
          <a:xfrm>
            <a:off x="6272784" y="2825496"/>
            <a:ext cx="164592" cy="164592"/>
          </a:xfrm>
          <a:prstGeom prst="ellipse">
            <a:avLst/>
          </a:prstGeom>
          <a:solidFill>
            <a:srgbClr val="1A6B3C"/>
          </a:solidFill>
          <a:ln/>
        </p:spPr>
      </p:sp>
      <p:sp>
        <p:nvSpPr>
          <p:cNvPr id="40" name="Text 38"/>
          <p:cNvSpPr/>
          <p:nvPr/>
        </p:nvSpPr>
        <p:spPr>
          <a:xfrm>
            <a:off x="6510528" y="2798064"/>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Calculate nutritional values and calories per recipe</a:t>
            </a:r>
          </a:p>
        </p:txBody>
      </p:sp>
      <p:sp>
        <p:nvSpPr>
          <p:cNvPr id="41" name="Shape 39"/>
          <p:cNvSpPr/>
          <p:nvPr/>
        </p:nvSpPr>
        <p:spPr>
          <a:xfrm>
            <a:off x="6272784" y="3483864"/>
            <a:ext cx="164592" cy="164592"/>
          </a:xfrm>
          <a:prstGeom prst="ellipse">
            <a:avLst/>
          </a:prstGeom>
          <a:solidFill>
            <a:srgbClr val="1A6B3C"/>
          </a:solidFill>
          <a:ln/>
        </p:spPr>
      </p:sp>
      <p:sp>
        <p:nvSpPr>
          <p:cNvPr id="42" name="Text 40"/>
          <p:cNvSpPr/>
          <p:nvPr/>
        </p:nvSpPr>
        <p:spPr>
          <a:xfrm>
            <a:off x="6510528" y="3456432"/>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Add voice search in Arabic using Speech Recognition</a:t>
            </a:r>
          </a:p>
        </p:txBody>
      </p:sp>
      <p:sp>
        <p:nvSpPr>
          <p:cNvPr id="43" name="Shape 41"/>
          <p:cNvSpPr/>
          <p:nvPr/>
        </p:nvSpPr>
        <p:spPr>
          <a:xfrm>
            <a:off x="6272784" y="4142232"/>
            <a:ext cx="164592" cy="164592"/>
          </a:xfrm>
          <a:prstGeom prst="ellipse">
            <a:avLst/>
          </a:prstGeom>
          <a:solidFill>
            <a:srgbClr val="1A6B3C"/>
          </a:solidFill>
          <a:ln/>
        </p:spPr>
      </p:sp>
      <p:sp>
        <p:nvSpPr>
          <p:cNvPr id="44" name="Text 42"/>
          <p:cNvSpPr/>
          <p:nvPr/>
        </p:nvSpPr>
        <p:spPr>
          <a:xfrm>
            <a:off x="6510528" y="4114800"/>
            <a:ext cx="2377440" cy="411480"/>
          </a:xfrm>
          <a:prstGeom prst="rect">
            <a:avLst/>
          </a:prstGeom>
          <a:noFill/>
          <a:ln/>
        </p:spPr>
        <p:txBody>
          <a:bodyPr wrap="square" lIns="0" tIns="0" rIns="0" bIns="0" rtlCol="0" anchor="ctr"/>
          <a:lstStyle/>
          <a:p>
            <a:r>
              <a:rPr lang="en-US" sz="1000" dirty="0">
                <a:latin typeface="Ubuntu" panose="020B0504030602030204" pitchFamily="34" charset="0"/>
                <a:ea typeface="Calibri" pitchFamily="34" charset="-122"/>
                <a:cs typeface="Calibri" pitchFamily="34" charset="-120"/>
              </a:rPr>
              <a:t>Build community features for users to share recipes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0">
    <p:bg>
      <p:bgPr>
        <a:solidFill>
          <a:srgbClr val="1A0A05"/>
        </a:solidFill>
        <a:effectLst/>
      </p:bgPr>
    </p:bg>
    <p:spTree>
      <p:nvGrpSpPr>
        <p:cNvPr id="1" name=""/>
        <p:cNvGrpSpPr/>
        <p:nvPr/>
      </p:nvGrpSpPr>
      <p:grpSpPr>
        <a:xfrm>
          <a:off x="0" y="0"/>
          <a:ext cx="0" cy="0"/>
          <a:chOff x="0" y="0"/>
          <a:chExt cx="0" cy="0"/>
        </a:xfrm>
      </p:grpSpPr>
      <p:sp>
        <p:nvSpPr>
          <p:cNvPr id="2" name="Shape 0"/>
          <p:cNvSpPr/>
          <p:nvPr/>
        </p:nvSpPr>
        <p:spPr>
          <a:xfrm>
            <a:off x="-1371600" y="-914400"/>
            <a:ext cx="4572000" cy="4572000"/>
          </a:xfrm>
          <a:prstGeom prst="ellipse">
            <a:avLst/>
          </a:prstGeom>
          <a:solidFill>
            <a:srgbClr val="C0392B">
              <a:alpha val="20000"/>
            </a:srgbClr>
          </a:solidFill>
          <a:ln/>
        </p:spPr>
      </p:sp>
      <p:sp>
        <p:nvSpPr>
          <p:cNvPr id="3" name="Shape 1"/>
          <p:cNvSpPr/>
          <p:nvPr/>
        </p:nvSpPr>
        <p:spPr>
          <a:xfrm>
            <a:off x="5486400" y="1828800"/>
            <a:ext cx="5486400" cy="5486400"/>
          </a:xfrm>
          <a:prstGeom prst="ellipse">
            <a:avLst/>
          </a:prstGeom>
          <a:solidFill>
            <a:srgbClr val="D4A017">
              <a:alpha val="15000"/>
            </a:srgbClr>
          </a:solidFill>
          <a:ln/>
        </p:spPr>
      </p:sp>
      <p:sp>
        <p:nvSpPr>
          <p:cNvPr id="4" name="Shape 2"/>
          <p:cNvSpPr/>
          <p:nvPr/>
        </p:nvSpPr>
        <p:spPr>
          <a:xfrm>
            <a:off x="0" y="0"/>
            <a:ext cx="109728" cy="5143500"/>
          </a:xfrm>
          <a:prstGeom prst="rect">
            <a:avLst/>
          </a:prstGeom>
          <a:solidFill>
            <a:srgbClr val="C0392B"/>
          </a:solidFill>
          <a:ln/>
        </p:spPr>
      </p:sp>
      <p:sp>
        <p:nvSpPr>
          <p:cNvPr id="5" name="Text 3"/>
          <p:cNvSpPr/>
          <p:nvPr/>
        </p:nvSpPr>
        <p:spPr>
          <a:xfrm>
            <a:off x="3200400" y="274320"/>
            <a:ext cx="2743200" cy="1371600"/>
          </a:xfrm>
          <a:prstGeom prst="rect">
            <a:avLst/>
          </a:prstGeom>
          <a:noFill/>
          <a:ln/>
        </p:spPr>
        <p:txBody>
          <a:bodyPr wrap="square" rtlCol="0" anchor="ctr"/>
          <a:lstStyle/>
          <a:p>
            <a:pPr marL="0" indent="0" algn="ctr">
              <a:buNone/>
            </a:pPr>
            <a:r>
              <a:rPr lang="en-US" sz="6400" dirty="0">
                <a:solidFill>
                  <a:srgbClr val="000000"/>
                </a:solidFill>
              </a:rPr>
              <a:t>🍲</a:t>
            </a:r>
            <a:endParaRPr lang="en-US" sz="6400" dirty="0"/>
          </a:p>
        </p:txBody>
      </p:sp>
      <p:sp>
        <p:nvSpPr>
          <p:cNvPr id="6" name="Text 4"/>
          <p:cNvSpPr/>
          <p:nvPr/>
        </p:nvSpPr>
        <p:spPr>
          <a:xfrm>
            <a:off x="457200" y="3497581"/>
            <a:ext cx="8229600" cy="914400"/>
          </a:xfrm>
          <a:prstGeom prst="rect">
            <a:avLst/>
          </a:prstGeom>
          <a:noFill/>
          <a:ln/>
        </p:spPr>
        <p:txBody>
          <a:bodyPr wrap="square" lIns="0" tIns="0" rIns="0" bIns="0" rtlCol="0" anchor="ctr"/>
          <a:lstStyle/>
          <a:p>
            <a:pPr algn="ctr"/>
            <a:r>
              <a:rPr lang="en-US" sz="4400" b="1" dirty="0">
                <a:solidFill>
                  <a:srgbClr val="FFFFFF"/>
                </a:solidFill>
                <a:latin typeface="Ubuntu" panose="020B0504030602030204" pitchFamily="34" charset="0"/>
                <a:ea typeface="Georgia" pitchFamily="34" charset="-122"/>
                <a:cs typeface="Georgia" pitchFamily="34" charset="-120"/>
              </a:rPr>
              <a:t>Thank you for your attention</a:t>
            </a:r>
            <a:endParaRPr lang="en-US" sz="4400" dirty="0">
              <a:latin typeface="Ubuntu" panose="020B0504030602030204" pitchFamily="34" charset="0"/>
            </a:endParaRPr>
          </a:p>
        </p:txBody>
      </p:sp>
      <p:sp>
        <p:nvSpPr>
          <p:cNvPr id="8" name="Text 9">
            <a:extLst>
              <a:ext uri="{FF2B5EF4-FFF2-40B4-BE49-F238E27FC236}">
                <a16:creationId xmlns:a16="http://schemas.microsoft.com/office/drawing/2014/main" id="{B05C4838-9D85-7F65-205F-741B4D9BE463}"/>
              </a:ext>
            </a:extLst>
          </p:cNvPr>
          <p:cNvSpPr/>
          <p:nvPr/>
        </p:nvSpPr>
        <p:spPr>
          <a:xfrm>
            <a:off x="457200" y="1266588"/>
            <a:ext cx="8229600" cy="960120"/>
          </a:xfrm>
          <a:prstGeom prst="rect">
            <a:avLst/>
          </a:prstGeom>
          <a:noFill/>
          <a:ln/>
        </p:spPr>
        <p:txBody>
          <a:bodyPr wrap="square" lIns="0" tIns="0" rIns="0" bIns="0" rtlCol="0" anchor="ctr"/>
          <a:lstStyle/>
          <a:p>
            <a:pPr marL="0" indent="0" algn="ctr">
              <a:buNone/>
            </a:pPr>
            <a:r>
              <a:rPr lang="en-US" sz="5800" b="1" dirty="0">
                <a:solidFill>
                  <a:srgbClr val="FFFFFF"/>
                </a:solidFill>
                <a:latin typeface="El Messiri" pitchFamily="2" charset="-78"/>
                <a:ea typeface="Georgia" pitchFamily="34" charset="-122"/>
                <a:cs typeface="El Messiri" pitchFamily="2" charset="-78"/>
              </a:rPr>
              <a:t>شـا نـطـيـب</a:t>
            </a:r>
            <a:endParaRPr lang="en-US" sz="5800" dirty="0">
              <a:latin typeface="El Messiri" pitchFamily="2" charset="-78"/>
              <a:cs typeface="El Messiri" pitchFamily="2" charset="-78"/>
            </a:endParaRPr>
          </a:p>
        </p:txBody>
      </p:sp>
      <p:sp>
        <p:nvSpPr>
          <p:cNvPr id="9" name="Text 10">
            <a:extLst>
              <a:ext uri="{FF2B5EF4-FFF2-40B4-BE49-F238E27FC236}">
                <a16:creationId xmlns:a16="http://schemas.microsoft.com/office/drawing/2014/main" id="{7EE2AECC-D161-C66B-0919-F28CC7C13B0C}"/>
              </a:ext>
            </a:extLst>
          </p:cNvPr>
          <p:cNvSpPr/>
          <p:nvPr/>
        </p:nvSpPr>
        <p:spPr>
          <a:xfrm>
            <a:off x="457200" y="2069280"/>
            <a:ext cx="8229600" cy="457200"/>
          </a:xfrm>
          <a:prstGeom prst="rect">
            <a:avLst/>
          </a:prstGeom>
          <a:noFill/>
          <a:ln/>
        </p:spPr>
        <p:txBody>
          <a:bodyPr wrap="square" lIns="0" tIns="0" rIns="0" bIns="0" rtlCol="0" anchor="ctr"/>
          <a:lstStyle/>
          <a:p>
            <a:pPr marL="0" indent="0" algn="ctr">
              <a:buNone/>
            </a:pPr>
            <a:r>
              <a:rPr lang="en-US" sz="1600" i="1" dirty="0">
                <a:solidFill>
                  <a:srgbClr val="D4A017"/>
                </a:solidFill>
                <a:latin typeface="El Messiri" pitchFamily="2" charset="-78"/>
                <a:ea typeface="Georgia" pitchFamily="34" charset="-122"/>
                <a:cs typeface="El Messiri" pitchFamily="2" charset="-78"/>
              </a:rPr>
              <a:t>"أدخل مكوناتك... واكتشف المطبخ الجزائري الأصيل"</a:t>
            </a:r>
            <a:endParaRPr lang="en-US" sz="1600" dirty="0">
              <a:latin typeface="El Messiri" pitchFamily="2" charset="-78"/>
              <a:cs typeface="El Messiri" pitchFamily="2" charset="-78"/>
            </a:endParaRPr>
          </a:p>
        </p:txBody>
      </p:sp>
      <p:sp>
        <p:nvSpPr>
          <p:cNvPr id="10" name="Shape 11">
            <a:extLst>
              <a:ext uri="{FF2B5EF4-FFF2-40B4-BE49-F238E27FC236}">
                <a16:creationId xmlns:a16="http://schemas.microsoft.com/office/drawing/2014/main" id="{0D453E41-02B9-9492-6A27-4CEC230AC97C}"/>
              </a:ext>
            </a:extLst>
          </p:cNvPr>
          <p:cNvSpPr/>
          <p:nvPr/>
        </p:nvSpPr>
        <p:spPr>
          <a:xfrm>
            <a:off x="1371600" y="2636208"/>
            <a:ext cx="6400800" cy="0"/>
          </a:xfrm>
          <a:prstGeom prst="line">
            <a:avLst/>
          </a:prstGeom>
          <a:noFill/>
          <a:ln w="12700">
            <a:solidFill>
              <a:srgbClr val="D4A017"/>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638</TotalTime>
  <Words>966</Words>
  <Application>Microsoft Office PowerPoint</Application>
  <PresentationFormat>Affichage à l'écran (16:9)</PresentationFormat>
  <Paragraphs>192</Paragraphs>
  <Slides>14</Slides>
  <Notes>14</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14</vt:i4>
      </vt:variant>
    </vt:vector>
  </HeadingPairs>
  <TitlesOfParts>
    <vt:vector size="20" baseType="lpstr">
      <vt:lpstr>Arial</vt:lpstr>
      <vt:lpstr>Calibri</vt:lpstr>
      <vt:lpstr>El Messiri</vt:lpstr>
      <vt:lpstr>Georgia</vt:lpstr>
      <vt:lpstr>Ubuntu</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شا نطيب — Sha Ntieb</dc:title>
  <dc:subject>PptxGenJS Presentation</dc:subject>
  <dc:creator>PptxGenJS</dc:creator>
  <cp:lastModifiedBy>hp</cp:lastModifiedBy>
  <cp:revision>57</cp:revision>
  <dcterms:created xsi:type="dcterms:W3CDTF">2026-03-21T11:12:34Z</dcterms:created>
  <dcterms:modified xsi:type="dcterms:W3CDTF">2026-04-02T09:24:03Z</dcterms:modified>
</cp:coreProperties>
</file>